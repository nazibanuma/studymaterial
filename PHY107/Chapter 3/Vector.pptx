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25DF3-583A-ED59-36FE-14C1601BB3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66452B-56E4-F6D7-B7E6-35DC28AA44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A89C35-EA44-3E5F-F843-F4AD115BC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D70F5-4B49-4A17-A9A8-2FAC8E9027FE}" type="datetimeFigureOut">
              <a:rPr lang="en-US" smtClean="0"/>
              <a:t>7/12/2024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E04E09-5946-CD10-9779-3394DF490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6379CD-6E3B-EF80-4FA9-4E82E431D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A1B7E-C8B1-4553-8D9D-E7752CEC5F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3096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FE95C-A19B-6C6F-09C3-BE14B697A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C1816C-E7F6-A5D4-2EE8-B5F7F1A81B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7593F6-9554-8954-AB2A-0311CED4D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D70F5-4B49-4A17-A9A8-2FAC8E9027FE}" type="datetimeFigureOut">
              <a:rPr lang="en-US" smtClean="0"/>
              <a:t>7/12/2024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AFB812-AD50-CD1B-49D8-8CD14ED9E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279333-E4A3-E466-B1E9-6B0AD6A36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A1B7E-C8B1-4553-8D9D-E7752CEC5F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9889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2AB38-DD01-459B-5300-54BC98E33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01B1DF-AF13-5576-51D0-566D621B7B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7BBA59-E6AF-2FEF-4AAC-CE90FD18B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D70F5-4B49-4A17-A9A8-2FAC8E9027FE}" type="datetimeFigureOut">
              <a:rPr lang="en-US" smtClean="0"/>
              <a:t>7/12/2024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F0B9A2-55D3-6537-F23D-DF2954C2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FB6A54-A8D9-D896-AE72-8083D90CC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A1B7E-C8B1-4553-8D9D-E7752CEC5F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0544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D176B-2ED9-D6AA-B0D0-BE55CED1F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9A9D40-85D3-1809-28ED-4A5A1C0693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E2D9ED-CDC7-2116-B8C8-89A690C775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3EDD0D-FA50-783A-6C71-F618CBEFA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D70F5-4B49-4A17-A9A8-2FAC8E9027FE}" type="datetimeFigureOut">
              <a:rPr lang="en-US" smtClean="0"/>
              <a:t>7/12/2024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F45BF9-4569-3F01-F918-E9807739C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8A5E5F-BF12-854F-BE99-F788717F9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A1B7E-C8B1-4553-8D9D-E7752CEC5F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9015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F4357-FA58-E6FD-1204-2C046A6D5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6142CB-84BB-55A1-E0BA-0EDA58BC5F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3183B4-B3BB-5C9B-D9B4-EB5E9CAF4E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868164-9F51-6C6B-602D-FA5B003620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0501A8-3FB5-14BC-929F-8E00025D33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52C170-B142-1E9C-EEC0-03BE7A144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D70F5-4B49-4A17-A9A8-2FAC8E9027FE}" type="datetimeFigureOut">
              <a:rPr lang="en-US" smtClean="0"/>
              <a:t>7/12/2024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EB8279-BA5B-5ADD-DEA0-AA0AF0DC8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ED1D9D-8854-D503-0399-1A0DD8139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A1B7E-C8B1-4553-8D9D-E7752CEC5F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195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1A42C-A40C-928E-327F-17DBD3432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31232E-D920-BDD4-2996-6D243F0DC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D70F5-4B49-4A17-A9A8-2FAC8E9027FE}" type="datetimeFigureOut">
              <a:rPr lang="en-US" smtClean="0"/>
              <a:t>7/12/2024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6238F4-6F30-356B-19A6-AD1BE334A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F07308-34E7-B35C-EAB8-5A6E2BE99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A1B7E-C8B1-4553-8D9D-E7752CEC5F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9727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7FFE79-460E-B012-A890-C33E7C526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D70F5-4B49-4A17-A9A8-2FAC8E9027FE}" type="datetimeFigureOut">
              <a:rPr lang="en-US" smtClean="0"/>
              <a:t>7/12/2024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D42B68-2D2A-3C25-02BD-7CCEA0990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AEC3EC-8D06-C7F2-D973-F34239835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A1B7E-C8B1-4553-8D9D-E7752CEC5F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1277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4AF76-CCC5-7F0D-AB99-66C256E67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4F91D3-AE8F-2404-B606-C1AA697D20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4EE127-FAFF-6444-50EA-51AA431D09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207C44-6A8B-6AC1-4884-2A67FBF8D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D70F5-4B49-4A17-A9A8-2FAC8E9027FE}" type="datetimeFigureOut">
              <a:rPr lang="en-US" smtClean="0"/>
              <a:t>7/12/2024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85CA3F-F3A8-CC5E-DEC5-B3F0D2676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5A789E-335D-F50C-4769-D61232B19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A1B7E-C8B1-4553-8D9D-E7752CEC5F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2029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7F3AD-9904-44F8-4953-4C20C5353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4C0486-E998-21B6-DE4C-76E45DDC76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5E0B1B-A4CE-B3B5-E3AE-DEBFC528E7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977D4F-C0BE-7D27-1A06-5C621FE49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D70F5-4B49-4A17-A9A8-2FAC8E9027FE}" type="datetimeFigureOut">
              <a:rPr lang="en-US" smtClean="0"/>
              <a:t>7/12/2024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2A26C4-51BD-2BFA-CB49-B231AD0B4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5245FA-3658-36FE-2C07-02857D45D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A1B7E-C8B1-4553-8D9D-E7752CEC5F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6493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91415-4799-55EE-B710-F2FEF1BC6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2607D7-F427-B5D9-CB46-010FA5D75A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A0EA04-C3B9-BF43-C143-4321723C5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D70F5-4B49-4A17-A9A8-2FAC8E9027FE}" type="datetimeFigureOut">
              <a:rPr lang="en-US" smtClean="0"/>
              <a:t>7/12/2024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8D4289-7553-B137-E019-2959FBB69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C166C2-A78A-5352-3F9B-4BE08DA59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A1B7E-C8B1-4553-8D9D-E7752CEC5F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855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08EC24-224B-32D3-B11C-1598BC2617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9D8D21-055D-D26A-5FC3-4FA48854E7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B8E1FF-C9EA-602B-D386-807200F68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D70F5-4B49-4A17-A9A8-2FAC8E9027FE}" type="datetimeFigureOut">
              <a:rPr lang="en-US" smtClean="0"/>
              <a:t>7/12/2024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7BDDF8-D448-389A-30B4-E381664BF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61DFB0-C969-B5A3-DB5B-622021618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A1B7E-C8B1-4553-8D9D-E7752CEC5F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841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EFC5B2-8817-C0D4-2F7E-1A239F885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8B11FC-45B6-BF0B-C393-D078C49AB8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14D297-97CE-B8BB-5BE2-E8532A82F0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FD70F5-4B49-4A17-A9A8-2FAC8E9027FE}" type="datetimeFigureOut">
              <a:rPr lang="en-US" smtClean="0"/>
              <a:t>7/12/2024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94545-9F6C-82FA-014F-1EF5D4701A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CD5F04-E477-8A5B-DD10-47C178814F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DA1B7E-C8B1-4553-8D9D-E7752CEC5F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1046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7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2359900-482B-D9EA-0CBB-BC2788FE0215}"/>
                  </a:ext>
                </a:extLst>
              </p:cNvPr>
              <p:cNvSpPr txBox="1"/>
              <p:nvPr/>
            </p:nvSpPr>
            <p:spPr>
              <a:xfrm>
                <a:off x="628649" y="428624"/>
                <a:ext cx="11101389" cy="20732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3200" dirty="0"/>
                  <a:t>A small airplane leaves an airport on an overcast day and is later sighted 215 km away, in a direction making an angle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2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22</m:t>
                        </m:r>
                      </m:e>
                      <m:sup>
                        <m:r>
                          <a:rPr lang="en-US" sz="3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sup>
                    </m:sSup>
                  </m:oMath>
                </a14:m>
                <a:r>
                  <a:rPr lang="en-US" sz="3200" dirty="0"/>
                  <a:t> east due north. How far east and north is the airplane from the airport when sighted? 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2359900-482B-D9EA-0CBB-BC2788FE02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49" y="428624"/>
                <a:ext cx="11101389" cy="2073260"/>
              </a:xfrm>
              <a:prstGeom prst="rect">
                <a:avLst/>
              </a:prstGeom>
              <a:blipFill>
                <a:blip r:embed="rId2"/>
                <a:stretch>
                  <a:fillRect l="-1373" t="-3824" r="-1428" b="-88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9AC0EDCF-707E-B747-3600-826BE5002F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3913" y="2053398"/>
            <a:ext cx="3324225" cy="460543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4F3FBF4-746F-A62B-A695-D185490BF210}"/>
              </a:ext>
            </a:extLst>
          </p:cNvPr>
          <p:cNvSpPr txBox="1"/>
          <p:nvPr/>
        </p:nvSpPr>
        <p:spPr>
          <a:xfrm>
            <a:off x="862012" y="5842017"/>
            <a:ext cx="57721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ANS: East 81 km; north 199 km</a:t>
            </a:r>
          </a:p>
        </p:txBody>
      </p:sp>
    </p:spTree>
    <p:extLst>
      <p:ext uri="{BB962C8B-B14F-4D97-AF65-F5344CB8AC3E}">
        <p14:creationId xmlns:p14="http://schemas.microsoft.com/office/powerpoint/2010/main" val="3477391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8B37122-B0B5-A3E0-149E-4AFA0CF0F3EF}"/>
              </a:ext>
            </a:extLst>
          </p:cNvPr>
          <p:cNvSpPr txBox="1"/>
          <p:nvPr/>
        </p:nvSpPr>
        <p:spPr>
          <a:xfrm>
            <a:off x="301840" y="234618"/>
            <a:ext cx="11345661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200" b="0" i="0" dirty="0">
                <a:solidFill>
                  <a:srgbClr val="242021"/>
                </a:solidFill>
                <a:effectLst/>
              </a:rPr>
              <a:t>A hiker begins a trip by first walking 25.0 km 45.0° south of east from her base camp. On the second day she walks 40.0 km in a direction 60.0° north of east, at which point she discovers a forest ranger’s tower. </a:t>
            </a:r>
            <a:r>
              <a:rPr lang="en-US" sz="3200" b="1" i="0" dirty="0">
                <a:solidFill>
                  <a:srgbClr val="242021"/>
                </a:solidFill>
                <a:effectLst/>
              </a:rPr>
              <a:t>(a) </a:t>
            </a:r>
            <a:r>
              <a:rPr lang="en-US" sz="3200" b="0" i="0" dirty="0">
                <a:solidFill>
                  <a:srgbClr val="242021"/>
                </a:solidFill>
                <a:effectLst/>
              </a:rPr>
              <a:t>Determine the components of the hiker’s displacements in the first and second days. </a:t>
            </a:r>
            <a:r>
              <a:rPr lang="en-US" sz="3200" b="1" i="0" dirty="0">
                <a:solidFill>
                  <a:srgbClr val="242021"/>
                </a:solidFill>
                <a:effectLst/>
              </a:rPr>
              <a:t>(b) </a:t>
            </a:r>
            <a:r>
              <a:rPr lang="en-US" sz="3200" b="0" i="0" dirty="0">
                <a:solidFill>
                  <a:srgbClr val="242021"/>
                </a:solidFill>
                <a:effectLst/>
              </a:rPr>
              <a:t>Determine the components of the hiker’s total displacement for the trip. </a:t>
            </a:r>
            <a:r>
              <a:rPr lang="en-US" sz="3200" b="1" i="0" dirty="0">
                <a:solidFill>
                  <a:srgbClr val="242021"/>
                </a:solidFill>
                <a:effectLst/>
              </a:rPr>
              <a:t>(c) </a:t>
            </a:r>
            <a:r>
              <a:rPr lang="en-US" sz="3200" b="0" i="0" dirty="0">
                <a:solidFill>
                  <a:srgbClr val="242021"/>
                </a:solidFill>
                <a:effectLst/>
              </a:rPr>
              <a:t>Find the magnitude and direction of the displacement from base camp.</a:t>
            </a:r>
            <a:r>
              <a:rPr lang="en-US" sz="3200" dirty="0"/>
              <a:t> </a:t>
            </a:r>
            <a:br>
              <a:rPr lang="en-US" sz="3200" dirty="0"/>
            </a:br>
            <a:endParaRPr lang="en-US"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81C4CE-E824-8A95-F66D-41EEBD90C7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5553" y="1552243"/>
            <a:ext cx="4182527" cy="43104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00E8BFA-EF1C-A293-5EC6-97FF475486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945" y="4521779"/>
            <a:ext cx="5800725" cy="504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396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7A94F5F-D9A6-E049-83B8-D487FC01C2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206" y="86973"/>
            <a:ext cx="5591175" cy="44291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29D7518-C447-3DD4-F349-822AA4DA15FB}"/>
                  </a:ext>
                </a:extLst>
              </p:cNvPr>
              <p:cNvSpPr txBox="1"/>
              <p:nvPr/>
            </p:nvSpPr>
            <p:spPr>
              <a:xfrm>
                <a:off x="6478621" y="549531"/>
                <a:ext cx="428194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acc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4.2 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acc>
                        <m:accPr>
                          <m:chr m:val="̂"/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acc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−(1.5 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)</m:t>
                      </m:r>
                      <m:acc>
                        <m:accPr>
                          <m:chr m:val="̂"/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acc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29D7518-C447-3DD4-F349-822AA4DA15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8621" y="549531"/>
                <a:ext cx="4281941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37CC65B-335B-DD7C-1AE0-68CF559E0FD3}"/>
                  </a:ext>
                </a:extLst>
              </p:cNvPr>
              <p:cNvSpPr txBox="1"/>
              <p:nvPr/>
            </p:nvSpPr>
            <p:spPr>
              <a:xfrm>
                <a:off x="6478621" y="1026552"/>
                <a:ext cx="4579139" cy="56534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acc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−1.6 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acc>
                        <m:accPr>
                          <m:chr m:val="̂"/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acc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+(2.9 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)</m:t>
                      </m:r>
                      <m:acc>
                        <m:accPr>
                          <m:chr m:val="̂"/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acc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37CC65B-335B-DD7C-1AE0-68CF559E0F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8621" y="1026552"/>
                <a:ext cx="4579139" cy="56534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B64DF36-7E73-DE2A-DABD-91AC32EC07D7}"/>
                  </a:ext>
                </a:extLst>
              </p:cNvPr>
              <p:cNvSpPr txBox="1"/>
              <p:nvPr/>
            </p:nvSpPr>
            <p:spPr>
              <a:xfrm>
                <a:off x="6478621" y="1580492"/>
                <a:ext cx="2609240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acc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−3.7 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acc>
                        <m:accPr>
                          <m:chr m:val="̂"/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acc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B64DF36-7E73-DE2A-DABD-91AC32EC07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8621" y="1580492"/>
                <a:ext cx="2609240" cy="4924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F300A17-533F-827E-2B31-D1E1F6728683}"/>
                  </a:ext>
                </a:extLst>
              </p:cNvPr>
              <p:cNvSpPr txBox="1"/>
              <p:nvPr/>
            </p:nvSpPr>
            <p:spPr>
              <a:xfrm>
                <a:off x="6357938" y="2300288"/>
                <a:ext cx="5172075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2400" dirty="0"/>
                  <a:t>What is their vector sum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</m:oMath>
                </a14:m>
                <a:r>
                  <a:rPr lang="en-US" sz="2400" dirty="0"/>
                  <a:t> which is also shown? In unit vector notation and magnitude and direction notation. 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F300A17-533F-827E-2B31-D1E1F67286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7938" y="2300288"/>
                <a:ext cx="5172075" cy="1200329"/>
              </a:xfrm>
              <a:prstGeom prst="rect">
                <a:avLst/>
              </a:prstGeom>
              <a:blipFill>
                <a:blip r:embed="rId6"/>
                <a:stretch>
                  <a:fillRect l="-1887" t="-7614" r="-1769" b="-10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5F5C6B7-2E0E-D190-EF01-9BF4C5F82940}"/>
                  </a:ext>
                </a:extLst>
              </p:cNvPr>
              <p:cNvSpPr txBox="1"/>
              <p:nvPr/>
            </p:nvSpPr>
            <p:spPr>
              <a:xfrm>
                <a:off x="185737" y="5629290"/>
                <a:ext cx="11949112" cy="6576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dirty="0"/>
                  <a:t>What is the angle </a:t>
                </a:r>
                <a14:m>
                  <m:oMath xmlns:m="http://schemas.openxmlformats.org/officeDocument/2006/math">
                    <m:r>
                      <a:rPr lang="en-US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 sz="3200" dirty="0"/>
                  <a:t> between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3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a:rPr lang="en-US" sz="32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2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3.0</m:t>
                    </m:r>
                    <m:acc>
                      <m:accPr>
                        <m:chr m:val="̂"/>
                        <m:ctrlPr>
                          <a:rPr lang="en-US" sz="3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a:rPr lang="en-US" sz="32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32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4.0</m:t>
                    </m:r>
                    <m:acc>
                      <m:accPr>
                        <m:chr m:val="̂"/>
                        <m:ctrlPr>
                          <a:rPr lang="en-US" sz="32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2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a:rPr lang="en-US" sz="32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3200" dirty="0"/>
                  <a:t>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3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2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a:rPr lang="en-US" sz="32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2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−2</m:t>
                    </m:r>
                    <m:r>
                      <a:rPr lang="en-US" sz="32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.0</m:t>
                    </m:r>
                    <m:acc>
                      <m:accPr>
                        <m:chr m:val="̂"/>
                        <m:ctrlPr>
                          <a:rPr lang="en-US" sz="3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a:rPr lang="en-US" sz="32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+3</m:t>
                    </m:r>
                    <m:r>
                      <a:rPr lang="en-US" sz="32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.0</m:t>
                    </m:r>
                    <m:acc>
                      <m:accPr>
                        <m:chr m:val="̂"/>
                        <m:ctrlPr>
                          <a:rPr lang="en-US" sz="3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2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lang="en-US" sz="3200" dirty="0"/>
                  <a:t> ? 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5F5C6B7-2E0E-D190-EF01-9BF4C5F829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737" y="5629290"/>
                <a:ext cx="11949112" cy="657681"/>
              </a:xfrm>
              <a:prstGeom prst="rect">
                <a:avLst/>
              </a:prstGeom>
              <a:blipFill>
                <a:blip r:embed="rId7"/>
                <a:stretch>
                  <a:fillRect l="-1275" r="-357" b="-30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30897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9D9DCE6-B759-5659-49EB-E228F446CDA0}"/>
                  </a:ext>
                </a:extLst>
              </p:cNvPr>
              <p:cNvSpPr txBox="1"/>
              <p:nvPr/>
            </p:nvSpPr>
            <p:spPr>
              <a:xfrm>
                <a:off x="836473" y="292601"/>
                <a:ext cx="10012040" cy="17171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2400" dirty="0"/>
                  <a:t>In the sum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</m:oMath>
                </a14:m>
                <a:r>
                  <a:rPr lang="en-US" sz="2400" dirty="0"/>
                  <a:t>, vector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lang="en-US" sz="2400" dirty="0"/>
                  <a:t> has a magnitude of 12.0 m and is angled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40.0</m:t>
                        </m:r>
                      </m:e>
                      <m:sup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sup>
                    </m:sSup>
                  </m:oMath>
                </a14:m>
                <a:r>
                  <a:rPr lang="en-US" sz="2400" dirty="0"/>
                  <a:t> counterclockwise from the +x direction, and vector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</m:oMath>
                </a14:m>
                <a:r>
                  <a:rPr lang="en-US" sz="2400" dirty="0"/>
                  <a:t> has a magnitude of 15.0 m and is angled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0.0</m:t>
                        </m:r>
                      </m:e>
                      <m:sup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sup>
                    </m:sSup>
                  </m:oMath>
                </a14:m>
                <a:r>
                  <a:rPr lang="en-US" sz="2400" dirty="0">
                    <a:solidFill>
                      <a:prstClr val="black"/>
                    </a:solidFill>
                  </a:rPr>
                  <a:t> counterclockwise from the –x direction. What are (a) the magnitude and (b) the angle (relative to +x) of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lang="en-US" sz="2400" dirty="0"/>
                  <a:t>?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9D9DCE6-B759-5659-49EB-E228F446CD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473" y="292601"/>
                <a:ext cx="10012040" cy="1717137"/>
              </a:xfrm>
              <a:prstGeom prst="rect">
                <a:avLst/>
              </a:prstGeom>
              <a:blipFill>
                <a:blip r:embed="rId2"/>
                <a:stretch>
                  <a:fillRect l="-913" r="-913" b="-70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B39B3CB-1CAC-D3DB-3ED9-6A7CB53FE5B7}"/>
                  </a:ext>
                </a:extLst>
              </p:cNvPr>
              <p:cNvSpPr txBox="1"/>
              <p:nvPr/>
            </p:nvSpPr>
            <p:spPr>
              <a:xfrm>
                <a:off x="1100138" y="2614613"/>
                <a:ext cx="9158287" cy="16460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The angle between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</m:oMath>
                </a14:m>
                <a:r>
                  <a:rPr lang="en-US" sz="2400" dirty="0"/>
                  <a:t> and +x axis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20.0</m:t>
                        </m:r>
                      </m:e>
                      <m:sup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sup>
                    </m:sSup>
                    <m:r>
                      <a:rPr lang="en-US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0.0</m:t>
                        </m:r>
                      </m:e>
                      <m:sup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sup>
                    </m:sSup>
                    <m:r>
                      <a:rPr lang="en-US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  <m: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.0</m:t>
                        </m:r>
                      </m:e>
                      <m:sup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sup>
                    </m:sSup>
                  </m:oMath>
                </a14:m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=−23.3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US" sz="2400" b="0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𝐵</m:t>
                          </m:r>
                        </m:e>
                        <m:sub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𝑦</m:t>
                          </m:r>
                        </m:sub>
                      </m:sSub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sSub>
                        <m:sSubPr>
                          <m:ctrlP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𝐶</m:t>
                          </m:r>
                        </m:e>
                        <m:sub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𝑦</m:t>
                          </m:r>
                        </m:sub>
                      </m:sSub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−</m:t>
                      </m:r>
                      <m:sSub>
                        <m:sSubPr>
                          <m:ctrlP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𝐴</m:t>
                          </m:r>
                        </m:e>
                        <m:sub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𝑦</m:t>
                          </m:r>
                        </m:sub>
                      </m:sSub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=−12.8 </m:t>
                      </m:r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𝑚</m:t>
                      </m:r>
                    </m:oMath>
                  </m:oMathPara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B39B3CB-1CAC-D3DB-3ED9-6A7CB53FE5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0138" y="2614613"/>
                <a:ext cx="9158287" cy="1646028"/>
              </a:xfrm>
              <a:prstGeom prst="rect">
                <a:avLst/>
              </a:prstGeom>
              <a:blipFill>
                <a:blip r:embed="rId3"/>
                <a:stretch>
                  <a:fillRect l="-9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06786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137C227-5067-6681-A77B-2136AF61D0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3885696" cy="325171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C302AF2-398D-A03E-0DA2-9061246B80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6330" y="1"/>
            <a:ext cx="3877395" cy="32517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F11FA6A-0CA1-DE6F-547B-635875E7AF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1310" y="0"/>
            <a:ext cx="3874953" cy="326571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A4EC8E2-09DC-F186-C3CC-F66A9D48F1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396343"/>
            <a:ext cx="3877395" cy="340100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60A90E5-DE9A-D536-BF47-61E9A91988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16330" y="3396344"/>
            <a:ext cx="3877395" cy="340100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114575A-88BF-5ECA-DBEA-DDC26B2514E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19948" y="3357847"/>
            <a:ext cx="3606315" cy="3439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449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07E3A87-E65D-DAD2-BAE3-F4BFEAA9EC68}"/>
                  </a:ext>
                </a:extLst>
              </p:cNvPr>
              <p:cNvSpPr txBox="1"/>
              <p:nvPr/>
            </p:nvSpPr>
            <p:spPr>
              <a:xfrm>
                <a:off x="179033" y="0"/>
                <a:ext cx="11833934" cy="22190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3200" dirty="0"/>
                  <a:t>Vector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32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lang="en-US" sz="3200" dirty="0"/>
                  <a:t> lies in the </a:t>
                </a:r>
                <a:r>
                  <a:rPr lang="en-US" sz="3200" dirty="0" err="1"/>
                  <a:t>xy</a:t>
                </a:r>
                <a:r>
                  <a:rPr lang="en-US" sz="3200" dirty="0"/>
                  <a:t> plane, has a magnitude of 18 units and points in a direction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2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250</m:t>
                        </m:r>
                      </m:e>
                      <m:sup>
                        <m:r>
                          <a:rPr lang="en-US" sz="3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sup>
                    </m:sSup>
                  </m:oMath>
                </a14:m>
                <a:r>
                  <a:rPr lang="en-US" sz="3200" dirty="0"/>
                  <a:t> from the positive direction of the x axis. Also, vector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3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2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lang="en-US" sz="3200" dirty="0"/>
                  <a:t> has a magnitude of 12 units and points in the positive direction of the z axis. What is the vector product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3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2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a:rPr lang="en-US" sz="32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sz="32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2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a:rPr lang="en-US" sz="32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US" sz="3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2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endParaRPr lang="en-US" sz="32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07E3A87-E65D-DAD2-BAE3-F4BFEAA9EC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033" y="0"/>
                <a:ext cx="11833934" cy="2219069"/>
              </a:xfrm>
              <a:prstGeom prst="rect">
                <a:avLst/>
              </a:prstGeom>
              <a:blipFill>
                <a:blip r:embed="rId2"/>
                <a:stretch>
                  <a:fillRect l="-1287" t="-3297" r="-1287" b="-79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DC510C93-BC93-24E1-A7FB-A3D7AB9647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3231" y="2103659"/>
            <a:ext cx="6421220" cy="313416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C7E9B62-9837-1866-3866-89440A803A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885" y="5691674"/>
            <a:ext cx="10183356" cy="850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599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377</Words>
  <Application>Microsoft Office PowerPoint</Application>
  <PresentationFormat>Widescreen</PresentationFormat>
  <Paragraphs>13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akabir</dc:creator>
  <cp:lastModifiedBy>akabir</cp:lastModifiedBy>
  <cp:revision>9</cp:revision>
  <dcterms:created xsi:type="dcterms:W3CDTF">2022-09-28T14:48:22Z</dcterms:created>
  <dcterms:modified xsi:type="dcterms:W3CDTF">2024-07-12T16:54:23Z</dcterms:modified>
</cp:coreProperties>
</file>