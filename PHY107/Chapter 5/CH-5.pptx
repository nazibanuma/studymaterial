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0E8A-FBB6-65DA-A739-A2897BE19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BD53F-63C6-DAA3-7246-D7C03BF61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B4DDD-D5AD-4FBB-1033-96AE46C9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31A0D-9E40-0F49-D871-E1BD3906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10FC7-E9A7-3B7B-8468-68F2DBF9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2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173F6-8C1B-3007-BD11-13792C4E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623C-0CDD-45AE-21E4-7AA264A7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2EA2F-3D93-FBD4-DFC7-116BC6FC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E5D25-D283-E7D2-F631-5F9901B2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C4B09-782F-F0CC-0B79-94D988C6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4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0C6A-5471-919B-E450-2B0A3280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C4CB1-97E4-FD18-FD3F-59CB4F9E9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8A95F-00A6-F888-68F4-D5A61A16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B0679-F29D-6759-2A66-CAB35913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81C7-C0FF-DEBE-B953-0B51BE14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0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5702-C376-4A02-285E-E56120171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C5A18-AAFE-8247-941B-B7F0FF21F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EC9FA-77F8-0227-67E5-A1042B99B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844D0-F6AF-62B1-6242-344AE513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9A51E-9227-892D-E15C-452E8F42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9C89D-4C22-B46E-2AEC-16F6AE85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7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7AB0-46D5-3AFC-81E6-AF5231BB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10DAE-AE28-B5ED-6ED9-4402A47E1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F0965-9243-09D0-CB20-7A1019C3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61224-1EE4-0E2D-9A33-36D526D26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12D82-3EF2-5488-71BC-2982AFD64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93D72-ADA0-B733-36A3-EB87B262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FDF1C-7C68-2F30-D091-714B7CB4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DB77C6-3360-25E8-C67E-9392EB6A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3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ACD06-411E-8461-262B-60976EDB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FBC68-E38D-8370-592D-429160A0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46C2C-07BF-B550-A330-26BBADB6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DDA62-BAED-DCFB-8573-8038F671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8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A8ED6-1EAF-741D-7649-AC51ED2A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B11F4-D042-418D-7714-F8C27EA4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70604-0907-4CFE-1840-D13D74D9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6283-A253-C75E-7BA4-577541D2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CDD5F-C4D3-8091-A331-716016879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693AC-6906-4205-D182-FD3420D17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760A6-A807-EE3C-D62A-7E8C83A2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63CA3-664E-8324-B899-C6E5DDA1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25C59-4063-812D-9062-2FC4DE9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3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E6CF-72D8-53BB-473F-64000443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97BB8-D766-E92F-1212-AE63082AB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6079D-EB17-1D3A-FBC4-20FF4C413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C05DD-4C2A-F3CD-2998-AECA4F2B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B0ED5-E1B2-11FC-E232-836AB9BC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28CC7-5D60-7CAD-0914-237F71D6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2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BC2C-030A-413F-E29C-582784AE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10033-6E2D-A17F-6CC5-6E595D440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7F0BA-D2C4-5B8D-C6C5-C0525130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896E9-ECD0-3DB6-6CD7-5A5DDDB4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DCDB5-F85B-04F1-4303-52280BCA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10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BEEA0A-96C8-4377-8F88-F81A622BD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7B152-5449-FCFF-1E0E-21287EFC6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2FDCE-FAE1-14E1-A4D9-79AE2DDD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6FF89-0A1F-EA70-218F-305F48B6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261E9-8705-D9F6-09B8-442C1FAB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9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8817A-B8AC-40ED-E6AE-80FCBE95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9BBE8-396A-A508-978B-89141648A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74640-37E2-9A50-AF1B-99DB68F9C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6E979-9D38-47C0-B17F-AB4C08CA1DA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DDBF2-8BA9-57CE-24FB-151BF4920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B1040-93DE-F204-A12E-528CE6BBE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BBDA0-17FB-499A-8875-8E1C6EF2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E0CC04-7808-1A1B-B156-D9B3C043C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9" y="3845573"/>
            <a:ext cx="4991100" cy="2676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14176-9078-F7C0-320F-4CD631DD6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9" y="3933825"/>
            <a:ext cx="5334000" cy="2924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7BA2F3-3076-B046-C4BC-FAA742FBE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11" y="3845573"/>
            <a:ext cx="5172907" cy="2952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5596AB-4F92-07F7-7C2F-EE71B88341D7}"/>
                  </a:ext>
                </a:extLst>
              </p:cNvPr>
              <p:cNvSpPr txBox="1"/>
              <p:nvPr/>
            </p:nvSpPr>
            <p:spPr>
              <a:xfrm>
                <a:off x="401216" y="335902"/>
                <a:ext cx="11530372" cy="365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/>
                  <a:t>Part A, B, and C of the Fig. below show three situation in which one or two forces act on a puck that moves over a frictionless ice along an x axis, in one-dimensional motion. The puck’s mass is m=0.20 kg.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 are directed along the axis and have magnitudes 4.0 N and 2.0 N respectively.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dirty="0"/>
                  <a:t> is directed at angle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=30°</m:t>
                    </m:r>
                  </m:oMath>
                </a14:m>
                <a:r>
                  <a:rPr lang="en-US" sz="3200" dirty="0"/>
                  <a:t> and has magnitude of 1.0 N. In each situation, what is the acceleration of the puck?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5596AB-4F92-07F7-7C2F-EE71B8834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16" y="335902"/>
                <a:ext cx="11530372" cy="3659207"/>
              </a:xfrm>
              <a:prstGeom prst="rect">
                <a:avLst/>
              </a:prstGeom>
              <a:blipFill>
                <a:blip r:embed="rId5"/>
                <a:stretch>
                  <a:fillRect l="-1375" t="-2167" r="-1322" b="-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45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8F7CE-2DD3-20DB-1529-5024A4D9C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35281"/>
            <a:ext cx="5591175" cy="3743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58086D-C289-36FB-1F0F-82EEFF51129D}"/>
                  </a:ext>
                </a:extLst>
              </p:cNvPr>
              <p:cNvSpPr txBox="1"/>
              <p:nvPr/>
            </p:nvSpPr>
            <p:spPr>
              <a:xfrm>
                <a:off x="629991" y="154667"/>
                <a:ext cx="11088534" cy="2674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/>
                  <a:t>In the overhead view of figure, a 2.0 kg cookie tin is accelerated at 3.0 m/s</a:t>
                </a:r>
                <a:r>
                  <a:rPr lang="en-US" sz="3200" baseline="30000" dirty="0"/>
                  <a:t>2</a:t>
                </a:r>
                <a:r>
                  <a:rPr lang="en-US" sz="3200" dirty="0"/>
                  <a:t> in the direction shown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3200" dirty="0"/>
                  <a:t>, over a frictionless horizontal forces, only two of which are shown: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of magnitude 10 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 of magnitude 20 N. What is the third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dirty="0"/>
                  <a:t> in unit-vector notation and in magnitude-angle notation?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58086D-C289-36FB-1F0F-82EEFF511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91" y="154667"/>
                <a:ext cx="11088534" cy="2674322"/>
              </a:xfrm>
              <a:prstGeom prst="rect">
                <a:avLst/>
              </a:prstGeom>
              <a:blipFill>
                <a:blip r:embed="rId3"/>
                <a:stretch>
                  <a:fillRect l="-1374" t="-2961" r="-1429" b="-6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84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26EBD77-3983-82B1-36B5-04688F3098EE}"/>
              </a:ext>
            </a:extLst>
          </p:cNvPr>
          <p:cNvGrpSpPr/>
          <p:nvPr/>
        </p:nvGrpSpPr>
        <p:grpSpPr>
          <a:xfrm>
            <a:off x="3628802" y="1128100"/>
            <a:ext cx="2897115" cy="3635298"/>
            <a:chOff x="3628802" y="1128100"/>
            <a:chExt cx="2897115" cy="363529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EC3B4C-7370-5B0F-0F62-B7B75C8B0BF5}"/>
                </a:ext>
              </a:extLst>
            </p:cNvPr>
            <p:cNvGrpSpPr/>
            <p:nvPr/>
          </p:nvGrpSpPr>
          <p:grpSpPr>
            <a:xfrm>
              <a:off x="3628802" y="1128100"/>
              <a:ext cx="2687444" cy="3635298"/>
              <a:chOff x="3628802" y="1128100"/>
              <a:chExt cx="2687444" cy="363529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2B9A7C6-2FFC-3872-23D3-99C6F5CC1396}"/>
                  </a:ext>
                </a:extLst>
              </p:cNvPr>
              <p:cNvGrpSpPr/>
              <p:nvPr/>
            </p:nvGrpSpPr>
            <p:grpSpPr>
              <a:xfrm>
                <a:off x="3628802" y="1128100"/>
                <a:ext cx="2687444" cy="3635298"/>
                <a:chOff x="3628802" y="1182421"/>
                <a:chExt cx="2687444" cy="3635298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066CDAD2-74C9-46FD-B5CF-A1C3C9E0B3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628802" y="1182421"/>
                  <a:ext cx="2687444" cy="3635298"/>
                </a:xfrm>
                <a:prstGeom prst="rect">
                  <a:avLst/>
                </a:prstGeom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B956A7F9-E869-C728-5E2A-F7DD0B78EA22}"/>
                    </a:ext>
                  </a:extLst>
                </p:cNvPr>
                <p:cNvCxnSpPr/>
                <p:nvPr/>
              </p:nvCxnSpPr>
              <p:spPr>
                <a:xfrm>
                  <a:off x="4917232" y="3844211"/>
                  <a:ext cx="1097280" cy="822960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3A4AA5EF-E955-A6A7-FB13-C41EAC38980A}"/>
                    </a:ext>
                  </a:extLst>
                </p:cNvPr>
                <p:cNvSpPr/>
                <p:nvPr/>
              </p:nvSpPr>
              <p:spPr>
                <a:xfrm rot="4138274">
                  <a:off x="4945578" y="3625616"/>
                  <a:ext cx="654890" cy="589919"/>
                </a:xfrm>
                <a:prstGeom prst="arc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69F981B4-390B-162C-30A1-3592C6AF7F65}"/>
                      </a:ext>
                    </a:extLst>
                  </p:cNvPr>
                  <p:cNvSpPr txBox="1"/>
                  <p:nvPr/>
                </p:nvSpPr>
                <p:spPr>
                  <a:xfrm>
                    <a:off x="5486406" y="3829617"/>
                    <a:ext cx="561315" cy="375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69F981B4-390B-162C-30A1-3592C6AF7F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6" y="3829617"/>
                    <a:ext cx="561315" cy="37555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C23BC99-9E3D-1ECB-7E39-90A6BC15A521}"/>
                    </a:ext>
                  </a:extLst>
                </p:cNvPr>
                <p:cNvSpPr txBox="1"/>
                <p:nvPr/>
              </p:nvSpPr>
              <p:spPr>
                <a:xfrm>
                  <a:off x="4805759" y="4317462"/>
                  <a:ext cx="1720158" cy="402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C23BC99-9E3D-1ECB-7E39-90A6BC15A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759" y="4317462"/>
                  <a:ext cx="1720158" cy="402931"/>
                </a:xfrm>
                <a:prstGeom prst="rect">
                  <a:avLst/>
                </a:prstGeom>
                <a:blipFill>
                  <a:blip r:embed="rId4"/>
                  <a:stretch>
                    <a:fillRect t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739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5CB393-424D-01A9-D6A1-7D5D0B2F9444}"/>
              </a:ext>
            </a:extLst>
          </p:cNvPr>
          <p:cNvSpPr txBox="1"/>
          <p:nvPr/>
        </p:nvSpPr>
        <p:spPr>
          <a:xfrm>
            <a:off x="382556" y="130628"/>
            <a:ext cx="115419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Figure shows a block S (the sliding block) with mass M=3.3 kg. The block is free to move along a horizontal frictionless surface and connected, by a cord that wraps over a frictionless pully, to a second block H (the hanging block), with mass m=2.1 kg. The cord and pulley have negligible masses compared to the blocks (they are “massless”). The hanging block H falls as the sliding block S accelerates to the right. Find (a) the acceleration of block S, (b) the acceleration of block H, and (c) the tension in the cord.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DAAA23-F661-468C-9F58-6409FFA0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906" y="3429000"/>
            <a:ext cx="3486636" cy="33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4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3787F4-1378-0BB0-BE2D-42B60D6798A5}"/>
                  </a:ext>
                </a:extLst>
              </p:cNvPr>
              <p:cNvSpPr txBox="1"/>
              <p:nvPr/>
            </p:nvSpPr>
            <p:spPr>
              <a:xfrm>
                <a:off x="1384917" y="124287"/>
                <a:ext cx="1026258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As in the figure, a cord pulls on a box of sea biscuits up along a frictionless plane inclined at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=30°</m:t>
                    </m:r>
                  </m:oMath>
                </a14:m>
                <a:r>
                  <a:rPr lang="en-US" sz="2800" dirty="0"/>
                  <a:t>. The box has mass m=5.00 kg, and the force from the cord has magnitude T=25.0 N. What is the box’s acceleration component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/>
                  <a:t> along the inclined plane?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3787F4-1378-0BB0-BE2D-42B60D67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17" y="124287"/>
                <a:ext cx="10262586" cy="1815882"/>
              </a:xfrm>
              <a:prstGeom prst="rect">
                <a:avLst/>
              </a:prstGeom>
              <a:blipFill>
                <a:blip r:embed="rId2"/>
                <a:stretch>
                  <a:fillRect l="-1188" t="-3020" r="-1188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729436C-32FC-2B01-1490-F9DEB57D8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919" y="2547984"/>
            <a:ext cx="43529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0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D49AE-CF41-BBD8-7F49-28F5F6E380C9}"/>
                  </a:ext>
                </a:extLst>
              </p:cNvPr>
              <p:cNvSpPr txBox="1"/>
              <p:nvPr/>
            </p:nvSpPr>
            <p:spPr>
              <a:xfrm>
                <a:off x="417251" y="130990"/>
                <a:ext cx="10857389" cy="2782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Figure “a” shows the general arrangement in which two forces are applied to a 4.0 kg block on frictionless floor, but only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indicated. That force has a fixed magnitude but can be applied at an adjustable angle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 dirty="0"/>
                  <a:t> to the positive direction of x axis. The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is in the positive x-axis. </a:t>
                </a:r>
                <a:r>
                  <a:rPr lang="en-US" sz="2800" dirty="0"/>
                  <a:t>Figure “b” gives the horizontal acceleration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800" dirty="0"/>
                  <a:t> of the block for any given value of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800" dirty="0"/>
                  <a:t>. What is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=180°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D49AE-CF41-BBD8-7F49-28F5F6E38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51" y="130990"/>
                <a:ext cx="10857389" cy="2782172"/>
              </a:xfrm>
              <a:prstGeom prst="rect">
                <a:avLst/>
              </a:prstGeom>
              <a:blipFill>
                <a:blip r:embed="rId2"/>
                <a:stretch>
                  <a:fillRect l="-1122" t="-1969" r="-1122" b="-5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6421B3B-2903-74F3-D63E-25B379CB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376" y="3731442"/>
            <a:ext cx="2000250" cy="1419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DE0C6-8B43-B83D-8E58-C8A345F91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16" y="3136112"/>
            <a:ext cx="335280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8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60441B-D109-D8F2-7D5E-1D4F328184CE}"/>
                  </a:ext>
                </a:extLst>
              </p:cNvPr>
              <p:cNvSpPr txBox="1"/>
              <p:nvPr/>
            </p:nvSpPr>
            <p:spPr>
              <a:xfrm>
                <a:off x="214034" y="454147"/>
                <a:ext cx="8912210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In Figure, a passenger of mass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=72.2</m:t>
                    </m:r>
                  </m:oMath>
                </a14:m>
                <a:r>
                  <a:rPr lang="en-US" sz="2800" dirty="0"/>
                  <a:t> kg stands on a platform scale in an elevator cab. We are concerned with the scale readings when the cab is stationary and when it is moving up or down.</a:t>
                </a:r>
              </a:p>
              <a:p>
                <a:pPr algn="just"/>
                <a:endParaRPr lang="en-US" sz="2800" dirty="0"/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Find a general solution for the scale reading, whatever the vertical motion of the cab.</a:t>
                </a:r>
              </a:p>
              <a:p>
                <a:pPr marL="342900" indent="-342900" algn="just">
                  <a:buAutoNum type="alphaLcParenBoth"/>
                </a:pPr>
                <a:endParaRPr lang="en-US" sz="2800" dirty="0"/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What does the scale read if the cab is stationary or moving upward at a constant speed of 0.5 m/s?</a:t>
                </a:r>
              </a:p>
              <a:p>
                <a:pPr marL="342900" indent="-342900" algn="just">
                  <a:buAutoNum type="alphaLcParenBoth"/>
                </a:pPr>
                <a:endParaRPr lang="en-US" sz="2800" dirty="0"/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What does the scale read if the cab accelerates upward at 3.20 m/s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 and downward at 3.20 m/s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60441B-D109-D8F2-7D5E-1D4F32818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4" y="454147"/>
                <a:ext cx="8912210" cy="5693866"/>
              </a:xfrm>
              <a:prstGeom prst="rect">
                <a:avLst/>
              </a:prstGeom>
              <a:blipFill>
                <a:blip r:embed="rId2"/>
                <a:stretch>
                  <a:fillRect l="-1436" t="-963" r="-1436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07F147B-A541-ED4E-890F-674EC853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975" y="809254"/>
            <a:ext cx="22479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8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D0F34-8A56-37F3-2C2D-87E424543146}"/>
                  </a:ext>
                </a:extLst>
              </p:cNvPr>
              <p:cNvSpPr txBox="1"/>
              <p:nvPr/>
            </p:nvSpPr>
            <p:spPr>
              <a:xfrm>
                <a:off x="639192" y="408373"/>
                <a:ext cx="9738804" cy="2825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In Figure, a constant horizontal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𝑎𝑝𝑝</m:t>
                        </m:r>
                      </m:sub>
                    </m:sSub>
                  </m:oMath>
                </a14:m>
                <a:r>
                  <a:rPr lang="en-US" sz="2800" dirty="0"/>
                  <a:t> of magnitude 20 N is applied to block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of mass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=4.0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sz="2800" dirty="0"/>
                  <a:t>, which pushes against block B of mass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6.0</m:t>
                    </m:r>
                  </m:oMath>
                </a14:m>
                <a:r>
                  <a:rPr lang="en-US" sz="2800" dirty="0"/>
                  <a:t> kg. The blocks slide over a frictionless surface, along x axis.</a:t>
                </a:r>
              </a:p>
              <a:p>
                <a:pPr marL="342900" indent="-342900">
                  <a:buAutoNum type="alphaLcParenBoth"/>
                </a:pPr>
                <a:r>
                  <a:rPr lang="en-US" sz="2800" dirty="0"/>
                  <a:t> What is the acceleration of the blocks?</a:t>
                </a:r>
              </a:p>
              <a:p>
                <a:pPr marL="342900" indent="-342900">
                  <a:buAutoNum type="alphaLcParenBoth"/>
                </a:pPr>
                <a:r>
                  <a:rPr lang="en-US" sz="2800" dirty="0"/>
                  <a:t> What is the (horizontal)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𝐵𝐴</m:t>
                        </m:r>
                      </m:sub>
                    </m:sSub>
                  </m:oMath>
                </a14:m>
                <a:r>
                  <a:rPr lang="en-US" sz="2800" dirty="0"/>
                  <a:t> on block B from block A?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D0F34-8A56-37F3-2C2D-87E424543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92" y="408373"/>
                <a:ext cx="9738804" cy="2825325"/>
              </a:xfrm>
              <a:prstGeom prst="rect">
                <a:avLst/>
              </a:prstGeom>
              <a:blipFill>
                <a:blip r:embed="rId2"/>
                <a:stretch>
                  <a:fillRect l="-1315" b="-5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E51CC8B-BE1C-D917-8BC6-91C871B6F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105" y="3624303"/>
            <a:ext cx="3664311" cy="166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7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617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akabir</cp:lastModifiedBy>
  <cp:revision>9</cp:revision>
  <dcterms:created xsi:type="dcterms:W3CDTF">2022-10-12T13:42:08Z</dcterms:created>
  <dcterms:modified xsi:type="dcterms:W3CDTF">2025-02-25T07:28:35Z</dcterms:modified>
</cp:coreProperties>
</file>