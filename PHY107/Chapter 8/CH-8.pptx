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56"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94BE4-A176-FA98-0EA4-A3A1D2EBCB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775EC49-2052-07AD-AF7A-CBBB1655D0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0B725A7-BED3-956D-A919-29F6E8E5E824}"/>
              </a:ext>
            </a:extLst>
          </p:cNvPr>
          <p:cNvSpPr>
            <a:spLocks noGrp="1"/>
          </p:cNvSpPr>
          <p:nvPr>
            <p:ph type="dt" sz="half" idx="10"/>
          </p:nvPr>
        </p:nvSpPr>
        <p:spPr/>
        <p:txBody>
          <a:bodyPr/>
          <a:lstStyle/>
          <a:p>
            <a:fld id="{72BFFCB5-7F67-4372-BDF7-166D62725894}" type="datetimeFigureOut">
              <a:rPr lang="en-US" smtClean="0"/>
              <a:t>9/1/2023</a:t>
            </a:fld>
            <a:endParaRPr lang="en-US"/>
          </a:p>
        </p:txBody>
      </p:sp>
      <p:sp>
        <p:nvSpPr>
          <p:cNvPr id="5" name="Footer Placeholder 4">
            <a:extLst>
              <a:ext uri="{FF2B5EF4-FFF2-40B4-BE49-F238E27FC236}">
                <a16:creationId xmlns:a16="http://schemas.microsoft.com/office/drawing/2014/main" id="{F32871D6-4361-1167-8635-578D526311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1DC6C3-76FD-9B32-DB80-FFC9A2A7C8AD}"/>
              </a:ext>
            </a:extLst>
          </p:cNvPr>
          <p:cNvSpPr>
            <a:spLocks noGrp="1"/>
          </p:cNvSpPr>
          <p:nvPr>
            <p:ph type="sldNum" sz="quarter" idx="12"/>
          </p:nvPr>
        </p:nvSpPr>
        <p:spPr/>
        <p:txBody>
          <a:bodyPr/>
          <a:lstStyle/>
          <a:p>
            <a:fld id="{B605E250-292E-46F2-86D1-CA46EAB1B918}" type="slidenum">
              <a:rPr lang="en-US" smtClean="0"/>
              <a:t>‹#›</a:t>
            </a:fld>
            <a:endParaRPr lang="en-US"/>
          </a:p>
        </p:txBody>
      </p:sp>
    </p:spTree>
    <p:extLst>
      <p:ext uri="{BB962C8B-B14F-4D97-AF65-F5344CB8AC3E}">
        <p14:creationId xmlns:p14="http://schemas.microsoft.com/office/powerpoint/2010/main" val="2486426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6EA2F-9C90-7509-B690-A496253301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1EA941-C037-B0E0-584E-B4B8DC0D42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085198-7595-A03A-89E3-662B54681C96}"/>
              </a:ext>
            </a:extLst>
          </p:cNvPr>
          <p:cNvSpPr>
            <a:spLocks noGrp="1"/>
          </p:cNvSpPr>
          <p:nvPr>
            <p:ph type="dt" sz="half" idx="10"/>
          </p:nvPr>
        </p:nvSpPr>
        <p:spPr/>
        <p:txBody>
          <a:bodyPr/>
          <a:lstStyle/>
          <a:p>
            <a:fld id="{72BFFCB5-7F67-4372-BDF7-166D62725894}" type="datetimeFigureOut">
              <a:rPr lang="en-US" smtClean="0"/>
              <a:t>9/1/2023</a:t>
            </a:fld>
            <a:endParaRPr lang="en-US"/>
          </a:p>
        </p:txBody>
      </p:sp>
      <p:sp>
        <p:nvSpPr>
          <p:cNvPr id="5" name="Footer Placeholder 4">
            <a:extLst>
              <a:ext uri="{FF2B5EF4-FFF2-40B4-BE49-F238E27FC236}">
                <a16:creationId xmlns:a16="http://schemas.microsoft.com/office/drawing/2014/main" id="{7AE9C7AF-6471-FF47-54E3-247D26A8AD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042BFE-65E0-515A-E3A8-D80EC9D5A669}"/>
              </a:ext>
            </a:extLst>
          </p:cNvPr>
          <p:cNvSpPr>
            <a:spLocks noGrp="1"/>
          </p:cNvSpPr>
          <p:nvPr>
            <p:ph type="sldNum" sz="quarter" idx="12"/>
          </p:nvPr>
        </p:nvSpPr>
        <p:spPr/>
        <p:txBody>
          <a:bodyPr/>
          <a:lstStyle/>
          <a:p>
            <a:fld id="{B605E250-292E-46F2-86D1-CA46EAB1B918}" type="slidenum">
              <a:rPr lang="en-US" smtClean="0"/>
              <a:t>‹#›</a:t>
            </a:fld>
            <a:endParaRPr lang="en-US"/>
          </a:p>
        </p:txBody>
      </p:sp>
    </p:spTree>
    <p:extLst>
      <p:ext uri="{BB962C8B-B14F-4D97-AF65-F5344CB8AC3E}">
        <p14:creationId xmlns:p14="http://schemas.microsoft.com/office/powerpoint/2010/main" val="2482075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A0464-0AB9-3C4A-76D3-A92C242748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C4652B-FE0C-9152-BDF9-2EDD8650F0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EA276A-3A9C-09D9-9DE4-E57F7FD3A740}"/>
              </a:ext>
            </a:extLst>
          </p:cNvPr>
          <p:cNvSpPr>
            <a:spLocks noGrp="1"/>
          </p:cNvSpPr>
          <p:nvPr>
            <p:ph type="dt" sz="half" idx="10"/>
          </p:nvPr>
        </p:nvSpPr>
        <p:spPr/>
        <p:txBody>
          <a:bodyPr/>
          <a:lstStyle/>
          <a:p>
            <a:fld id="{72BFFCB5-7F67-4372-BDF7-166D62725894}" type="datetimeFigureOut">
              <a:rPr lang="en-US" smtClean="0"/>
              <a:t>9/1/2023</a:t>
            </a:fld>
            <a:endParaRPr lang="en-US"/>
          </a:p>
        </p:txBody>
      </p:sp>
      <p:sp>
        <p:nvSpPr>
          <p:cNvPr id="5" name="Footer Placeholder 4">
            <a:extLst>
              <a:ext uri="{FF2B5EF4-FFF2-40B4-BE49-F238E27FC236}">
                <a16:creationId xmlns:a16="http://schemas.microsoft.com/office/drawing/2014/main" id="{A7AD7FB2-A40F-7134-CA5B-14226D458E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6A8A50-35F1-CE18-D9EF-E4C89901C1F9}"/>
              </a:ext>
            </a:extLst>
          </p:cNvPr>
          <p:cNvSpPr>
            <a:spLocks noGrp="1"/>
          </p:cNvSpPr>
          <p:nvPr>
            <p:ph type="sldNum" sz="quarter" idx="12"/>
          </p:nvPr>
        </p:nvSpPr>
        <p:spPr/>
        <p:txBody>
          <a:bodyPr/>
          <a:lstStyle/>
          <a:p>
            <a:fld id="{B605E250-292E-46F2-86D1-CA46EAB1B918}" type="slidenum">
              <a:rPr lang="en-US" smtClean="0"/>
              <a:t>‹#›</a:t>
            </a:fld>
            <a:endParaRPr lang="en-US"/>
          </a:p>
        </p:txBody>
      </p:sp>
    </p:spTree>
    <p:extLst>
      <p:ext uri="{BB962C8B-B14F-4D97-AF65-F5344CB8AC3E}">
        <p14:creationId xmlns:p14="http://schemas.microsoft.com/office/powerpoint/2010/main" val="80590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F0C2F-2922-55AD-CE50-1BD3DAE95E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F59C09-30DC-B73F-F37C-E5EC9D9EC9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055D77-F4AB-8B75-6C4F-68E9670784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D6BF17-4CF0-330A-B20D-05DC5478AF8E}"/>
              </a:ext>
            </a:extLst>
          </p:cNvPr>
          <p:cNvSpPr>
            <a:spLocks noGrp="1"/>
          </p:cNvSpPr>
          <p:nvPr>
            <p:ph type="dt" sz="half" idx="10"/>
          </p:nvPr>
        </p:nvSpPr>
        <p:spPr/>
        <p:txBody>
          <a:bodyPr/>
          <a:lstStyle/>
          <a:p>
            <a:fld id="{72BFFCB5-7F67-4372-BDF7-166D62725894}" type="datetimeFigureOut">
              <a:rPr lang="en-US" smtClean="0"/>
              <a:t>9/1/2023</a:t>
            </a:fld>
            <a:endParaRPr lang="en-US"/>
          </a:p>
        </p:txBody>
      </p:sp>
      <p:sp>
        <p:nvSpPr>
          <p:cNvPr id="6" name="Footer Placeholder 5">
            <a:extLst>
              <a:ext uri="{FF2B5EF4-FFF2-40B4-BE49-F238E27FC236}">
                <a16:creationId xmlns:a16="http://schemas.microsoft.com/office/drawing/2014/main" id="{71B5225B-738B-8D45-A9ED-515B5BC989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068788-25AB-052C-84AF-459272A0AD06}"/>
              </a:ext>
            </a:extLst>
          </p:cNvPr>
          <p:cNvSpPr>
            <a:spLocks noGrp="1"/>
          </p:cNvSpPr>
          <p:nvPr>
            <p:ph type="sldNum" sz="quarter" idx="12"/>
          </p:nvPr>
        </p:nvSpPr>
        <p:spPr/>
        <p:txBody>
          <a:bodyPr/>
          <a:lstStyle/>
          <a:p>
            <a:fld id="{B605E250-292E-46F2-86D1-CA46EAB1B918}" type="slidenum">
              <a:rPr lang="en-US" smtClean="0"/>
              <a:t>‹#›</a:t>
            </a:fld>
            <a:endParaRPr lang="en-US"/>
          </a:p>
        </p:txBody>
      </p:sp>
    </p:spTree>
    <p:extLst>
      <p:ext uri="{BB962C8B-B14F-4D97-AF65-F5344CB8AC3E}">
        <p14:creationId xmlns:p14="http://schemas.microsoft.com/office/powerpoint/2010/main" val="4031182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9ED57-0D1C-D723-54EF-0AE8F79F5F4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4B9E61-EB21-3C0F-5FA6-00BA633648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13E63D1-0578-FF2A-977F-C06DB06569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A7A818-9B00-5099-19BD-480313244F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B1FD98-3A41-0184-6C66-F3D14C727E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F5AECD5-0E19-BE32-41BB-DDA2434F4FBE}"/>
              </a:ext>
            </a:extLst>
          </p:cNvPr>
          <p:cNvSpPr>
            <a:spLocks noGrp="1"/>
          </p:cNvSpPr>
          <p:nvPr>
            <p:ph type="dt" sz="half" idx="10"/>
          </p:nvPr>
        </p:nvSpPr>
        <p:spPr/>
        <p:txBody>
          <a:bodyPr/>
          <a:lstStyle/>
          <a:p>
            <a:fld id="{72BFFCB5-7F67-4372-BDF7-166D62725894}" type="datetimeFigureOut">
              <a:rPr lang="en-US" smtClean="0"/>
              <a:t>9/1/2023</a:t>
            </a:fld>
            <a:endParaRPr lang="en-US"/>
          </a:p>
        </p:txBody>
      </p:sp>
      <p:sp>
        <p:nvSpPr>
          <p:cNvPr id="8" name="Footer Placeholder 7">
            <a:extLst>
              <a:ext uri="{FF2B5EF4-FFF2-40B4-BE49-F238E27FC236}">
                <a16:creationId xmlns:a16="http://schemas.microsoft.com/office/drawing/2014/main" id="{3C441E01-6187-3771-AC0C-C606984356D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80CAD3-E45E-4DC4-2285-7C3507CCD05C}"/>
              </a:ext>
            </a:extLst>
          </p:cNvPr>
          <p:cNvSpPr>
            <a:spLocks noGrp="1"/>
          </p:cNvSpPr>
          <p:nvPr>
            <p:ph type="sldNum" sz="quarter" idx="12"/>
          </p:nvPr>
        </p:nvSpPr>
        <p:spPr/>
        <p:txBody>
          <a:bodyPr/>
          <a:lstStyle/>
          <a:p>
            <a:fld id="{B605E250-292E-46F2-86D1-CA46EAB1B918}" type="slidenum">
              <a:rPr lang="en-US" smtClean="0"/>
              <a:t>‹#›</a:t>
            </a:fld>
            <a:endParaRPr lang="en-US"/>
          </a:p>
        </p:txBody>
      </p:sp>
    </p:spTree>
    <p:extLst>
      <p:ext uri="{BB962C8B-B14F-4D97-AF65-F5344CB8AC3E}">
        <p14:creationId xmlns:p14="http://schemas.microsoft.com/office/powerpoint/2010/main" val="846155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D26AF-07CB-8412-D96B-50A04B8A45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48CC2D7-C9DC-BFD2-CA92-71B68EBC389F}"/>
              </a:ext>
            </a:extLst>
          </p:cNvPr>
          <p:cNvSpPr>
            <a:spLocks noGrp="1"/>
          </p:cNvSpPr>
          <p:nvPr>
            <p:ph type="dt" sz="half" idx="10"/>
          </p:nvPr>
        </p:nvSpPr>
        <p:spPr/>
        <p:txBody>
          <a:bodyPr/>
          <a:lstStyle/>
          <a:p>
            <a:fld id="{72BFFCB5-7F67-4372-BDF7-166D62725894}" type="datetimeFigureOut">
              <a:rPr lang="en-US" smtClean="0"/>
              <a:t>9/1/2023</a:t>
            </a:fld>
            <a:endParaRPr lang="en-US"/>
          </a:p>
        </p:txBody>
      </p:sp>
      <p:sp>
        <p:nvSpPr>
          <p:cNvPr id="4" name="Footer Placeholder 3">
            <a:extLst>
              <a:ext uri="{FF2B5EF4-FFF2-40B4-BE49-F238E27FC236}">
                <a16:creationId xmlns:a16="http://schemas.microsoft.com/office/drawing/2014/main" id="{EDA827B9-077E-15CF-9800-9B62AA36E5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8E58EDC-9A95-1F11-DA41-BB33EA2F3FF3}"/>
              </a:ext>
            </a:extLst>
          </p:cNvPr>
          <p:cNvSpPr>
            <a:spLocks noGrp="1"/>
          </p:cNvSpPr>
          <p:nvPr>
            <p:ph type="sldNum" sz="quarter" idx="12"/>
          </p:nvPr>
        </p:nvSpPr>
        <p:spPr/>
        <p:txBody>
          <a:bodyPr/>
          <a:lstStyle/>
          <a:p>
            <a:fld id="{B605E250-292E-46F2-86D1-CA46EAB1B918}" type="slidenum">
              <a:rPr lang="en-US" smtClean="0"/>
              <a:t>‹#›</a:t>
            </a:fld>
            <a:endParaRPr lang="en-US"/>
          </a:p>
        </p:txBody>
      </p:sp>
    </p:spTree>
    <p:extLst>
      <p:ext uri="{BB962C8B-B14F-4D97-AF65-F5344CB8AC3E}">
        <p14:creationId xmlns:p14="http://schemas.microsoft.com/office/powerpoint/2010/main" val="3403264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4201CC-45B9-ED54-3E52-8BE2D70FE201}"/>
              </a:ext>
            </a:extLst>
          </p:cNvPr>
          <p:cNvSpPr>
            <a:spLocks noGrp="1"/>
          </p:cNvSpPr>
          <p:nvPr>
            <p:ph type="dt" sz="half" idx="10"/>
          </p:nvPr>
        </p:nvSpPr>
        <p:spPr/>
        <p:txBody>
          <a:bodyPr/>
          <a:lstStyle/>
          <a:p>
            <a:fld id="{72BFFCB5-7F67-4372-BDF7-166D62725894}" type="datetimeFigureOut">
              <a:rPr lang="en-US" smtClean="0"/>
              <a:t>9/1/2023</a:t>
            </a:fld>
            <a:endParaRPr lang="en-US"/>
          </a:p>
        </p:txBody>
      </p:sp>
      <p:sp>
        <p:nvSpPr>
          <p:cNvPr id="3" name="Footer Placeholder 2">
            <a:extLst>
              <a:ext uri="{FF2B5EF4-FFF2-40B4-BE49-F238E27FC236}">
                <a16:creationId xmlns:a16="http://schemas.microsoft.com/office/drawing/2014/main" id="{B02B3449-0B9B-7D5F-9712-0A7CFCCCF75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C6040D-C1E6-AB1E-AAAD-40CEFBD9A9D9}"/>
              </a:ext>
            </a:extLst>
          </p:cNvPr>
          <p:cNvSpPr>
            <a:spLocks noGrp="1"/>
          </p:cNvSpPr>
          <p:nvPr>
            <p:ph type="sldNum" sz="quarter" idx="12"/>
          </p:nvPr>
        </p:nvSpPr>
        <p:spPr/>
        <p:txBody>
          <a:bodyPr/>
          <a:lstStyle/>
          <a:p>
            <a:fld id="{B605E250-292E-46F2-86D1-CA46EAB1B918}" type="slidenum">
              <a:rPr lang="en-US" smtClean="0"/>
              <a:t>‹#›</a:t>
            </a:fld>
            <a:endParaRPr lang="en-US"/>
          </a:p>
        </p:txBody>
      </p:sp>
    </p:spTree>
    <p:extLst>
      <p:ext uri="{BB962C8B-B14F-4D97-AF65-F5344CB8AC3E}">
        <p14:creationId xmlns:p14="http://schemas.microsoft.com/office/powerpoint/2010/main" val="386727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89D6-C461-E376-F737-F2B10DD367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319163-CBDA-A2A3-EF5F-5B4238A17B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7A68E29-311B-8CF2-A40E-AE1583A8ED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42F7C4-4633-9A1D-5838-0C0E54FDB177}"/>
              </a:ext>
            </a:extLst>
          </p:cNvPr>
          <p:cNvSpPr>
            <a:spLocks noGrp="1"/>
          </p:cNvSpPr>
          <p:nvPr>
            <p:ph type="dt" sz="half" idx="10"/>
          </p:nvPr>
        </p:nvSpPr>
        <p:spPr/>
        <p:txBody>
          <a:bodyPr/>
          <a:lstStyle/>
          <a:p>
            <a:fld id="{72BFFCB5-7F67-4372-BDF7-166D62725894}" type="datetimeFigureOut">
              <a:rPr lang="en-US" smtClean="0"/>
              <a:t>9/1/2023</a:t>
            </a:fld>
            <a:endParaRPr lang="en-US"/>
          </a:p>
        </p:txBody>
      </p:sp>
      <p:sp>
        <p:nvSpPr>
          <p:cNvPr id="6" name="Footer Placeholder 5">
            <a:extLst>
              <a:ext uri="{FF2B5EF4-FFF2-40B4-BE49-F238E27FC236}">
                <a16:creationId xmlns:a16="http://schemas.microsoft.com/office/drawing/2014/main" id="{CD31705B-D816-F4AC-6315-CD51B8A1B5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3D0982-32B6-B68E-4812-0AC148CDABCA}"/>
              </a:ext>
            </a:extLst>
          </p:cNvPr>
          <p:cNvSpPr>
            <a:spLocks noGrp="1"/>
          </p:cNvSpPr>
          <p:nvPr>
            <p:ph type="sldNum" sz="quarter" idx="12"/>
          </p:nvPr>
        </p:nvSpPr>
        <p:spPr/>
        <p:txBody>
          <a:bodyPr/>
          <a:lstStyle/>
          <a:p>
            <a:fld id="{B605E250-292E-46F2-86D1-CA46EAB1B918}" type="slidenum">
              <a:rPr lang="en-US" smtClean="0"/>
              <a:t>‹#›</a:t>
            </a:fld>
            <a:endParaRPr lang="en-US"/>
          </a:p>
        </p:txBody>
      </p:sp>
    </p:spTree>
    <p:extLst>
      <p:ext uri="{BB962C8B-B14F-4D97-AF65-F5344CB8AC3E}">
        <p14:creationId xmlns:p14="http://schemas.microsoft.com/office/powerpoint/2010/main" val="722398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5F0D3-1B21-80BC-F6C7-E881F4F4DA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1CC2430-CCF8-27B1-90A8-8CA42EFF73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DDC2D17-2DB6-9857-35C3-F442B04CE0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7E7077-6854-503A-23EE-03255178D986}"/>
              </a:ext>
            </a:extLst>
          </p:cNvPr>
          <p:cNvSpPr>
            <a:spLocks noGrp="1"/>
          </p:cNvSpPr>
          <p:nvPr>
            <p:ph type="dt" sz="half" idx="10"/>
          </p:nvPr>
        </p:nvSpPr>
        <p:spPr/>
        <p:txBody>
          <a:bodyPr/>
          <a:lstStyle/>
          <a:p>
            <a:fld id="{72BFFCB5-7F67-4372-BDF7-166D62725894}" type="datetimeFigureOut">
              <a:rPr lang="en-US" smtClean="0"/>
              <a:t>9/1/2023</a:t>
            </a:fld>
            <a:endParaRPr lang="en-US"/>
          </a:p>
        </p:txBody>
      </p:sp>
      <p:sp>
        <p:nvSpPr>
          <p:cNvPr id="6" name="Footer Placeholder 5">
            <a:extLst>
              <a:ext uri="{FF2B5EF4-FFF2-40B4-BE49-F238E27FC236}">
                <a16:creationId xmlns:a16="http://schemas.microsoft.com/office/drawing/2014/main" id="{EE2E84E2-B433-BD85-90CF-AC0AF1698D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AF43B-99F3-064E-4508-33BFB504099B}"/>
              </a:ext>
            </a:extLst>
          </p:cNvPr>
          <p:cNvSpPr>
            <a:spLocks noGrp="1"/>
          </p:cNvSpPr>
          <p:nvPr>
            <p:ph type="sldNum" sz="quarter" idx="12"/>
          </p:nvPr>
        </p:nvSpPr>
        <p:spPr/>
        <p:txBody>
          <a:bodyPr/>
          <a:lstStyle/>
          <a:p>
            <a:fld id="{B605E250-292E-46F2-86D1-CA46EAB1B918}" type="slidenum">
              <a:rPr lang="en-US" smtClean="0"/>
              <a:t>‹#›</a:t>
            </a:fld>
            <a:endParaRPr lang="en-US"/>
          </a:p>
        </p:txBody>
      </p:sp>
    </p:spTree>
    <p:extLst>
      <p:ext uri="{BB962C8B-B14F-4D97-AF65-F5344CB8AC3E}">
        <p14:creationId xmlns:p14="http://schemas.microsoft.com/office/powerpoint/2010/main" val="330721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5B517-DF92-E450-7D20-E27E74B628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3C69D9A-A7C8-E7D5-0E83-92EADE2A28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CD063B-CA02-C35A-BB4A-B297D95C707C}"/>
              </a:ext>
            </a:extLst>
          </p:cNvPr>
          <p:cNvSpPr>
            <a:spLocks noGrp="1"/>
          </p:cNvSpPr>
          <p:nvPr>
            <p:ph type="dt" sz="half" idx="10"/>
          </p:nvPr>
        </p:nvSpPr>
        <p:spPr/>
        <p:txBody>
          <a:bodyPr/>
          <a:lstStyle/>
          <a:p>
            <a:fld id="{72BFFCB5-7F67-4372-BDF7-166D62725894}" type="datetimeFigureOut">
              <a:rPr lang="en-US" smtClean="0"/>
              <a:t>9/1/2023</a:t>
            </a:fld>
            <a:endParaRPr lang="en-US"/>
          </a:p>
        </p:txBody>
      </p:sp>
      <p:sp>
        <p:nvSpPr>
          <p:cNvPr id="5" name="Footer Placeholder 4">
            <a:extLst>
              <a:ext uri="{FF2B5EF4-FFF2-40B4-BE49-F238E27FC236}">
                <a16:creationId xmlns:a16="http://schemas.microsoft.com/office/drawing/2014/main" id="{251F6E2C-12BF-1C77-4434-9C58021D2C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124E61-74BA-0D4B-108E-5EB4D3A06D04}"/>
              </a:ext>
            </a:extLst>
          </p:cNvPr>
          <p:cNvSpPr>
            <a:spLocks noGrp="1"/>
          </p:cNvSpPr>
          <p:nvPr>
            <p:ph type="sldNum" sz="quarter" idx="12"/>
          </p:nvPr>
        </p:nvSpPr>
        <p:spPr/>
        <p:txBody>
          <a:bodyPr/>
          <a:lstStyle/>
          <a:p>
            <a:fld id="{B605E250-292E-46F2-86D1-CA46EAB1B918}" type="slidenum">
              <a:rPr lang="en-US" smtClean="0"/>
              <a:t>‹#›</a:t>
            </a:fld>
            <a:endParaRPr lang="en-US"/>
          </a:p>
        </p:txBody>
      </p:sp>
    </p:spTree>
    <p:extLst>
      <p:ext uri="{BB962C8B-B14F-4D97-AF65-F5344CB8AC3E}">
        <p14:creationId xmlns:p14="http://schemas.microsoft.com/office/powerpoint/2010/main" val="2175949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936750-904D-D567-C6DF-A1E1661C143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8A56215-0BC8-46D3-3306-D3C68523F4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1A2F62-9415-A44B-C4E7-E987EEFC97DA}"/>
              </a:ext>
            </a:extLst>
          </p:cNvPr>
          <p:cNvSpPr>
            <a:spLocks noGrp="1"/>
          </p:cNvSpPr>
          <p:nvPr>
            <p:ph type="dt" sz="half" idx="10"/>
          </p:nvPr>
        </p:nvSpPr>
        <p:spPr/>
        <p:txBody>
          <a:bodyPr/>
          <a:lstStyle/>
          <a:p>
            <a:fld id="{72BFFCB5-7F67-4372-BDF7-166D62725894}" type="datetimeFigureOut">
              <a:rPr lang="en-US" smtClean="0"/>
              <a:t>9/1/2023</a:t>
            </a:fld>
            <a:endParaRPr lang="en-US"/>
          </a:p>
        </p:txBody>
      </p:sp>
      <p:sp>
        <p:nvSpPr>
          <p:cNvPr id="5" name="Footer Placeholder 4">
            <a:extLst>
              <a:ext uri="{FF2B5EF4-FFF2-40B4-BE49-F238E27FC236}">
                <a16:creationId xmlns:a16="http://schemas.microsoft.com/office/drawing/2014/main" id="{730B2F93-C2BB-B9B6-0017-3627CBEDB7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FED94F-C439-AC63-E2B9-C9C0F147365D}"/>
              </a:ext>
            </a:extLst>
          </p:cNvPr>
          <p:cNvSpPr>
            <a:spLocks noGrp="1"/>
          </p:cNvSpPr>
          <p:nvPr>
            <p:ph type="sldNum" sz="quarter" idx="12"/>
          </p:nvPr>
        </p:nvSpPr>
        <p:spPr/>
        <p:txBody>
          <a:bodyPr/>
          <a:lstStyle/>
          <a:p>
            <a:fld id="{B605E250-292E-46F2-86D1-CA46EAB1B918}" type="slidenum">
              <a:rPr lang="en-US" smtClean="0"/>
              <a:t>‹#›</a:t>
            </a:fld>
            <a:endParaRPr lang="en-US"/>
          </a:p>
        </p:txBody>
      </p:sp>
    </p:spTree>
    <p:extLst>
      <p:ext uri="{BB962C8B-B14F-4D97-AF65-F5344CB8AC3E}">
        <p14:creationId xmlns:p14="http://schemas.microsoft.com/office/powerpoint/2010/main" val="1320761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644DDB-2CBF-21E9-BA89-4EE7A68B6A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2BEBBF-EB1A-896E-6A1D-C977C8AD3D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302CD7-3DAA-A4E5-6AE5-B147EB70A9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FFCB5-7F67-4372-BDF7-166D62725894}" type="datetimeFigureOut">
              <a:rPr lang="en-US" smtClean="0"/>
              <a:t>9/1/2023</a:t>
            </a:fld>
            <a:endParaRPr lang="en-US"/>
          </a:p>
        </p:txBody>
      </p:sp>
      <p:sp>
        <p:nvSpPr>
          <p:cNvPr id="5" name="Footer Placeholder 4">
            <a:extLst>
              <a:ext uri="{FF2B5EF4-FFF2-40B4-BE49-F238E27FC236}">
                <a16:creationId xmlns:a16="http://schemas.microsoft.com/office/drawing/2014/main" id="{72615EC8-97A4-2E3B-0584-B1B61A341D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03C764F-3164-AEED-C71C-10BA444754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05E250-292E-46F2-86D1-CA46EAB1B918}" type="slidenum">
              <a:rPr lang="en-US" smtClean="0"/>
              <a:t>‹#›</a:t>
            </a:fld>
            <a:endParaRPr lang="en-US"/>
          </a:p>
        </p:txBody>
      </p:sp>
    </p:spTree>
    <p:extLst>
      <p:ext uri="{BB962C8B-B14F-4D97-AF65-F5344CB8AC3E}">
        <p14:creationId xmlns:p14="http://schemas.microsoft.com/office/powerpoint/2010/main" val="21248927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C059F3E-F5D8-9900-7A80-390757A2B951}"/>
              </a:ext>
            </a:extLst>
          </p:cNvPr>
          <p:cNvSpPr txBox="1"/>
          <p:nvPr/>
        </p:nvSpPr>
        <p:spPr>
          <a:xfrm>
            <a:off x="649610" y="376665"/>
            <a:ext cx="10893558"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t>The main lesson of this sample problem is this: It is perfectly all right to choose an easy path instead of a hard path. Figure 8-5a shows a 2.0 kg block of slippery cheese that slides along a frictionless track from point a to point b. The </a:t>
            </a:r>
            <a:r>
              <a:rPr kumimoji="0" lang="en-US" sz="2000" b="0" i="0" u="none" strike="noStrike" kern="1200" cap="none" spc="0" normalizeH="0" baseline="0" noProof="0" dirty="0">
                <a:ln>
                  <a:noFill/>
                </a:ln>
                <a:solidFill>
                  <a:srgbClr val="231F20"/>
                </a:solidFill>
                <a:effectLst/>
                <a:uLnTx/>
                <a:uFillTx/>
                <a:latin typeface="Times New Roman" panose="02020603050405020304" pitchFamily="18" charset="0"/>
                <a:cs typeface="Times New Roman" panose="02020603050405020304" pitchFamily="18" charset="0"/>
              </a:rPr>
              <a:t>cheese travels through a total distance of 2.0 m along the track, and a net vertical distance of 0.80 m. How much work is done on the cheese by the gravitational force during the slide?</a:t>
            </a:r>
            <a:endParaRPr lang="en-US"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DD53AFFB-5DA1-370A-692B-F84D644FC282}"/>
              </a:ext>
            </a:extLst>
          </p:cNvPr>
          <p:cNvPicPr>
            <a:picLocks noChangeAspect="1"/>
          </p:cNvPicPr>
          <p:nvPr/>
        </p:nvPicPr>
        <p:blipFill>
          <a:blip r:embed="rId2"/>
          <a:stretch>
            <a:fillRect/>
          </a:stretch>
        </p:blipFill>
        <p:spPr>
          <a:xfrm>
            <a:off x="2775028" y="1976390"/>
            <a:ext cx="6334125" cy="2724150"/>
          </a:xfrm>
          <a:prstGeom prst="rect">
            <a:avLst/>
          </a:prstGeom>
        </p:spPr>
      </p:pic>
    </p:spTree>
    <p:extLst>
      <p:ext uri="{BB962C8B-B14F-4D97-AF65-F5344CB8AC3E}">
        <p14:creationId xmlns:p14="http://schemas.microsoft.com/office/powerpoint/2010/main" val="1727598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741CC8-2658-34A3-D232-B767A12D226D}"/>
              </a:ext>
            </a:extLst>
          </p:cNvPr>
          <p:cNvSpPr txBox="1"/>
          <p:nvPr/>
        </p:nvSpPr>
        <p:spPr>
          <a:xfrm>
            <a:off x="678987" y="95905"/>
            <a:ext cx="10504260" cy="1631216"/>
          </a:xfrm>
          <a:prstGeom prst="rect">
            <a:avLst/>
          </a:prstGeom>
          <a:noFill/>
        </p:spPr>
        <p:txBody>
          <a:bodyPr wrap="square">
            <a:spAutoFit/>
          </a:bodyPr>
          <a:lstStyle/>
          <a:p>
            <a:pPr algn="just"/>
            <a:r>
              <a:rPr lang="en-US" sz="2000" b="0" i="0" dirty="0">
                <a:solidFill>
                  <a:srgbClr val="231F20"/>
                </a:solidFill>
                <a:effectLst/>
                <a:latin typeface="Times New Roman" panose="02020603050405020304" pitchFamily="18" charset="0"/>
                <a:cs typeface="Times New Roman" panose="02020603050405020304" pitchFamily="18" charset="0"/>
              </a:rPr>
              <a:t>The huge advantage of using the conservation of energy instead of Newton’s laws of motion is that we can jump from the initial state to the final state without considering all the intermediate motion. Here is an example. In Fig., a child of mass m is released from rest at the top of a water slide,</a:t>
            </a:r>
            <a:br>
              <a:rPr lang="en-US" sz="2000" b="0" i="0" dirty="0">
                <a:solidFill>
                  <a:srgbClr val="231F20"/>
                </a:solidFill>
                <a:effectLst/>
                <a:latin typeface="Times New Roman" panose="02020603050405020304" pitchFamily="18" charset="0"/>
                <a:cs typeface="Times New Roman" panose="02020603050405020304" pitchFamily="18" charset="0"/>
              </a:rPr>
            </a:br>
            <a:r>
              <a:rPr lang="en-US" sz="2000" b="0" i="0" dirty="0">
                <a:solidFill>
                  <a:srgbClr val="231F20"/>
                </a:solidFill>
                <a:effectLst/>
                <a:latin typeface="Times New Roman" panose="02020603050405020304" pitchFamily="18" charset="0"/>
                <a:cs typeface="Times New Roman" panose="02020603050405020304" pitchFamily="18" charset="0"/>
              </a:rPr>
              <a:t>at height h = 8.5 m above the bottom of the slide. Assuming that the slide is frictionless because of the water on it, find the child’s speed at the bottom of the slide.</a:t>
            </a:r>
            <a:r>
              <a:rPr lang="en-US" sz="2000" dirty="0">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D156F332-D709-A181-1E83-D4DC343379C9}"/>
              </a:ext>
            </a:extLst>
          </p:cNvPr>
          <p:cNvPicPr>
            <a:picLocks noChangeAspect="1"/>
          </p:cNvPicPr>
          <p:nvPr/>
        </p:nvPicPr>
        <p:blipFill>
          <a:blip r:embed="rId2"/>
          <a:stretch>
            <a:fillRect/>
          </a:stretch>
        </p:blipFill>
        <p:spPr>
          <a:xfrm>
            <a:off x="1992706" y="2035123"/>
            <a:ext cx="3009900" cy="3676650"/>
          </a:xfrm>
          <a:prstGeom prst="rect">
            <a:avLst/>
          </a:prstGeom>
        </p:spPr>
      </p:pic>
    </p:spTree>
    <p:extLst>
      <p:ext uri="{BB962C8B-B14F-4D97-AF65-F5344CB8AC3E}">
        <p14:creationId xmlns:p14="http://schemas.microsoft.com/office/powerpoint/2010/main" val="3109529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EE3150-0482-374E-6927-3D2A661F901F}"/>
              </a:ext>
            </a:extLst>
          </p:cNvPr>
          <p:cNvPicPr>
            <a:picLocks noChangeAspect="1"/>
          </p:cNvPicPr>
          <p:nvPr/>
        </p:nvPicPr>
        <p:blipFill>
          <a:blip r:embed="rId2"/>
          <a:stretch>
            <a:fillRect/>
          </a:stretch>
        </p:blipFill>
        <p:spPr>
          <a:xfrm>
            <a:off x="2372008" y="0"/>
            <a:ext cx="7179397" cy="6847260"/>
          </a:xfrm>
          <a:prstGeom prst="rect">
            <a:avLst/>
          </a:prstGeom>
        </p:spPr>
      </p:pic>
    </p:spTree>
    <p:extLst>
      <p:ext uri="{BB962C8B-B14F-4D97-AF65-F5344CB8AC3E}">
        <p14:creationId xmlns:p14="http://schemas.microsoft.com/office/powerpoint/2010/main" val="1954971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CD11BCC-3B97-E72A-59B3-CBB1015DE5AC}"/>
                  </a:ext>
                </a:extLst>
              </p:cNvPr>
              <p:cNvSpPr txBox="1"/>
              <p:nvPr/>
            </p:nvSpPr>
            <p:spPr>
              <a:xfrm>
                <a:off x="294230" y="253467"/>
                <a:ext cx="9577737" cy="5476949"/>
              </a:xfrm>
              <a:prstGeom prst="rect">
                <a:avLst/>
              </a:prstGeom>
              <a:noFill/>
            </p:spPr>
            <p:txBody>
              <a:bodyPr wrap="square" rtlCol="0">
                <a:spAutoFit/>
              </a:bodyPr>
              <a:lstStyle/>
              <a:p>
                <a:pPr algn="just"/>
                <a:r>
                  <a:rPr lang="en-US" sz="2800" dirty="0"/>
                  <a:t>A 2.00 kg particle moves along an x axis in one-dimensional motion while a conservative force along that axis acts on it. The potential energy U(x) associated with the force is plotted in the figure. That is, if the particle were placed at any position between x=0 and x=7.00 m, it would have the plotted value of U. At x=6.5 m, the particle has velocity </a:t>
                </a: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𝑣</m:t>
                        </m:r>
                      </m:e>
                      <m:sub>
                        <m:r>
                          <a:rPr lang="en-US" sz="2800" b="0" i="1" smtClean="0">
                            <a:latin typeface="Cambria Math" panose="02040503050406030204" pitchFamily="18" charset="0"/>
                          </a:rPr>
                          <m:t>0</m:t>
                        </m:r>
                      </m:sub>
                    </m:sSub>
                    <m:r>
                      <a:rPr lang="en-US" sz="2800" b="0" i="1" smtClean="0">
                        <a:latin typeface="Cambria Math" panose="02040503050406030204" pitchFamily="18" charset="0"/>
                      </a:rPr>
                      <m:t>=</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−4.00</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𝑚</m:t>
                            </m:r>
                          </m:num>
                          <m:den>
                            <m:r>
                              <a:rPr lang="en-US" sz="2800" b="0" i="1" smtClean="0">
                                <a:latin typeface="Cambria Math" panose="02040503050406030204" pitchFamily="18" charset="0"/>
                              </a:rPr>
                              <m:t>𝑠</m:t>
                            </m:r>
                          </m:den>
                        </m:f>
                      </m:e>
                    </m:d>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𝑖</m:t>
                        </m:r>
                      </m:e>
                    </m:acc>
                  </m:oMath>
                </a14:m>
                <a:r>
                  <a:rPr lang="en-US" sz="2800" dirty="0"/>
                  <a:t>.</a:t>
                </a:r>
              </a:p>
              <a:p>
                <a:pPr marL="342900" indent="-342900" algn="just">
                  <a:buAutoNum type="alphaLcParenBoth"/>
                </a:pPr>
                <a:r>
                  <a:rPr lang="en-US" sz="2800" dirty="0"/>
                  <a:t>From determine the particle’s speed at </a:t>
                </a: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r>
                      <a:rPr lang="en-US" sz="2800" b="0" i="1" smtClean="0">
                        <a:latin typeface="Cambria Math" panose="02040503050406030204" pitchFamily="18" charset="0"/>
                      </a:rPr>
                      <m:t>=4.5 </m:t>
                    </m:r>
                    <m:r>
                      <a:rPr lang="en-US" sz="2800" b="0" i="1" smtClean="0">
                        <a:latin typeface="Cambria Math" panose="02040503050406030204" pitchFamily="18" charset="0"/>
                      </a:rPr>
                      <m:t>𝑚</m:t>
                    </m:r>
                    <m:r>
                      <a:rPr lang="en-US" sz="2800" b="0" i="1" smtClean="0">
                        <a:latin typeface="Cambria Math" panose="02040503050406030204" pitchFamily="18" charset="0"/>
                      </a:rPr>
                      <m:t>.</m:t>
                    </m:r>
                  </m:oMath>
                </a14:m>
                <a:endParaRPr lang="en-US" sz="2800" dirty="0"/>
              </a:p>
              <a:p>
                <a:pPr marL="342900" indent="-342900" algn="just">
                  <a:buAutoNum type="alphaLcParenBoth"/>
                </a:pPr>
                <a:r>
                  <a:rPr lang="en-US" sz="2800" dirty="0"/>
                  <a:t>Where is the particle’s turning point located?</a:t>
                </a:r>
              </a:p>
              <a:p>
                <a:pPr marL="342900" indent="-342900" algn="just">
                  <a:buAutoNum type="alphaLcParenBoth"/>
                </a:pPr>
                <a:r>
                  <a:rPr lang="en-US" sz="2800" dirty="0"/>
                  <a:t>Evaluate the force acting on the particle when it is in the region </a:t>
                </a:r>
                <a14:m>
                  <m:oMath xmlns:m="http://schemas.openxmlformats.org/officeDocument/2006/math">
                    <m:r>
                      <a:rPr lang="en-US" sz="2800" b="0" i="1" smtClean="0">
                        <a:latin typeface="Cambria Math" panose="02040503050406030204" pitchFamily="18" charset="0"/>
                      </a:rPr>
                      <m:t>1.9 </m:t>
                    </m:r>
                    <m:r>
                      <a:rPr lang="en-US" sz="2800" b="0" i="1" smtClean="0">
                        <a:latin typeface="Cambria Math" panose="02040503050406030204" pitchFamily="18" charset="0"/>
                      </a:rPr>
                      <m:t>𝑚</m:t>
                    </m:r>
                    <m:r>
                      <a:rPr lang="en-US" sz="2800" b="0" i="1" smtClean="0">
                        <a:latin typeface="Cambria Math" panose="02040503050406030204" pitchFamily="18" charset="0"/>
                      </a:rPr>
                      <m:t>&lt;</m:t>
                    </m:r>
                    <m:r>
                      <a:rPr lang="en-US" sz="2800" b="0" i="1" smtClean="0">
                        <a:latin typeface="Cambria Math" panose="02040503050406030204" pitchFamily="18" charset="0"/>
                      </a:rPr>
                      <m:t>𝑥</m:t>
                    </m:r>
                    <m:r>
                      <a:rPr lang="en-US" sz="2800" b="0" i="1" smtClean="0">
                        <a:latin typeface="Cambria Math" panose="02040503050406030204" pitchFamily="18" charset="0"/>
                      </a:rPr>
                      <m:t>&lt;4.0 </m:t>
                    </m:r>
                    <m:r>
                      <a:rPr lang="en-US" sz="2800" b="0" i="1" smtClean="0">
                        <a:latin typeface="Cambria Math" panose="02040503050406030204" pitchFamily="18" charset="0"/>
                      </a:rPr>
                      <m:t>𝑚</m:t>
                    </m:r>
                  </m:oMath>
                </a14:m>
                <a:r>
                  <a:rPr lang="en-US" sz="2800" dirty="0"/>
                  <a:t>.</a:t>
                </a:r>
              </a:p>
              <a:p>
                <a:pPr marL="342900" indent="-342900" algn="just">
                  <a:buAutoNum type="alphaLcParenBoth"/>
                </a:pPr>
                <a:endParaRPr lang="en-US" sz="2800" dirty="0"/>
              </a:p>
              <a:p>
                <a:pPr marL="342900" indent="-342900" algn="just">
                  <a:buAutoNum type="alphaLcParenBoth"/>
                </a:pPr>
                <a:endParaRPr lang="en-US" sz="2800" dirty="0"/>
              </a:p>
            </p:txBody>
          </p:sp>
        </mc:Choice>
        <mc:Fallback xmlns="">
          <p:sp>
            <p:nvSpPr>
              <p:cNvPr id="6" name="TextBox 5">
                <a:extLst>
                  <a:ext uri="{FF2B5EF4-FFF2-40B4-BE49-F238E27FC236}">
                    <a16:creationId xmlns:a16="http://schemas.microsoft.com/office/drawing/2014/main" id="{3CD11BCC-3B97-E72A-59B3-CBB1015DE5AC}"/>
                  </a:ext>
                </a:extLst>
              </p:cNvPr>
              <p:cNvSpPr txBox="1">
                <a:spLocks noRot="1" noChangeAspect="1" noMove="1" noResize="1" noEditPoints="1" noAdjustHandles="1" noChangeArrowheads="1" noChangeShapeType="1" noTextEdit="1"/>
              </p:cNvSpPr>
              <p:nvPr/>
            </p:nvSpPr>
            <p:spPr>
              <a:xfrm>
                <a:off x="294230" y="253467"/>
                <a:ext cx="9577737" cy="5476949"/>
              </a:xfrm>
              <a:prstGeom prst="rect">
                <a:avLst/>
              </a:prstGeom>
              <a:blipFill>
                <a:blip r:embed="rId2"/>
                <a:stretch>
                  <a:fillRect l="-1337" t="-1114" r="-2228"/>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172730B6-AF86-339A-B908-74E8870CA845}"/>
              </a:ext>
            </a:extLst>
          </p:cNvPr>
          <p:cNvPicPr>
            <a:picLocks noChangeAspect="1"/>
          </p:cNvPicPr>
          <p:nvPr/>
        </p:nvPicPr>
        <p:blipFill>
          <a:blip r:embed="rId3"/>
          <a:stretch>
            <a:fillRect/>
          </a:stretch>
        </p:blipFill>
        <p:spPr>
          <a:xfrm>
            <a:off x="8370856" y="3466391"/>
            <a:ext cx="3724275" cy="2943225"/>
          </a:xfrm>
          <a:prstGeom prst="rect">
            <a:avLst/>
          </a:prstGeom>
        </p:spPr>
      </p:pic>
    </p:spTree>
    <p:extLst>
      <p:ext uri="{BB962C8B-B14F-4D97-AF65-F5344CB8AC3E}">
        <p14:creationId xmlns:p14="http://schemas.microsoft.com/office/powerpoint/2010/main" val="3579191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0CD4EAB-2DE1-7BE9-6F52-432A9242DB5A}"/>
                  </a:ext>
                </a:extLst>
              </p:cNvPr>
              <p:cNvSpPr txBox="1"/>
              <p:nvPr/>
            </p:nvSpPr>
            <p:spPr>
              <a:xfrm>
                <a:off x="1041149" y="325925"/>
                <a:ext cx="10013132" cy="1705980"/>
              </a:xfrm>
              <a:prstGeom prst="rect">
                <a:avLst/>
              </a:prstGeom>
              <a:noFill/>
            </p:spPr>
            <p:txBody>
              <a:bodyPr wrap="square" rtlCol="0">
                <a:spAutoFit/>
              </a:bodyPr>
              <a:lstStyle/>
              <a:p>
                <a:pPr algn="just"/>
                <a:r>
                  <a:rPr lang="en-US" sz="2000" dirty="0"/>
                  <a:t>A food shipper pushes a wood crate of cabbage heads (total mass m= 14 kg) across a concrete floor with a constant horizontal force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𝐹</m:t>
                        </m:r>
                      </m:e>
                    </m:acc>
                  </m:oMath>
                </a14:m>
                <a:r>
                  <a:rPr lang="en-US" sz="2000" dirty="0"/>
                  <a:t> of magnitude 40 N. In a straight-line displacement of magnitude d=0.50 m, the speed of the crate decreases from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=0.60</m:t>
                    </m:r>
                  </m:oMath>
                </a14:m>
                <a:r>
                  <a:rPr lang="en-US" sz="2000" dirty="0"/>
                  <a:t> m/s to </a:t>
                </a:r>
                <a14:m>
                  <m:oMath xmlns:m="http://schemas.openxmlformats.org/officeDocument/2006/math">
                    <m:r>
                      <a:rPr lang="en-US" sz="2000" b="0" i="1" smtClean="0">
                        <a:latin typeface="Cambria Math" panose="02040503050406030204" pitchFamily="18" charset="0"/>
                      </a:rPr>
                      <m:t>𝑣</m:t>
                    </m:r>
                    <m:r>
                      <a:rPr lang="en-US" sz="2000" b="0" i="1" smtClean="0">
                        <a:latin typeface="Cambria Math" panose="02040503050406030204" pitchFamily="18" charset="0"/>
                      </a:rPr>
                      <m:t>=0.20</m:t>
                    </m:r>
                  </m:oMath>
                </a14:m>
                <a:r>
                  <a:rPr lang="en-US" sz="2000" dirty="0"/>
                  <a:t> m/s. </a:t>
                </a:r>
              </a:p>
              <a:p>
                <a:pPr marL="342900" indent="-342900" algn="just">
                  <a:buAutoNum type="alphaLcParenBoth"/>
                </a:pPr>
                <a:r>
                  <a:rPr lang="en-US" sz="2000" dirty="0"/>
                  <a:t>How much work is done by </a:t>
                </a:r>
                <a:r>
                  <a:rPr kumimoji="0" lang="en-US" sz="2000" b="0" i="0" u="none" strike="noStrike" kern="1200" cap="none" spc="0" normalizeH="0" baseline="0" noProof="0" dirty="0">
                    <a:ln>
                      <a:noFill/>
                    </a:ln>
                    <a:solidFill>
                      <a:prstClr val="black"/>
                    </a:solidFill>
                    <a:effectLst/>
                    <a:uLnTx/>
                    <a:uFillTx/>
                    <a:latin typeface="Calibri" panose="020F0502020204030204"/>
                  </a:rPr>
                  <a:t>force </a:t>
                </a:r>
                <a14:m>
                  <m:oMath xmlns:m="http://schemas.openxmlformats.org/officeDocument/2006/math">
                    <m:acc>
                      <m:accPr>
                        <m:chr m:val="⃗"/>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rPr>
                        </m:ctrlPr>
                      </m:acc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rPr>
                          <m:t>𝐹</m:t>
                        </m:r>
                      </m:e>
                    </m:acc>
                  </m:oMath>
                </a14:m>
                <a:r>
                  <a:rPr kumimoji="0" lang="en-US" sz="2000" b="0" i="0" u="none" strike="noStrike" kern="1200" cap="none" spc="0" normalizeH="0" baseline="0" noProof="0" dirty="0">
                    <a:ln>
                      <a:noFill/>
                    </a:ln>
                    <a:solidFill>
                      <a:prstClr val="black"/>
                    </a:solidFill>
                    <a:effectLst/>
                    <a:uLnTx/>
                    <a:uFillTx/>
                    <a:latin typeface="Calibri" panose="020F0502020204030204"/>
                  </a:rPr>
                  <a:t>, and on what</a:t>
                </a:r>
                <a:r>
                  <a:rPr kumimoji="0" lang="en-US" sz="2000" b="0" i="0" u="none" strike="noStrike" kern="1200" cap="none" spc="0" normalizeH="0" noProof="0" dirty="0">
                    <a:ln>
                      <a:noFill/>
                    </a:ln>
                    <a:solidFill>
                      <a:prstClr val="black"/>
                    </a:solidFill>
                    <a:effectLst/>
                    <a:uLnTx/>
                    <a:uFillTx/>
                    <a:latin typeface="Calibri" panose="020F0502020204030204"/>
                  </a:rPr>
                  <a:t> system does it do </a:t>
                </a:r>
                <a:r>
                  <a:rPr kumimoji="0" lang="en-US" sz="2000" b="0" i="0" u="none" strike="noStrike" kern="1200" cap="none" spc="0" normalizeH="0" noProof="0" dirty="0" err="1">
                    <a:ln>
                      <a:noFill/>
                    </a:ln>
                    <a:solidFill>
                      <a:prstClr val="black"/>
                    </a:solidFill>
                    <a:effectLst/>
                    <a:uLnTx/>
                    <a:uFillTx/>
                    <a:latin typeface="Calibri" panose="020F0502020204030204"/>
                  </a:rPr>
                  <a:t>th</a:t>
                </a:r>
                <a:r>
                  <a:rPr lang="en-US" sz="2000" dirty="0">
                    <a:solidFill>
                      <a:prstClr val="black"/>
                    </a:solidFill>
                    <a:latin typeface="Calibri" panose="020F0502020204030204"/>
                  </a:rPr>
                  <a:t>e work?</a:t>
                </a:r>
                <a:r>
                  <a:rPr kumimoji="0" lang="en-US" sz="2000" b="0" i="0" u="none" strike="noStrike" kern="1200" cap="none" spc="0" normalizeH="0" baseline="0" noProof="0" dirty="0">
                    <a:ln>
                      <a:noFill/>
                    </a:ln>
                    <a:solidFill>
                      <a:prstClr val="black"/>
                    </a:solidFill>
                    <a:effectLst/>
                    <a:uLnTx/>
                    <a:uFillTx/>
                    <a:latin typeface="Calibri" panose="020F0502020204030204"/>
                  </a:rPr>
                  <a:t> </a:t>
                </a:r>
              </a:p>
              <a:p>
                <a:pPr marL="342900" indent="-342900" algn="just">
                  <a:buAutoNum type="alphaLcParenBoth"/>
                </a:pPr>
                <a:r>
                  <a:rPr lang="en-US" sz="2000" dirty="0">
                    <a:solidFill>
                      <a:prstClr val="black"/>
                    </a:solidFill>
                    <a:latin typeface="Calibri" panose="020F0502020204030204"/>
                  </a:rPr>
                  <a:t>What is the increase </a:t>
                </a:r>
                <a14:m>
                  <m:oMath xmlns:m="http://schemas.openxmlformats.org/officeDocument/2006/math">
                    <m:r>
                      <a:rPr lang="en-US" sz="2000" i="1" smtClean="0">
                        <a:solidFill>
                          <a:prstClr val="black"/>
                        </a:solidFill>
                        <a:latin typeface="Cambria Math" panose="02040503050406030204" pitchFamily="18" charset="0"/>
                        <a:ea typeface="Cambria Math" panose="02040503050406030204" pitchFamily="18" charset="0"/>
                      </a:rPr>
                      <m:t>∆</m:t>
                    </m:r>
                    <m:sSub>
                      <m:sSubPr>
                        <m:ctrlPr>
                          <a:rPr lang="en-US" sz="2000" i="1" smtClean="0">
                            <a:solidFill>
                              <a:prstClr val="black"/>
                            </a:solidFill>
                            <a:latin typeface="Cambria Math" panose="02040503050406030204" pitchFamily="18" charset="0"/>
                            <a:ea typeface="Cambria Math" panose="02040503050406030204" pitchFamily="18" charset="0"/>
                          </a:rPr>
                        </m:ctrlPr>
                      </m:sSubPr>
                      <m:e>
                        <m:r>
                          <a:rPr lang="en-US" sz="2000" b="0" i="1" smtClean="0">
                            <a:solidFill>
                              <a:prstClr val="black"/>
                            </a:solidFill>
                            <a:latin typeface="Cambria Math" panose="02040503050406030204" pitchFamily="18" charset="0"/>
                            <a:ea typeface="Cambria Math" panose="02040503050406030204" pitchFamily="18" charset="0"/>
                          </a:rPr>
                          <m:t>𝐸</m:t>
                        </m:r>
                      </m:e>
                      <m:sub>
                        <m:r>
                          <a:rPr lang="en-US" sz="2000" b="0" i="1" smtClean="0">
                            <a:solidFill>
                              <a:prstClr val="black"/>
                            </a:solidFill>
                            <a:latin typeface="Cambria Math" panose="02040503050406030204" pitchFamily="18" charset="0"/>
                            <a:ea typeface="Cambria Math" panose="02040503050406030204" pitchFamily="18" charset="0"/>
                          </a:rPr>
                          <m:t>𝑡h</m:t>
                        </m:r>
                      </m:sub>
                    </m:sSub>
                  </m:oMath>
                </a14:m>
                <a:r>
                  <a:rPr lang="en-US" sz="2000" dirty="0"/>
                  <a:t> is the thermal energy of the crate and floor?</a:t>
                </a:r>
              </a:p>
            </p:txBody>
          </p:sp>
        </mc:Choice>
        <mc:Fallback xmlns="">
          <p:sp>
            <p:nvSpPr>
              <p:cNvPr id="6" name="TextBox 5">
                <a:extLst>
                  <a:ext uri="{FF2B5EF4-FFF2-40B4-BE49-F238E27FC236}">
                    <a16:creationId xmlns:a16="http://schemas.microsoft.com/office/drawing/2014/main" id="{20CD4EAB-2DE1-7BE9-6F52-432A9242DB5A}"/>
                  </a:ext>
                </a:extLst>
              </p:cNvPr>
              <p:cNvSpPr txBox="1">
                <a:spLocks noRot="1" noChangeAspect="1" noMove="1" noResize="1" noEditPoints="1" noAdjustHandles="1" noChangeArrowheads="1" noChangeShapeType="1" noTextEdit="1"/>
              </p:cNvSpPr>
              <p:nvPr/>
            </p:nvSpPr>
            <p:spPr>
              <a:xfrm>
                <a:off x="1041149" y="325925"/>
                <a:ext cx="10013132" cy="1705980"/>
              </a:xfrm>
              <a:prstGeom prst="rect">
                <a:avLst/>
              </a:prstGeom>
              <a:blipFill>
                <a:blip r:embed="rId2"/>
                <a:stretch>
                  <a:fillRect l="-670" t="-1786" r="-670" b="-5714"/>
                </a:stretch>
              </a:blipFill>
            </p:spPr>
            <p:txBody>
              <a:bodyPr/>
              <a:lstStyle/>
              <a:p>
                <a:r>
                  <a:rPr lang="en-US">
                    <a:noFill/>
                  </a:rPr>
                  <a:t> </a:t>
                </a:r>
              </a:p>
            </p:txBody>
          </p:sp>
        </mc:Fallback>
      </mc:AlternateContent>
    </p:spTree>
    <p:extLst>
      <p:ext uri="{BB962C8B-B14F-4D97-AF65-F5344CB8AC3E}">
        <p14:creationId xmlns:p14="http://schemas.microsoft.com/office/powerpoint/2010/main" val="34675760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411</Words>
  <Application>Microsoft Office PowerPoint</Application>
  <PresentationFormat>Widescreen</PresentationFormat>
  <Paragraphs>9</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Calibri Light</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akabir</dc:creator>
  <cp:lastModifiedBy>akabir</cp:lastModifiedBy>
  <cp:revision>3</cp:revision>
  <dcterms:created xsi:type="dcterms:W3CDTF">2022-10-28T13:40:54Z</dcterms:created>
  <dcterms:modified xsi:type="dcterms:W3CDTF">2023-09-01T17:09:21Z</dcterms:modified>
</cp:coreProperties>
</file>