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7134B-C4E5-129C-3C21-44DBFED06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58D94B-7736-1977-3853-1A5022C57C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10B46-3B17-CA77-D9C6-F4A68472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AC0F6-7AFB-FE0F-7213-02BCBE4E0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B41AD-2E10-22FC-707B-8127F186A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05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B803F-9174-8AF0-F73A-DFAAC1BCC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7431D-AB29-871A-AC41-D40980BF7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FDD78-E77F-D30E-4D39-7DF8F769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65407-702F-DF36-2C24-AA7FD1F49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7DBE2-D713-5FFE-AC77-ED3F2F4A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68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816E1-089B-7145-A418-5612F50A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5B886-0956-F246-4B2D-5DE611166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240BE-4E92-2808-248A-8654E9E1A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7888-7904-0C1D-6112-E514A6FE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9DADC-3B37-0D80-89B8-330F5D5B0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23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DB5D2-B560-5235-BDF1-1EFFBF95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CA519-5AE1-E592-3971-A91D25AAF3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2F5599-E131-5D30-E291-E23D35FDD8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C07DD-9E7A-970C-5E42-0960523B3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9CE34-E122-1627-62C1-945E9B2AB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95DD4-55CA-53B0-634B-2AC49AF97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807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9A185-E4B4-18BD-C361-0DA5BD3E0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01B2B-31CE-53C6-7B0B-C9992C2DA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5808B0-BA6F-70A4-D0F1-55B093CB4D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D0CAA6-AA3C-53AF-4842-157CFAC97A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62DD5-7459-F959-A986-7C3C92C4FA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98549D-7A16-7050-B17A-50E15AB74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E129FD-049B-E1F1-14AF-D8BE5E2D6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DAD954-95CB-B883-422F-7B31EB1E2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85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B2F97-2B78-4D65-6C9C-0E7E8525F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A2283C-C856-4F5D-DFFB-3835C246A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9AB454-4246-2576-A5B6-E59938862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7374C-EF4D-D8E6-4D97-21FFD6DAA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116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B6B6D-9834-2290-C8CE-63DC8C6A3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6A6F30-E61F-849A-1C8C-089A16629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35D39-EFCE-5ED6-914E-262AAC5E8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061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B855-F8C7-F200-FA08-7DBFF438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985D0-9A63-D04F-8C23-440903028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FBB14F-EDB1-7970-F2ED-552FF59CD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A8776D-0E29-385A-853C-6CC542D0A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D61A53-3744-2D6F-5D81-ED4ADFFC6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EAEE9-70B9-1DE6-FAEC-13BC331D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94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53E4D-9415-F9DD-2151-EA148D272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93338B-5795-9392-89C0-2FEEB39DD6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70E25B-81A1-E95B-0A7F-F0004895F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01FBA-C637-20B1-8098-C4D89A74B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4F236-4CCE-0868-258E-7C07DC4DD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734AF-54C1-A8CD-8497-5AF53CDB2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6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D4069-A269-77BE-49EE-F81EB806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8DD1A-8EE4-64DC-8595-007778ADE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A0CB4-5842-ACF5-D615-0E4FC7B2C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B59FB-68B3-164A-7BB9-018B17F7A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B328B3-8D2D-63D0-10AA-26CF97CF8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284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92E59E-9A2C-C448-012E-D609C8111F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8660B8-6795-DC98-DA2F-2E0A2327C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1590-C325-7709-E618-5DA278B54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96D31-9A94-8364-7FFE-9ED8E932E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083EA3-5C80-05F8-81FE-D55FE030D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96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CEF8D6-93FA-FE2F-A87F-6567CBC23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A83D6-C9F6-C468-4761-0F5358C5F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8DAC9-2AE5-CCF9-356F-5F9246B96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B3794-40FF-49F0-AD24-09E7E4D6E7B8}" type="datetimeFigureOut">
              <a:rPr lang="en-US" smtClean="0"/>
              <a:t>3/5/2025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D8FE5-3B7D-5781-D332-96BAA3B47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74E94-0FAF-D062-D006-CC7D1342D1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2E831-3C0B-46B9-9DCC-60EDC2BB85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31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784599E-BF3B-EF18-DF88-B2183BCEBCFB}"/>
              </a:ext>
            </a:extLst>
          </p:cNvPr>
          <p:cNvSpPr txBox="1"/>
          <p:nvPr/>
        </p:nvSpPr>
        <p:spPr>
          <a:xfrm>
            <a:off x="503853" y="457201"/>
            <a:ext cx="69139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Three particles of masses m</a:t>
            </a:r>
            <a:r>
              <a:rPr lang="en-US" sz="2800" baseline="-25000" dirty="0"/>
              <a:t>1</a:t>
            </a:r>
            <a:r>
              <a:rPr lang="en-US" sz="2800" dirty="0"/>
              <a:t> = 1.2 kg, m</a:t>
            </a:r>
            <a:r>
              <a:rPr lang="en-US" sz="2800" baseline="-25000" dirty="0"/>
              <a:t>2</a:t>
            </a:r>
            <a:r>
              <a:rPr lang="en-US" sz="2800" dirty="0"/>
              <a:t> = 2.5 kg, and m</a:t>
            </a:r>
            <a:r>
              <a:rPr lang="en-US" sz="2800" baseline="-25000" dirty="0"/>
              <a:t>3</a:t>
            </a:r>
            <a:r>
              <a:rPr lang="en-US" sz="2800" dirty="0"/>
              <a:t> = 3.4 kg form an equilateral triangle of edge length a = 140 cm. Where is the center of mass of this system?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4BA133-B857-62DC-AA93-7F7D63959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8807" y="1502423"/>
            <a:ext cx="5324475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06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78EFA8-D4E3-FD27-4516-210C07E12559}"/>
              </a:ext>
            </a:extLst>
          </p:cNvPr>
          <p:cNvSpPr txBox="1"/>
          <p:nvPr/>
        </p:nvSpPr>
        <p:spPr>
          <a:xfrm>
            <a:off x="814299" y="301207"/>
            <a:ext cx="999625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The three particles in the figure are initially at rest. Each experiences an external force due to bodies outside the three-particle system. The directions are indicated, and the magnitudes are F</a:t>
            </a:r>
            <a:r>
              <a:rPr lang="en-US" sz="2800" baseline="-25000" dirty="0"/>
              <a:t>1</a:t>
            </a:r>
            <a:r>
              <a:rPr lang="en-US" sz="2800" dirty="0"/>
              <a:t>=6.0 N, F</a:t>
            </a:r>
            <a:r>
              <a:rPr lang="en-US" sz="2800" baseline="-25000" dirty="0"/>
              <a:t>2</a:t>
            </a:r>
            <a:r>
              <a:rPr lang="en-US" sz="2800" dirty="0"/>
              <a:t>= 12 N, and F</a:t>
            </a:r>
            <a:r>
              <a:rPr lang="en-US" sz="2800" baseline="-25000" dirty="0"/>
              <a:t>3</a:t>
            </a:r>
            <a:r>
              <a:rPr lang="en-US" sz="2800" dirty="0"/>
              <a:t>=14 N. What is the acceleration of the center of mass of the system, and in what direction does it move?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659E93-D82F-493E-610C-A97F99AAE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426" y="2547976"/>
            <a:ext cx="5419725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345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75E513-8B6A-283C-CB86-580896DE71C9}"/>
                  </a:ext>
                </a:extLst>
              </p:cNvPr>
              <p:cNvSpPr txBox="1"/>
              <p:nvPr/>
            </p:nvSpPr>
            <p:spPr>
              <a:xfrm>
                <a:off x="280664" y="224750"/>
                <a:ext cx="8966718" cy="4057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800" dirty="0"/>
                  <a:t>Figure is an overhead view of the path taken by a race car driver as his car collides with the racetrack wall. Just before the collision, he is travelling at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=70</m:t>
                    </m:r>
                  </m:oMath>
                </a14:m>
                <a:r>
                  <a:rPr lang="en-US" sz="2800" dirty="0"/>
                  <a:t> m/s along a straight line at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800" dirty="0"/>
                  <a:t> from the wall. Just after the collision, he is travelling at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 m/s along a straight line 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800" dirty="0"/>
                  <a:t> from the wall. His mass m is 80 kg. </a:t>
                </a:r>
              </a:p>
              <a:p>
                <a:pPr algn="just"/>
                <a:r>
                  <a:rPr lang="en-US" sz="2800" dirty="0"/>
                  <a:t>(a) What is the impulse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</m:oMath>
                </a14:m>
                <a:r>
                  <a:rPr lang="en-US" sz="2800" dirty="0"/>
                  <a:t> on the driver due to the collision?</a:t>
                </a:r>
              </a:p>
              <a:p>
                <a:pPr algn="just"/>
                <a:r>
                  <a:rPr lang="en-US" sz="2800" dirty="0"/>
                  <a:t>(b) The collision lasts for 14 </a:t>
                </a:r>
                <a:r>
                  <a:rPr lang="en-US" sz="2800" dirty="0" err="1"/>
                  <a:t>ms.</a:t>
                </a:r>
                <a:r>
                  <a:rPr lang="en-US" sz="2800" dirty="0"/>
                  <a:t> What is the magnitude of the average force on the driver during the collision?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75E513-8B6A-283C-CB86-580896DE71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664" y="224750"/>
                <a:ext cx="8966718" cy="4057073"/>
              </a:xfrm>
              <a:prstGeom prst="rect">
                <a:avLst/>
              </a:prstGeom>
              <a:blipFill>
                <a:blip r:embed="rId2"/>
                <a:stretch>
                  <a:fillRect l="-1360" t="-1504" r="-1428" b="-34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AAB4841-6A20-4969-2395-C1C93DE64B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673" y="3973749"/>
            <a:ext cx="3409950" cy="233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697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3A27B9-E2F8-7D62-2B56-D8FFD82D3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9421491"/>
              </p:ext>
            </p:extLst>
          </p:nvPr>
        </p:nvGraphicFramePr>
        <p:xfrm>
          <a:off x="247693" y="212621"/>
          <a:ext cx="10553092" cy="2286000"/>
        </p:xfrm>
        <a:graphic>
          <a:graphicData uri="http://schemas.openxmlformats.org/drawingml/2006/table">
            <a:tbl>
              <a:tblPr/>
              <a:tblGrid>
                <a:gridCol w="10553092">
                  <a:extLst>
                    <a:ext uri="{9D8B030D-6E8A-4147-A177-3AD203B41FA5}">
                      <a16:colId xmlns:a16="http://schemas.microsoft.com/office/drawing/2014/main" val="23477355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400" b="0" i="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 in the figure shows a space hauler and cargo module, of total mass M, traveling along an x axis in deep space. They have an initial velocity of magnitude 2100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400" b="0" i="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km/h relative to the Sun. With a small explosion, the hauler ejects the cargo module, of mass 0.20M (Fig. b). The hauler then travels 500 km/h faster than the module along the x-axis; that is, the relative speed v</a:t>
                      </a:r>
                      <a:r>
                        <a:rPr lang="en-US" sz="2400" b="0" i="0" baseline="-2500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</a:t>
                      </a:r>
                      <a:r>
                        <a:rPr lang="en-US" sz="2400" b="0" i="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between the hauler and the module is 500 km/h. What then is the velocity v</a:t>
                      </a:r>
                      <a:r>
                        <a:rPr lang="en-US" sz="2400" b="0" i="0" baseline="-2500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HS</a:t>
                      </a:r>
                      <a:r>
                        <a:rPr lang="en-US" sz="2400" b="0" i="0" dirty="0">
                          <a:solidFill>
                            <a:srgbClr val="231F2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hauler relative to the Sun?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90356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F9E4662-586B-970B-AE9D-7FD5C232D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975" y="2869194"/>
            <a:ext cx="61722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328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194F11-124F-A751-FF43-F9823119745B}"/>
              </a:ext>
            </a:extLst>
          </p:cNvPr>
          <p:cNvSpPr txBox="1"/>
          <p:nvPr/>
        </p:nvSpPr>
        <p:spPr>
          <a:xfrm>
            <a:off x="1563986" y="261734"/>
            <a:ext cx="852157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firecracker placed inside a coconut of mass M, initially at rest on a frictionless floor, blows the coconut into three pieces that slide across the floor. An overhead view is shown in Fig. Piece C, with mass 0.30M, has final speed v</a:t>
            </a:r>
            <a:r>
              <a:rPr lang="en-US" sz="2400" b="0" i="0" baseline="-25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=5.0 m/s.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lphaLcParenBoth"/>
            </a:pPr>
            <a:r>
              <a:rPr lang="en-US" sz="2400" b="0" i="0" dirty="0">
                <a:solidFill>
                  <a:srgbClr val="231F20"/>
                </a:solidFill>
                <a:effectLst/>
                <a:latin typeface="CIDFont+F39"/>
              </a:rPr>
              <a:t>What is the speed of piece 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CIDFont+F4"/>
              </a:rPr>
              <a:t>B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CIDFont+F39"/>
              </a:rPr>
              <a:t>, with mass 0.20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CIDFont+F4"/>
              </a:rPr>
              <a:t>M</a:t>
            </a:r>
            <a:r>
              <a:rPr lang="en-US" sz="2400" b="0" i="0" dirty="0">
                <a:solidFill>
                  <a:srgbClr val="231F20"/>
                </a:solidFill>
                <a:effectLst/>
                <a:latin typeface="CIDFont+F39"/>
              </a:rPr>
              <a:t>?</a:t>
            </a:r>
          </a:p>
          <a:p>
            <a:pPr marL="457200" indent="-457200">
              <a:buAutoNum type="alphaLcParenBoth"/>
            </a:pPr>
            <a:r>
              <a:rPr lang="en-US" sz="2400" dirty="0">
                <a:solidFill>
                  <a:srgbClr val="231F20"/>
                </a:solidFill>
                <a:latin typeface="CIDFont+F39"/>
              </a:rPr>
              <a:t>What is the speed of the part A?</a:t>
            </a:r>
            <a:r>
              <a:rPr lang="en-US" sz="2400" dirty="0"/>
              <a:t> </a:t>
            </a:r>
            <a:br>
              <a:rPr lang="en-US" sz="2400" dirty="0"/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54697A-0220-8645-23CE-52E85A51C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2939390"/>
            <a:ext cx="3095625" cy="25812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A9E085-F16E-3891-2CD0-21244AE07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587852">
            <a:off x="5709182" y="3195339"/>
            <a:ext cx="2952750" cy="284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41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9E3165-CA68-63E1-E13E-0369CEEF341D}"/>
              </a:ext>
            </a:extLst>
          </p:cNvPr>
          <p:cNvSpPr txBox="1"/>
          <p:nvPr/>
        </p:nvSpPr>
        <p:spPr>
          <a:xfrm>
            <a:off x="371193" y="258157"/>
            <a:ext cx="1113576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ballistic pendulum was used to measure the speeds of bullets before electronic timing devices were developed. The version shown in Fig. consists of a large block of wood of mass M = 5.4 kg, hanging from two long cords. A bullet of mass m = 9.5 g is fired into the block, coming quickly to rest. The block  bullet then swing upward, their center of mass rising a vertical distance h =6.3 cm before the pendulum comes momentarily to rest at the end of its arc. What is the speed of the bullet just prior to the collision?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C41B0F-B226-3CDE-2B1D-1056EED90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145" y="2709540"/>
            <a:ext cx="3530555" cy="389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22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0EA5B7-A133-7782-82B0-5921D2588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400" y="252704"/>
            <a:ext cx="8008939" cy="25558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047E4A-9350-5121-85D9-8FEA3C69E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3656" y="3829245"/>
            <a:ext cx="56292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183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529</Words>
  <Application>Microsoft Office PowerPoint</Application>
  <PresentationFormat>Widescreen</PresentationFormat>
  <Paragraphs>10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CIDFont+F39</vt:lpstr>
      <vt:lpstr>CIDFont+F4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akabir</dc:creator>
  <cp:lastModifiedBy>akabir</cp:lastModifiedBy>
  <cp:revision>8</cp:revision>
  <dcterms:created xsi:type="dcterms:W3CDTF">2022-10-28T13:55:21Z</dcterms:created>
  <dcterms:modified xsi:type="dcterms:W3CDTF">2025-03-05T16:23:26Z</dcterms:modified>
</cp:coreProperties>
</file>