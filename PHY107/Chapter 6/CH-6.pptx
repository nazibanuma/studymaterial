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60" r:id="rId4"/>
    <p:sldId id="261" r:id="rId5"/>
    <p:sldId id="262" r:id="rId6"/>
    <p:sldId id="257" r:id="rId7"/>
    <p:sldId id="2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0" d="100"/>
          <a:sy n="110" d="100"/>
        </p:scale>
        <p:origin x="-558" y="-9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2476F8-2654-7325-A1E7-392B85ECD6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DEDE5C8D-6BD0-374A-4A31-C84F687C60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22A7BD3-1C95-407A-9EB3-5B4810F248D7}"/>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AB1288D9-8EF1-9D78-4184-DD5AB26CA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69BEF14-C4E8-DC3B-A206-C703C2582F01}"/>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4231252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8F87FF-B899-5FD5-334A-547D68D75F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67BB7E9-D449-B6A0-7D4E-25EFE4EF07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480849A-22AE-5077-C54A-4B76964A2421}"/>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EA8EA7E5-1169-2A4F-6351-DC1E6FD8DA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09CAB12-4482-D2B6-E3EF-66543B959D02}"/>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4014370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583530-6E3A-F970-0B1E-736FB8F19C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6CF57AA-D0F6-13E1-861B-44ED4CCCAA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D2464AE-DE69-4D44-1198-A192FA5FEC0F}"/>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D9BDB2AB-5534-1F21-824C-F746B8D4B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2C1FE2F-C8D4-4B66-7D00-2F1E65893D75}"/>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67808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DDB6FA-3A54-0042-06CC-24CAEAB3B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39E4134-19D4-1555-706D-849DF9957B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C3EECB7-30C9-83D5-3D42-20974AD276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19B6453D-6264-F9BB-CFFD-BBDBCF49A3CB}"/>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6" name="Footer Placeholder 5">
            <a:extLst>
              <a:ext uri="{FF2B5EF4-FFF2-40B4-BE49-F238E27FC236}">
                <a16:creationId xmlns:a16="http://schemas.microsoft.com/office/drawing/2014/main" xmlns="" id="{9980AA53-E430-3150-4AEC-56FA8136B7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57549A5-CDFB-7FEE-C0F5-E6E6D5D42608}"/>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42557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69CFED-6A56-7E90-D743-7B4199759A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A8541117-FB76-88E9-D615-BC9C69578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E58A2B5-5E09-72ED-796A-C753D6BE9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D9408CDF-BC08-ACB1-3095-94D39FAB89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B4F44FE-4CC4-753E-9F4C-6AD0D5C934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3EF90BB7-94B1-8B87-20EB-E17E5C6B63A7}"/>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8" name="Footer Placeholder 7">
            <a:extLst>
              <a:ext uri="{FF2B5EF4-FFF2-40B4-BE49-F238E27FC236}">
                <a16:creationId xmlns:a16="http://schemas.microsoft.com/office/drawing/2014/main" xmlns="" id="{2A020B48-8143-2DFC-A295-C0FFAC8E0B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9E1E8A4D-8375-1CF9-7550-11F804D4C6C5}"/>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1252218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EC7034-764C-2C1E-A853-C2BAD5BB72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411A0A13-01C8-CEC6-210E-EE75D044F958}"/>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4" name="Footer Placeholder 3">
            <a:extLst>
              <a:ext uri="{FF2B5EF4-FFF2-40B4-BE49-F238E27FC236}">
                <a16:creationId xmlns:a16="http://schemas.microsoft.com/office/drawing/2014/main" xmlns="" id="{663DE42E-D807-211B-3A32-D71DBDD74D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4B8E973-66CC-F6B9-71FB-9C76C4D4CBCA}"/>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176474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14B88C5-8ECF-6764-662B-47A29417E5AF}"/>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3" name="Footer Placeholder 2">
            <a:extLst>
              <a:ext uri="{FF2B5EF4-FFF2-40B4-BE49-F238E27FC236}">
                <a16:creationId xmlns:a16="http://schemas.microsoft.com/office/drawing/2014/main" xmlns="" id="{8EB708B3-FCF7-63AA-FDCB-99DA5E7FE9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222A3D3-27B0-1F3E-1A31-6112B3064F04}"/>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51535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BE947-1CB7-357A-DDC1-20B7343097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A6FDE50C-188F-0F15-FBE5-0A37BFA8A3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9131724-C212-0497-FD68-0E7BDAF214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7F36957-F83D-1B2B-4E5B-5DFAAB239069}"/>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6" name="Footer Placeholder 5">
            <a:extLst>
              <a:ext uri="{FF2B5EF4-FFF2-40B4-BE49-F238E27FC236}">
                <a16:creationId xmlns:a16="http://schemas.microsoft.com/office/drawing/2014/main" xmlns="" id="{6B679C6D-54D1-B52F-4ABD-AE749C8069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E88B4ED-DD4D-111A-6440-73DF7650A00C}"/>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2977621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58BDB-410B-E798-6AFE-C1D5F5237F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5F83371A-5A9A-29B0-7AAF-50EDF599F8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9FBC9FD9-F919-4886-EB75-7BC3F9668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610D4C2-CD8A-9889-5B4E-E1518420EBD2}"/>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6" name="Footer Placeholder 5">
            <a:extLst>
              <a:ext uri="{FF2B5EF4-FFF2-40B4-BE49-F238E27FC236}">
                <a16:creationId xmlns:a16="http://schemas.microsoft.com/office/drawing/2014/main" xmlns="" id="{A9F173BF-6FE0-67BE-5C96-59DAFFE3B9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5EC81F4-D727-0EBD-FDC6-5CCB924176B7}"/>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4027932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29720A-1B0B-D0CE-10AE-790609B070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2D54B00B-2CB5-A661-924B-3D175421EB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A7E72AB-1F7B-82F5-D635-1232B7F07083}"/>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AD064484-1E73-E5C7-8B4D-A203DFEEA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FF1A697-FBBD-8889-B3A9-7306E71AE539}"/>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162460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CC6E8AE-634C-422F-DDAA-344A623255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E1AFC71-3A10-26F3-390C-307AB3E872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30C5C3E-D35A-0809-3FF1-1D36C3077FFD}"/>
              </a:ext>
            </a:extLst>
          </p:cNvPr>
          <p:cNvSpPr>
            <a:spLocks noGrp="1"/>
          </p:cNvSpPr>
          <p:nvPr>
            <p:ph type="dt" sz="half" idx="10"/>
          </p:nvPr>
        </p:nvSpPr>
        <p:spPr/>
        <p:txBody>
          <a:body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C36F9EEB-9C2E-3D2F-F034-59A48D6F42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42B5253-A485-D154-F7FD-0344CEDC70B9}"/>
              </a:ext>
            </a:extLst>
          </p:cNvPr>
          <p:cNvSpPr>
            <a:spLocks noGrp="1"/>
          </p:cNvSpPr>
          <p:nvPr>
            <p:ph type="sldNum" sz="quarter" idx="12"/>
          </p:nvPr>
        </p:nvSpPr>
        <p:spPr/>
        <p:txBody>
          <a:body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218424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0A84475-42EF-1F1F-A6B9-B4685B24B0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8C686AE1-1A66-A279-43C8-72DBC16DF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2EDBD7F-A3EF-6F05-0CB6-DDA1CAEC19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E3FD5-74A7-4278-8182-C90468CD3FF0}" type="datetimeFigureOut">
              <a:rPr lang="en-US" smtClean="0"/>
              <a:pPr/>
              <a:t>6/20/2025</a:t>
            </a:fld>
            <a:endParaRPr lang="en-US"/>
          </a:p>
        </p:txBody>
      </p:sp>
      <p:sp>
        <p:nvSpPr>
          <p:cNvPr id="5" name="Footer Placeholder 4">
            <a:extLst>
              <a:ext uri="{FF2B5EF4-FFF2-40B4-BE49-F238E27FC236}">
                <a16:creationId xmlns:a16="http://schemas.microsoft.com/office/drawing/2014/main" xmlns="" id="{3B34B3A3-120C-5BC3-F51E-7F24DD5024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6F23B6E4-EFD9-EA15-9AF9-162C073CB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FFC20-A457-4D04-9592-AE64E46C70AC}" type="slidenum">
              <a:rPr lang="en-US" smtClean="0"/>
              <a:pPr/>
              <a:t>‹#›</a:t>
            </a:fld>
            <a:endParaRPr lang="en-US"/>
          </a:p>
        </p:txBody>
      </p:sp>
    </p:spTree>
    <p:extLst>
      <p:ext uri="{BB962C8B-B14F-4D97-AF65-F5344CB8AC3E}">
        <p14:creationId xmlns:p14="http://schemas.microsoft.com/office/powerpoint/2010/main" xmlns="" val="3099423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TextBox 2">
                <a:extLst>
                  <a:ext uri="{FF2B5EF4-FFF2-40B4-BE49-F238E27FC236}">
                    <a16:creationId xmlns:a16="http://schemas.microsoft.com/office/drawing/2014/main" id="{1ACA026F-B7C5-824F-803E-1E6FBDC02C91}"/>
                  </a:ext>
                </a:extLst>
              </p:cNvPr>
              <p:cNvSpPr txBox="1"/>
              <p:nvPr/>
            </p:nvSpPr>
            <p:spPr>
              <a:xfrm>
                <a:off x="655782" y="236001"/>
                <a:ext cx="9919854" cy="267765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sample problem involves a tilted applied force, which requires that we work with components to find a frictional force. The main challenge is to sort out all the components. Figure shows a force of magnitude F=12.0 N applied to an 8.00 kg block at a downward angle of </a:t>
                </a:r>
                <a14:m>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=30°</m:t>
                    </m:r>
                  </m:oMath>
                </a14:m>
                <a:r>
                  <a:rPr lang="en-US" sz="2400" dirty="0">
                    <a:latin typeface="Times New Roman" panose="02020603050405020304" pitchFamily="18" charset="0"/>
                    <a:cs typeface="Times New Roman" panose="02020603050405020304" pitchFamily="18" charset="0"/>
                  </a:rPr>
                  <a:t>. The coefficient of static friction between block and floor is </a:t>
                </a:r>
                <a14:m>
                  <m:oMath xmlns:m="http://schemas.openxmlformats.org/officeDocument/2006/math">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ea typeface="Cambria Math" panose="02040503050406030204" pitchFamily="18" charset="0"/>
                          </a:rPr>
                          <m:t>𝜇</m:t>
                        </m:r>
                      </m:e>
                      <m:sub>
                        <m:r>
                          <a:rPr lang="en-US" sz="2400" b="0" i="1" smtClean="0">
                            <a:solidFill>
                              <a:prstClr val="black"/>
                            </a:solidFill>
                            <a:latin typeface="Cambria Math" panose="02040503050406030204" pitchFamily="18" charset="0"/>
                            <a:ea typeface="Cambria Math" panose="02040503050406030204" pitchFamily="18" charset="0"/>
                          </a:rPr>
                          <m:t>𝑠</m:t>
                        </m:r>
                      </m:sub>
                    </m:sSub>
                    <m:r>
                      <a:rPr lang="en-US" sz="2400" i="1">
                        <a:solidFill>
                          <a:prstClr val="black"/>
                        </a:solidFill>
                        <a:latin typeface="Cambria Math" panose="02040503050406030204" pitchFamily="18" charset="0"/>
                      </a:rPr>
                      <m:t>=0.</m:t>
                    </m:r>
                    <m:r>
                      <a:rPr lang="en-US" sz="2400" b="0" i="1" smtClean="0">
                        <a:solidFill>
                          <a:prstClr val="black"/>
                        </a:solidFill>
                        <a:latin typeface="Cambria Math" panose="02040503050406030204" pitchFamily="18" charset="0"/>
                      </a:rPr>
                      <m:t>7</m:t>
                    </m:r>
                    <m:r>
                      <a:rPr lang="en-US" sz="2400" i="1">
                        <a:solidFill>
                          <a:prstClr val="black"/>
                        </a:solidFill>
                        <a:latin typeface="Cambria Math" panose="02040503050406030204" pitchFamily="18" charset="0"/>
                      </a:rPr>
                      <m:t>0</m:t>
                    </m:r>
                  </m:oMath>
                </a14:m>
                <a:r>
                  <a:rPr lang="en-US" sz="2400" dirty="0">
                    <a:latin typeface="Times New Roman" panose="02020603050405020304" pitchFamily="18" charset="0"/>
                    <a:cs typeface="Times New Roman" panose="02020603050405020304" pitchFamily="18" charset="0"/>
                  </a:rPr>
                  <a:t>; the coefficient of kinetic friction is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𝜇</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=0.40</m:t>
                    </m:r>
                  </m:oMath>
                </a14:m>
                <a:r>
                  <a:rPr lang="en-US" sz="2400" dirty="0">
                    <a:latin typeface="Times New Roman" panose="02020603050405020304" pitchFamily="18" charset="0"/>
                    <a:cs typeface="Times New Roman" panose="02020603050405020304" pitchFamily="18" charset="0"/>
                  </a:rPr>
                  <a:t>. Does the block begin to slide or does it remain stationary? What is the magnitude of the frictional force on the block?</a:t>
                </a:r>
              </a:p>
            </p:txBody>
          </p:sp>
        </mc:Choice>
        <mc:Fallback>
          <p:sp>
            <p:nvSpPr>
              <p:cNvPr id="3" name="TextBox 2">
                <a:extLst>
                  <a:ext uri="{FF2B5EF4-FFF2-40B4-BE49-F238E27FC236}">
                    <a16:creationId xmlns:a16="http://schemas.microsoft.com/office/drawing/2014/main" xmlns="" xmlns:a14="http://schemas.microsoft.com/office/drawing/2010/main" id="{1ACA026F-B7C5-824F-803E-1E6FBDC02C91}"/>
                  </a:ext>
                </a:extLst>
              </p:cNvPr>
              <p:cNvSpPr txBox="1">
                <a:spLocks noRot="1" noChangeAspect="1" noMove="1" noResize="1" noEditPoints="1" noAdjustHandles="1" noChangeArrowheads="1" noChangeShapeType="1" noTextEdit="1"/>
              </p:cNvSpPr>
              <p:nvPr/>
            </p:nvSpPr>
            <p:spPr>
              <a:xfrm>
                <a:off x="655782" y="236001"/>
                <a:ext cx="9919854" cy="2677656"/>
              </a:xfrm>
              <a:prstGeom prst="rect">
                <a:avLst/>
              </a:prstGeom>
              <a:blipFill>
                <a:blip r:embed="rId2"/>
                <a:stretch>
                  <a:fillRect l="-983" t="-1822" r="-922" b="-432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EEF8D238-2C7E-944E-961B-26AF1DBAA653}"/>
              </a:ext>
            </a:extLst>
          </p:cNvPr>
          <p:cNvPicPr>
            <a:picLocks noChangeAspect="1"/>
          </p:cNvPicPr>
          <p:nvPr/>
        </p:nvPicPr>
        <p:blipFill>
          <a:blip r:embed="rId3"/>
          <a:stretch>
            <a:fillRect/>
          </a:stretch>
        </p:blipFill>
        <p:spPr>
          <a:xfrm>
            <a:off x="4723132" y="3113821"/>
            <a:ext cx="2967197" cy="1807746"/>
          </a:xfrm>
          <a:prstGeom prst="rect">
            <a:avLst/>
          </a:prstGeom>
        </p:spPr>
      </p:pic>
    </p:spTree>
    <p:extLst>
      <p:ext uri="{BB962C8B-B14F-4D97-AF65-F5344CB8AC3E}">
        <p14:creationId xmlns:p14="http://schemas.microsoft.com/office/powerpoint/2010/main" xmlns="" val="3976043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6" name="TextBox 5">
                <a:extLst>
                  <a:ext uri="{FF2B5EF4-FFF2-40B4-BE49-F238E27FC236}">
                    <a16:creationId xmlns:a16="http://schemas.microsoft.com/office/drawing/2014/main" id="{FC762A1C-42C9-A9C1-E340-551EF83BB764}"/>
                  </a:ext>
                </a:extLst>
              </p:cNvPr>
              <p:cNvSpPr txBox="1"/>
              <p:nvPr/>
            </p:nvSpPr>
            <p:spPr>
              <a:xfrm>
                <a:off x="307759" y="250477"/>
                <a:ext cx="11576481" cy="3539430"/>
              </a:xfrm>
              <a:prstGeom prst="rect">
                <a:avLst/>
              </a:prstGeom>
              <a:noFill/>
            </p:spPr>
            <p:txBody>
              <a:bodyPr wrap="square" rtlCol="0">
                <a:spAutoFit/>
              </a:bodyPr>
              <a:lstStyle/>
              <a:p>
                <a:r>
                  <a:rPr lang="en-US" sz="2800" dirty="0"/>
                  <a:t>If a car’s wheels are “locked” (kept from rolling) during emergency braking, the car slides along the road. Ripped-off bits of tire and small melted sections of road form the “skid marks” that reveal that cold-welding occurred during the slide. The record for the longest skid marks on a public road was reportedly set in 1960 by a Jaguar on the M1 highway in England (as in the figure) the marks were 290 m long! Assuming that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=0.60</m:t>
                    </m:r>
                  </m:oMath>
                </a14:m>
                <a:r>
                  <a:rPr lang="en-US" sz="2800" dirty="0"/>
                  <a:t> and the car’s acceleration was constant during the braking, how fast was the car going when the wheels became locked? </a:t>
                </a:r>
              </a:p>
            </p:txBody>
          </p:sp>
        </mc:Choice>
        <mc:Fallback>
          <p:sp>
            <p:nvSpPr>
              <p:cNvPr id="6" name="TextBox 5">
                <a:extLst>
                  <a:ext uri="{FF2B5EF4-FFF2-40B4-BE49-F238E27FC236}">
                    <a16:creationId xmlns:a16="http://schemas.microsoft.com/office/drawing/2014/main" xmlns="" xmlns:a14="http://schemas.microsoft.com/office/drawing/2010/main" id="{FC762A1C-42C9-A9C1-E340-551EF83BB764}"/>
                  </a:ext>
                </a:extLst>
              </p:cNvPr>
              <p:cNvSpPr txBox="1">
                <a:spLocks noRot="1" noChangeAspect="1" noMove="1" noResize="1" noEditPoints="1" noAdjustHandles="1" noChangeArrowheads="1" noChangeShapeType="1" noTextEdit="1"/>
              </p:cNvSpPr>
              <p:nvPr/>
            </p:nvSpPr>
            <p:spPr>
              <a:xfrm>
                <a:off x="307759" y="250477"/>
                <a:ext cx="11576481" cy="3539430"/>
              </a:xfrm>
              <a:prstGeom prst="rect">
                <a:avLst/>
              </a:prstGeom>
              <a:blipFill>
                <a:blip r:embed="rId2"/>
                <a:stretch>
                  <a:fillRect l="-1053" t="-1549" r="-1316" b="-3959"/>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08B1D80F-DFCB-EED5-23B8-9A9A4B63FDDD}"/>
              </a:ext>
            </a:extLst>
          </p:cNvPr>
          <p:cNvPicPr>
            <a:picLocks noChangeAspect="1"/>
          </p:cNvPicPr>
          <p:nvPr/>
        </p:nvPicPr>
        <p:blipFill>
          <a:blip r:embed="rId3"/>
          <a:stretch>
            <a:fillRect/>
          </a:stretch>
        </p:blipFill>
        <p:spPr>
          <a:xfrm>
            <a:off x="2767011" y="4559311"/>
            <a:ext cx="6657975" cy="1800225"/>
          </a:xfrm>
          <a:prstGeom prst="rect">
            <a:avLst/>
          </a:prstGeom>
        </p:spPr>
      </p:pic>
    </p:spTree>
    <p:extLst>
      <p:ext uri="{BB962C8B-B14F-4D97-AF65-F5344CB8AC3E}">
        <p14:creationId xmlns:p14="http://schemas.microsoft.com/office/powerpoint/2010/main" xmlns="" val="3624359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3DF234D-29A8-A2F3-0031-644A9D29A01A}"/>
              </a:ext>
            </a:extLst>
          </p:cNvPr>
          <p:cNvSpPr txBox="1"/>
          <p:nvPr/>
        </p:nvSpPr>
        <p:spPr>
          <a:xfrm>
            <a:off x="537328" y="54714"/>
            <a:ext cx="11189616" cy="1569660"/>
          </a:xfrm>
          <a:prstGeom prst="rect">
            <a:avLst/>
          </a:prstGeom>
          <a:noFill/>
        </p:spPr>
        <p:txBody>
          <a:bodyPr wrap="square">
            <a:spAutoFit/>
          </a:bodyPr>
          <a:lstStyle/>
          <a:p>
            <a:r>
              <a:rPr lang="en-US" sz="2400" b="0" i="0" dirty="0">
                <a:solidFill>
                  <a:srgbClr val="231F20"/>
                </a:solidFill>
                <a:effectLst/>
                <a:latin typeface="Times New Roman" panose="02020603050405020304" pitchFamily="18" charset="0"/>
                <a:cs typeface="Times New Roman" panose="02020603050405020304" pitchFamily="18" charset="0"/>
              </a:rPr>
              <a:t>Some of the funniest videos on the web involve motorists sliding uncontrollably on icy roads. Here let’s compare the typical stopping distances for a car sliding to a stop from an initial speed of 10.0 m/s on a dry horizontal road, an icy horizontal road, and an icy hill.</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A7F4BCB0-FAD5-539E-CE96-09F081D1BCA0}"/>
              </a:ext>
            </a:extLst>
          </p:cNvPr>
          <p:cNvPicPr>
            <a:picLocks noChangeAspect="1"/>
          </p:cNvPicPr>
          <p:nvPr/>
        </p:nvPicPr>
        <p:blipFill>
          <a:blip r:embed="rId2"/>
          <a:stretch>
            <a:fillRect/>
          </a:stretch>
        </p:blipFill>
        <p:spPr>
          <a:xfrm>
            <a:off x="663017" y="1624374"/>
            <a:ext cx="5638800" cy="1438275"/>
          </a:xfrm>
          <a:prstGeom prst="rect">
            <a:avLst/>
          </a:prstGeom>
        </p:spPr>
      </p:pic>
      <mc:AlternateContent xmlns:mc="http://schemas.openxmlformats.org/markup-compatibility/2006">
        <mc:Choice xmlns:a14="http://schemas.microsoft.com/office/drawing/2010/main" xmlns="" Requires="a14">
          <p:sp>
            <p:nvSpPr>
              <p:cNvPr id="7" name="TextBox 6">
                <a:extLst>
                  <a:ext uri="{FF2B5EF4-FFF2-40B4-BE49-F238E27FC236}">
                    <a16:creationId xmlns:a16="http://schemas.microsoft.com/office/drawing/2014/main" id="{5BE232EC-1ECC-FED5-B13C-3B6EE1435AE6}"/>
                  </a:ext>
                </a:extLst>
              </p:cNvPr>
              <p:cNvSpPr txBox="1"/>
              <p:nvPr/>
            </p:nvSpPr>
            <p:spPr>
              <a:xfrm>
                <a:off x="707010" y="3419403"/>
                <a:ext cx="11189615" cy="3416320"/>
              </a:xfrm>
              <a:prstGeom prst="rect">
                <a:avLst/>
              </a:prstGeom>
              <a:noFill/>
            </p:spPr>
            <p:txBody>
              <a:bodyPr wrap="square">
                <a:spAutoFit/>
              </a:bodyPr>
              <a:lstStyle/>
              <a:p>
                <a:pPr marL="457200" indent="-457200">
                  <a:buAutoNum type="alphaLcParenBoth"/>
                </a:pPr>
                <a:r>
                  <a:rPr lang="en-US" sz="2400" b="0" i="0" dirty="0">
                    <a:solidFill>
                      <a:srgbClr val="231F20"/>
                    </a:solidFill>
                    <a:effectLst/>
                    <a:latin typeface="Times New Roman" panose="02020603050405020304" pitchFamily="18" charset="0"/>
                    <a:cs typeface="Times New Roman" panose="02020603050405020304" pitchFamily="18" charset="0"/>
                  </a:rPr>
                  <a:t>How far does the car take to slide to a stop on a horizontal road if the coefficient of kinetic friction is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𝜇</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=0.60</m:t>
                    </m:r>
                  </m:oMath>
                </a14:m>
                <a:r>
                  <a:rPr lang="en-US" sz="2400" b="0" i="0" dirty="0">
                    <a:solidFill>
                      <a:srgbClr val="231F20"/>
                    </a:solidFill>
                    <a:effectLst/>
                    <a:latin typeface="Times New Roman" panose="02020603050405020304" pitchFamily="18" charset="0"/>
                    <a:cs typeface="Times New Roman" panose="02020603050405020304" pitchFamily="18" charset="0"/>
                  </a:rPr>
                  <a:t> , which is typical of regular tires on dry pavement? Let’s neglect any effect of the air on the car, assume that the wheels lock up and the tires slide, and extend an x axis in the car’s direction of motion.</a:t>
                </a:r>
                <a:r>
                  <a:rPr lang="en-US" sz="2400" dirty="0">
                    <a:latin typeface="Times New Roman" panose="02020603050405020304" pitchFamily="18" charset="0"/>
                    <a:cs typeface="Times New Roman" panose="02020603050405020304" pitchFamily="18" charset="0"/>
                  </a:rPr>
                  <a:t/>
                </a:r>
              </a:p>
              <a:p>
                <a:endParaRPr lang="en-US" sz="2400" dirty="0">
                  <a:latin typeface="Times New Roman" panose="02020603050405020304" pitchFamily="18" charset="0"/>
                  <a:cs typeface="Times New Roman" panose="02020603050405020304" pitchFamily="18" charset="0"/>
                </a:endParaRPr>
              </a:p>
              <a:p>
                <a:pPr marL="457200" indent="-457200">
                  <a:buAutoNum type="alphaLcParenBoth"/>
                </a:pPr>
                <a:r>
                  <a:rPr lang="en-US" sz="2400" dirty="0">
                    <a:solidFill>
                      <a:srgbClr val="231F20"/>
                    </a:solidFill>
                    <a:latin typeface="CIDFont+F3"/>
                  </a:rPr>
                  <a:t>What is the stopping distance if the road is covered with ice with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𝜇</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=0.10</m:t>
                    </m:r>
                  </m:oMath>
                </a14:m>
                <a:r>
                  <a:rPr kumimoji="0" lang="en-US" sz="24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
                </a:r>
                <a:r>
                  <a:rPr lang="en-US" sz="2400" dirty="0">
                    <a:solidFill>
                      <a:srgbClr val="231F20"/>
                    </a:solidFill>
                    <a:latin typeface="CIDFont+F3"/>
                  </a:rPr>
                  <a:t>?</a:t>
                </a:r>
                <a:r>
                  <a:rPr lang="en-US" sz="2400" dirty="0"/>
                  <a:t/>
                </a:r>
              </a:p>
              <a:p>
                <a:endParaRPr lang="en-US" sz="2400" dirty="0"/>
              </a:p>
              <a:p>
                <a:r>
                  <a:rPr lang="en-US" sz="2400" dirty="0">
                    <a:solidFill>
                      <a:srgbClr val="231F20"/>
                    </a:solidFill>
                    <a:latin typeface="CIDFont+F3"/>
                  </a:rPr>
                  <a:t>(c) Now let’s have the car sliding down an icy hill with an inclination of </a:t>
                </a:r>
                <a14:m>
                  <m:oMath xmlns:m="http://schemas.openxmlformats.org/officeDocument/2006/math">
                    <m:r>
                      <a:rPr lang="en-US" sz="2400" i="1" smtClean="0">
                        <a:solidFill>
                          <a:srgbClr val="231F20"/>
                        </a:solidFill>
                        <a:latin typeface="Cambria Math" panose="02040503050406030204" pitchFamily="18" charset="0"/>
                        <a:ea typeface="Cambria Math" panose="02040503050406030204" pitchFamily="18" charset="0"/>
                      </a:rPr>
                      <m:t>𝜃</m:t>
                    </m:r>
                    <m:r>
                      <a:rPr lang="en-US" sz="2400" b="0" i="1" smtClean="0">
                        <a:solidFill>
                          <a:srgbClr val="231F20"/>
                        </a:solidFill>
                        <a:latin typeface="Cambria Math" panose="02040503050406030204" pitchFamily="18" charset="0"/>
                        <a:ea typeface="Cambria Math" panose="02040503050406030204" pitchFamily="18" charset="0"/>
                      </a:rPr>
                      <m:t>=5.00°</m:t>
                    </m:r>
                  </m:oMath>
                </a14:m>
                <a:r>
                  <a:rPr lang="en-US" sz="2400" dirty="0">
                    <a:solidFill>
                      <a:srgbClr val="231F20"/>
                    </a:solidFill>
                    <a:latin typeface="CIDFont+F3"/>
                  </a:rPr>
                  <a:t>. The free-body diagram shown in Fig-2. What now is the stopping distance?</a:t>
                </a:r>
                <a:r>
                  <a:rPr lang="en-US" sz="2400" dirty="0"/>
                  <a:t/>
                </a:r>
                <a:endParaRPr lang="en-US" sz="2400" dirty="0">
                  <a:latin typeface="Times New Roman" panose="02020603050405020304" pitchFamily="18" charset="0"/>
                  <a:cs typeface="Times New Roman" panose="02020603050405020304" pitchFamily="18" charset="0"/>
                </a:endParaRPr>
              </a:p>
            </p:txBody>
          </p:sp>
        </mc:Choice>
        <mc:Fallback>
          <p:sp>
            <p:nvSpPr>
              <p:cNvPr id="7" name="TextBox 6">
                <a:extLst>
                  <a:ext uri="{FF2B5EF4-FFF2-40B4-BE49-F238E27FC236}">
                    <a16:creationId xmlns:a16="http://schemas.microsoft.com/office/drawing/2014/main" xmlns="" xmlns:a14="http://schemas.microsoft.com/office/drawing/2010/main" id="{5BE232EC-1ECC-FED5-B13C-3B6EE1435AE6}"/>
                  </a:ext>
                </a:extLst>
              </p:cNvPr>
              <p:cNvSpPr txBox="1">
                <a:spLocks noRot="1" noChangeAspect="1" noMove="1" noResize="1" noEditPoints="1" noAdjustHandles="1" noChangeArrowheads="1" noChangeShapeType="1" noTextEdit="1"/>
              </p:cNvSpPr>
              <p:nvPr/>
            </p:nvSpPr>
            <p:spPr>
              <a:xfrm>
                <a:off x="707010" y="3419403"/>
                <a:ext cx="11189615" cy="3416320"/>
              </a:xfrm>
              <a:prstGeom prst="rect">
                <a:avLst/>
              </a:prstGeom>
              <a:blipFill>
                <a:blip r:embed="rId3"/>
                <a:stretch>
                  <a:fillRect l="-871" t="-1429" r="-218" b="-321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xmlns="" id="{5041CC08-2ABA-DC5B-B0C5-F7BBC8F42049}"/>
              </a:ext>
            </a:extLst>
          </p:cNvPr>
          <p:cNvPicPr>
            <a:picLocks noChangeAspect="1"/>
          </p:cNvPicPr>
          <p:nvPr/>
        </p:nvPicPr>
        <p:blipFill>
          <a:blip r:embed="rId4"/>
          <a:stretch>
            <a:fillRect/>
          </a:stretch>
        </p:blipFill>
        <p:spPr>
          <a:xfrm>
            <a:off x="8644379" y="1311384"/>
            <a:ext cx="1875936" cy="2064254"/>
          </a:xfrm>
          <a:prstGeom prst="rect">
            <a:avLst/>
          </a:prstGeom>
        </p:spPr>
      </p:pic>
    </p:spTree>
    <p:extLst>
      <p:ext uri="{BB962C8B-B14F-4D97-AF65-F5344CB8AC3E}">
        <p14:creationId xmlns:p14="http://schemas.microsoft.com/office/powerpoint/2010/main" xmlns="" val="1487073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8D0F73A1-3912-C4C3-1A38-513135158CC1}"/>
              </a:ext>
            </a:extLst>
          </p:cNvPr>
          <p:cNvPicPr>
            <a:picLocks noChangeAspect="1"/>
          </p:cNvPicPr>
          <p:nvPr/>
        </p:nvPicPr>
        <p:blipFill>
          <a:blip r:embed="rId2"/>
          <a:stretch>
            <a:fillRect/>
          </a:stretch>
        </p:blipFill>
        <p:spPr>
          <a:xfrm>
            <a:off x="1125227" y="116264"/>
            <a:ext cx="9505950" cy="6248400"/>
          </a:xfrm>
          <a:prstGeom prst="rect">
            <a:avLst/>
          </a:prstGeom>
        </p:spPr>
      </p:pic>
    </p:spTree>
    <p:extLst>
      <p:ext uri="{BB962C8B-B14F-4D97-AF65-F5344CB8AC3E}">
        <p14:creationId xmlns:p14="http://schemas.microsoft.com/office/powerpoint/2010/main" xmlns="" val="165786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CC4AC1E-981C-1249-BBB7-5293F384EE1F}"/>
              </a:ext>
            </a:extLst>
          </p:cNvPr>
          <p:cNvPicPr>
            <a:picLocks noChangeAspect="1"/>
          </p:cNvPicPr>
          <p:nvPr/>
        </p:nvPicPr>
        <p:blipFill>
          <a:blip r:embed="rId2"/>
          <a:stretch>
            <a:fillRect/>
          </a:stretch>
        </p:blipFill>
        <p:spPr>
          <a:xfrm>
            <a:off x="1062037" y="385762"/>
            <a:ext cx="9515475" cy="2657475"/>
          </a:xfrm>
          <a:prstGeom prst="rect">
            <a:avLst/>
          </a:prstGeom>
        </p:spPr>
      </p:pic>
    </p:spTree>
    <p:extLst>
      <p:ext uri="{BB962C8B-B14F-4D97-AF65-F5344CB8AC3E}">
        <p14:creationId xmlns:p14="http://schemas.microsoft.com/office/powerpoint/2010/main" xmlns="" val="219280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D4C96B92-20BA-8909-A5E6-FD122C6BA14C}"/>
                  </a:ext>
                </a:extLst>
              </p:cNvPr>
              <p:cNvSpPr txBox="1"/>
              <p:nvPr/>
            </p:nvSpPr>
            <p:spPr>
              <a:xfrm>
                <a:off x="435006" y="457200"/>
                <a:ext cx="10955044" cy="2299027"/>
              </a:xfrm>
              <a:prstGeom prst="rect">
                <a:avLst/>
              </a:prstGeom>
              <a:noFill/>
            </p:spPr>
            <p:txBody>
              <a:bodyPr wrap="square" rtlCol="0">
                <a:spAutoFit/>
              </a:bodyPr>
              <a:lstStyle/>
              <a:p>
                <a:pPr algn="just"/>
                <a:r>
                  <a:rPr lang="en-US" sz="2800" dirty="0"/>
                  <a:t>As in the figure below, a block of mass m=3.0 kg slides along a floor while a force </a:t>
                </a: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𝐹</m:t>
                        </m:r>
                      </m:e>
                    </m:acc>
                  </m:oMath>
                </a14:m>
                <a:r>
                  <a:rPr lang="en-US" sz="2800" dirty="0"/>
                  <a:t> of magnitude 12.0 N is applied to it at an upward angle </a:t>
                </a:r>
                <a14:m>
                  <m:oMath xmlns:m="http://schemas.openxmlformats.org/officeDocument/2006/math">
                    <m:r>
                      <a:rPr lang="en-US" sz="2800" i="1" smtClean="0">
                        <a:solidFill>
                          <a:prstClr val="black"/>
                        </a:solidFill>
                        <a:latin typeface="Cambria Math" panose="02040503050406030204" pitchFamily="18" charset="0"/>
                        <a:ea typeface="Cambria Math" panose="02040503050406030204" pitchFamily="18" charset="0"/>
                      </a:rPr>
                      <m:t>𝜃</m:t>
                    </m:r>
                  </m:oMath>
                </a14:m>
                <a:r>
                  <a:rPr lang="en-US" sz="2800" dirty="0">
                    <a:solidFill>
                      <a:prstClr val="black"/>
                    </a:solidFill>
                  </a:rPr>
                  <a:t>. The coefficient of kinetic friction between the block and the floor is </a:t>
                </a:r>
                <a14:m>
                  <m:oMath xmlns:m="http://schemas.openxmlformats.org/officeDocument/2006/math">
                    <m:sSub>
                      <m:sSubPr>
                        <m:ctrlPr>
                          <a:rPr lang="en-US" sz="2800" i="1" smtClean="0">
                            <a:solidFill>
                              <a:prstClr val="black"/>
                            </a:solidFill>
                            <a:latin typeface="Cambria Math" panose="02040503050406030204" pitchFamily="18" charset="0"/>
                          </a:rPr>
                        </m:ctrlPr>
                      </m:sSubPr>
                      <m:e>
                        <m:r>
                          <a:rPr lang="en-US" sz="2800" i="1" smtClean="0">
                            <a:solidFill>
                              <a:prstClr val="black"/>
                            </a:solidFill>
                            <a:latin typeface="Cambria Math" panose="02040503050406030204" pitchFamily="18" charset="0"/>
                            <a:ea typeface="Cambria Math" panose="02040503050406030204" pitchFamily="18" charset="0"/>
                          </a:rPr>
                          <m:t>𝜇</m:t>
                        </m:r>
                      </m:e>
                      <m:sub>
                        <m:r>
                          <a:rPr lang="en-US" sz="2800" b="0" i="1" smtClean="0">
                            <a:solidFill>
                              <a:prstClr val="black"/>
                            </a:solidFill>
                            <a:latin typeface="Cambria Math" panose="02040503050406030204" pitchFamily="18" charset="0"/>
                          </a:rPr>
                          <m:t>𝑘</m:t>
                        </m:r>
                      </m:sub>
                    </m:sSub>
                    <m:r>
                      <a:rPr lang="en-US" sz="2800" b="0" i="1" smtClean="0">
                        <a:solidFill>
                          <a:prstClr val="black"/>
                        </a:solidFill>
                        <a:latin typeface="Cambria Math" panose="02040503050406030204" pitchFamily="18" charset="0"/>
                      </a:rPr>
                      <m:t>=0.40</m:t>
                    </m:r>
                  </m:oMath>
                </a14:m>
                <a:r>
                  <a:rPr lang="en-US" sz="2800" dirty="0">
                    <a:solidFill>
                      <a:prstClr val="black"/>
                    </a:solidFill>
                  </a:rPr>
                  <a:t>. We can vary </a:t>
                </a:r>
                <a14:m>
                  <m:oMath xmlns:m="http://schemas.openxmlformats.org/officeDocument/2006/math">
                    <m:r>
                      <a:rPr lang="en-US" sz="2800" i="1">
                        <a:solidFill>
                          <a:prstClr val="black"/>
                        </a:solidFill>
                        <a:latin typeface="Cambria Math" panose="02040503050406030204" pitchFamily="18" charset="0"/>
                        <a:ea typeface="Cambria Math" panose="02040503050406030204" pitchFamily="18" charset="0"/>
                      </a:rPr>
                      <m:t>𝜃</m:t>
                    </m:r>
                  </m:oMath>
                </a14:m>
                <a:r>
                  <a:rPr lang="en-US" sz="2800" dirty="0"/>
                  <a:t> from </a:t>
                </a:r>
                <a14:m>
                  <m:oMath xmlns:m="http://schemas.openxmlformats.org/officeDocument/2006/math">
                    <m:r>
                      <a:rPr lang="en-US" sz="2800" b="0" i="1" smtClean="0">
                        <a:solidFill>
                          <a:prstClr val="black"/>
                        </a:solidFill>
                        <a:latin typeface="Cambria Math" panose="02040503050406030204" pitchFamily="18" charset="0"/>
                        <a:ea typeface="Cambria Math" panose="02040503050406030204" pitchFamily="18" charset="0"/>
                      </a:rPr>
                      <m:t>0</m:t>
                    </m:r>
                  </m:oMath>
                </a14:m>
                <a:r>
                  <a:rPr lang="en-US" sz="2800" dirty="0"/>
                  <a:t> to </a:t>
                </a:r>
                <a14:m>
                  <m:oMath xmlns:m="http://schemas.openxmlformats.org/officeDocument/2006/math">
                    <m:r>
                      <a:rPr lang="en-US" sz="2800" b="0" i="1" smtClean="0">
                        <a:solidFill>
                          <a:prstClr val="black"/>
                        </a:solidFill>
                        <a:latin typeface="Cambria Math" panose="02040503050406030204" pitchFamily="18" charset="0"/>
                        <a:ea typeface="Cambria Math" panose="02040503050406030204" pitchFamily="18" charset="0"/>
                      </a:rPr>
                      <m:t>90°</m:t>
                    </m:r>
                  </m:oMath>
                </a14:m>
                <a:r>
                  <a:rPr lang="en-US" sz="2800" dirty="0"/>
                  <a:t> (the block remains on the floor). What </a:t>
                </a:r>
                <a14:m>
                  <m:oMath xmlns:m="http://schemas.openxmlformats.org/officeDocument/2006/math">
                    <m:r>
                      <a:rPr lang="en-US" sz="2800" i="1">
                        <a:solidFill>
                          <a:prstClr val="black"/>
                        </a:solidFill>
                        <a:latin typeface="Cambria Math" panose="02040503050406030204" pitchFamily="18" charset="0"/>
                        <a:ea typeface="Cambria Math" panose="02040503050406030204" pitchFamily="18" charset="0"/>
                      </a:rPr>
                      <m:t>𝜃</m:t>
                    </m:r>
                  </m:oMath>
                </a14:m>
                <a:r>
                  <a:rPr lang="en-US" sz="2800" dirty="0"/>
                  <a:t> gives the maximum value of the block’s acceleration magnitude </a:t>
                </a:r>
                <a14:m>
                  <m:oMath xmlns:m="http://schemas.openxmlformats.org/officeDocument/2006/math">
                    <m:r>
                      <a:rPr lang="en-US" sz="2800" b="0" i="1" smtClean="0">
                        <a:solidFill>
                          <a:prstClr val="black"/>
                        </a:solidFill>
                        <a:latin typeface="Cambria Math" panose="02040503050406030204" pitchFamily="18" charset="0"/>
                        <a:ea typeface="Cambria Math" panose="02040503050406030204" pitchFamily="18" charset="0"/>
                      </a:rPr>
                      <m:t>𝑎</m:t>
                    </m:r>
                  </m:oMath>
                </a14:m>
                <a:r>
                  <a:rPr lang="en-US" sz="2800" dirty="0"/>
                  <a:t>?</a:t>
                </a:r>
              </a:p>
            </p:txBody>
          </p:sp>
        </mc:Choice>
        <mc:Fallback>
          <p:sp>
            <p:nvSpPr>
              <p:cNvPr id="4" name="TextBox 3">
                <a:extLst>
                  <a:ext uri="{FF2B5EF4-FFF2-40B4-BE49-F238E27FC236}">
                    <a16:creationId xmlns:a16="http://schemas.microsoft.com/office/drawing/2014/main" xmlns="" xmlns:a14="http://schemas.microsoft.com/office/drawing/2010/main" id="{D4C96B92-20BA-8909-A5E6-FD122C6BA14C}"/>
                  </a:ext>
                </a:extLst>
              </p:cNvPr>
              <p:cNvSpPr txBox="1">
                <a:spLocks noRot="1" noChangeAspect="1" noMove="1" noResize="1" noEditPoints="1" noAdjustHandles="1" noChangeArrowheads="1" noChangeShapeType="1" noTextEdit="1"/>
              </p:cNvSpPr>
              <p:nvPr/>
            </p:nvSpPr>
            <p:spPr>
              <a:xfrm>
                <a:off x="435006" y="457200"/>
                <a:ext cx="10955044" cy="2299027"/>
              </a:xfrm>
              <a:prstGeom prst="rect">
                <a:avLst/>
              </a:prstGeom>
              <a:blipFill>
                <a:blip r:embed="rId2"/>
                <a:stretch>
                  <a:fillRect l="-1113" t="-2387" r="-1169" b="-663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32582A83-18C5-E88D-241A-B695E91994A5}"/>
              </a:ext>
            </a:extLst>
          </p:cNvPr>
          <p:cNvPicPr>
            <a:picLocks noChangeAspect="1"/>
          </p:cNvPicPr>
          <p:nvPr/>
        </p:nvPicPr>
        <p:blipFill>
          <a:blip r:embed="rId3"/>
          <a:stretch>
            <a:fillRect/>
          </a:stretch>
        </p:blipFill>
        <p:spPr>
          <a:xfrm>
            <a:off x="4151675" y="2927457"/>
            <a:ext cx="3168287" cy="1688931"/>
          </a:xfrm>
          <a:prstGeom prst="rect">
            <a:avLst/>
          </a:prstGeom>
        </p:spPr>
      </p:pic>
    </p:spTree>
    <p:extLst>
      <p:ext uri="{BB962C8B-B14F-4D97-AF65-F5344CB8AC3E}">
        <p14:creationId xmlns:p14="http://schemas.microsoft.com/office/powerpoint/2010/main" xmlns="" val="250233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4" name="TextBox 3">
                <a:extLst>
                  <a:ext uri="{FF2B5EF4-FFF2-40B4-BE49-F238E27FC236}">
                    <a16:creationId xmlns:a16="http://schemas.microsoft.com/office/drawing/2014/main" id="{9CF9A5FD-BCEE-34B9-1474-98C86441782C}"/>
                  </a:ext>
                </a:extLst>
              </p:cNvPr>
              <p:cNvSpPr txBox="1"/>
              <p:nvPr/>
            </p:nvSpPr>
            <p:spPr>
              <a:xfrm>
                <a:off x="1296955" y="541176"/>
                <a:ext cx="8294914" cy="4401205"/>
              </a:xfrm>
              <a:prstGeom prst="rect">
                <a:avLst/>
              </a:prstGeom>
              <a:noFill/>
            </p:spPr>
            <p:txBody>
              <a:bodyPr wrap="square" rtlCol="0">
                <a:spAutoFit/>
              </a:bodyPr>
              <a:lstStyle/>
              <a:p>
                <a:pPr algn="just"/>
                <a:r>
                  <a:rPr lang="en-US" sz="2800" dirty="0"/>
                  <a:t>A raindrop with radius R = 1.5 mm falls from a cloud that is at height h =1200 m above the ground. The drag coefficient C for the drop is 0.60. Assume that the drop is spherical throughout its fall. The density of water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𝜌</m:t>
                        </m:r>
                      </m:e>
                      <m:sub>
                        <m:r>
                          <a:rPr lang="en-US" sz="2800" b="0" i="1" smtClean="0">
                            <a:latin typeface="Cambria Math" panose="02040503050406030204" pitchFamily="18" charset="0"/>
                          </a:rPr>
                          <m:t>𝑤</m:t>
                        </m:r>
                      </m:sub>
                    </m:sSub>
                  </m:oMath>
                </a14:m>
                <a:r>
                  <a:rPr lang="en-US" sz="2800" dirty="0"/>
                  <a:t> is 1000 kg/m</a:t>
                </a:r>
                <a:r>
                  <a:rPr lang="en-US" sz="2800" baseline="30000" dirty="0"/>
                  <a:t>3</a:t>
                </a:r>
                <a:r>
                  <a:rPr lang="en-US" sz="2800" dirty="0"/>
                  <a:t>, and the density of air </a:t>
                </a:r>
                <a14:m>
                  <m:oMath xmlns:m="http://schemas.openxmlformats.org/officeDocument/2006/math">
                    <m:sSub>
                      <m:sSubPr>
                        <m:ctrlPr>
                          <a:rPr lang="en-U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ea typeface="Cambria Math" panose="02040503050406030204" pitchFamily="18" charset="0"/>
                          </a:rPr>
                          <m:t>𝜌</m:t>
                        </m:r>
                      </m:e>
                      <m:sub>
                        <m:r>
                          <a:rPr lang="en-US" sz="2800" b="0" i="1" smtClean="0">
                            <a:solidFill>
                              <a:prstClr val="black"/>
                            </a:solidFill>
                            <a:latin typeface="Cambria Math" panose="02040503050406030204" pitchFamily="18" charset="0"/>
                            <a:ea typeface="Cambria Math" panose="02040503050406030204" pitchFamily="18" charset="0"/>
                          </a:rPr>
                          <m:t>𝑎</m:t>
                        </m:r>
                      </m:sub>
                    </m:sSub>
                  </m:oMath>
                </a14:m>
                <a:r>
                  <a:rPr lang="en-US" sz="2800" dirty="0">
                    <a:solidFill>
                      <a:prstClr val="black"/>
                    </a:solidFill>
                  </a:rPr>
                  <a:t> is 1.2 kg/m</a:t>
                </a:r>
                <a:r>
                  <a:rPr lang="en-US" sz="2800" baseline="30000" dirty="0">
                    <a:solidFill>
                      <a:prstClr val="black"/>
                    </a:solidFill>
                  </a:rPr>
                  <a:t>3</a:t>
                </a:r>
                <a:r>
                  <a:rPr lang="en-US" sz="2800" dirty="0">
                    <a:solidFill>
                      <a:prstClr val="black"/>
                    </a:solidFill>
                  </a:rPr>
                  <a:t>. </a:t>
                </a:r>
              </a:p>
              <a:p>
                <a:pPr algn="just"/>
                <a:endParaRPr lang="en-US" sz="2800" dirty="0">
                  <a:solidFill>
                    <a:prstClr val="black"/>
                  </a:solidFill>
                </a:endParaRPr>
              </a:p>
              <a:p>
                <a:pPr marL="342900" indent="-342900" algn="just">
                  <a:buAutoNum type="alphaLcParenBoth"/>
                </a:pPr>
                <a:r>
                  <a:rPr lang="en-US" sz="2800" dirty="0">
                    <a:solidFill>
                      <a:prstClr val="black"/>
                    </a:solidFill>
                  </a:rPr>
                  <a:t>What is the terminal speed of the drop?</a:t>
                </a:r>
              </a:p>
              <a:p>
                <a:pPr marL="342900" indent="-342900" algn="just">
                  <a:buAutoNum type="alphaLcParenBoth"/>
                </a:pPr>
                <a:endParaRPr lang="en-US" sz="2800" dirty="0">
                  <a:solidFill>
                    <a:prstClr val="black"/>
                  </a:solidFill>
                </a:endParaRPr>
              </a:p>
              <a:p>
                <a:pPr marL="342900" indent="-342900" algn="just">
                  <a:buAutoNum type="alphaLcParenBoth"/>
                </a:pPr>
                <a:r>
                  <a:rPr lang="en-US" sz="2800" dirty="0">
                    <a:solidFill>
                      <a:prstClr val="black"/>
                    </a:solidFill>
                  </a:rPr>
                  <a:t>What would be the drop’s speed just before impact if were no drag force?</a:t>
                </a:r>
              </a:p>
            </p:txBody>
          </p:sp>
        </mc:Choice>
        <mc:Fallback>
          <p:sp>
            <p:nvSpPr>
              <p:cNvPr id="4" name="TextBox 3">
                <a:extLst>
                  <a:ext uri="{FF2B5EF4-FFF2-40B4-BE49-F238E27FC236}">
                    <a16:creationId xmlns:a16="http://schemas.microsoft.com/office/drawing/2014/main" xmlns="" xmlns:a14="http://schemas.microsoft.com/office/drawing/2010/main" id="{9CF9A5FD-BCEE-34B9-1474-98C86441782C}"/>
                  </a:ext>
                </a:extLst>
              </p:cNvPr>
              <p:cNvSpPr txBox="1">
                <a:spLocks noRot="1" noChangeAspect="1" noMove="1" noResize="1" noEditPoints="1" noAdjustHandles="1" noChangeArrowheads="1" noChangeShapeType="1" noTextEdit="1"/>
              </p:cNvSpPr>
              <p:nvPr/>
            </p:nvSpPr>
            <p:spPr>
              <a:xfrm>
                <a:off x="1296955" y="541176"/>
                <a:ext cx="8294914" cy="4401205"/>
              </a:xfrm>
              <a:prstGeom prst="rect">
                <a:avLst/>
              </a:prstGeom>
              <a:blipFill>
                <a:blip r:embed="rId2"/>
                <a:stretch>
                  <a:fillRect l="-1544" t="-1385" r="-1471" b="-304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xmlns="" id="{9089848C-EBC8-1C59-6A4F-C868A5B0B1EC}"/>
              </a:ext>
            </a:extLst>
          </p:cNvPr>
          <p:cNvPicPr>
            <a:picLocks noChangeAspect="1"/>
          </p:cNvPicPr>
          <p:nvPr/>
        </p:nvPicPr>
        <p:blipFill>
          <a:blip r:embed="rId3"/>
          <a:stretch>
            <a:fillRect/>
          </a:stretch>
        </p:blipFill>
        <p:spPr>
          <a:xfrm>
            <a:off x="10487859" y="801916"/>
            <a:ext cx="1114425" cy="333375"/>
          </a:xfrm>
          <a:prstGeom prst="rect">
            <a:avLst/>
          </a:prstGeom>
        </p:spPr>
      </p:pic>
      <p:pic>
        <p:nvPicPr>
          <p:cNvPr id="6" name="Picture 5">
            <a:extLst>
              <a:ext uri="{FF2B5EF4-FFF2-40B4-BE49-F238E27FC236}">
                <a16:creationId xmlns:a16="http://schemas.microsoft.com/office/drawing/2014/main" xmlns="" id="{B4CC97D6-3351-E665-059A-A449A7B4D35D}"/>
              </a:ext>
            </a:extLst>
          </p:cNvPr>
          <p:cNvPicPr>
            <a:picLocks noChangeAspect="1"/>
          </p:cNvPicPr>
          <p:nvPr/>
        </p:nvPicPr>
        <p:blipFill>
          <a:blip r:embed="rId4"/>
          <a:stretch>
            <a:fillRect/>
          </a:stretch>
        </p:blipFill>
        <p:spPr>
          <a:xfrm>
            <a:off x="10440234" y="1466850"/>
            <a:ext cx="1162050" cy="552450"/>
          </a:xfrm>
          <a:prstGeom prst="rect">
            <a:avLst/>
          </a:prstGeom>
        </p:spPr>
      </p:pic>
    </p:spTree>
    <p:extLst>
      <p:ext uri="{BB962C8B-B14F-4D97-AF65-F5344CB8AC3E}">
        <p14:creationId xmlns:p14="http://schemas.microsoft.com/office/powerpoint/2010/main" xmlns="" val="484209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53</Words>
  <Application>Microsoft Office PowerPoint</Application>
  <PresentationFormat>Custom</PresentationFormat>
  <Paragraphs>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AMAR PC</cp:lastModifiedBy>
  <cp:revision>8</cp:revision>
  <dcterms:created xsi:type="dcterms:W3CDTF">2022-10-19T13:23:37Z</dcterms:created>
  <dcterms:modified xsi:type="dcterms:W3CDTF">2025-06-20T14:43:31Z</dcterms:modified>
</cp:coreProperties>
</file>