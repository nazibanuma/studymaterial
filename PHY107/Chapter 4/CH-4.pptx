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57" r:id="rId4"/>
    <p:sldId id="263" r:id="rId5"/>
    <p:sldId id="261" r:id="rId6"/>
    <p:sldId id="262" r:id="rId7"/>
    <p:sldId id="260" r:id="rId8"/>
    <p:sldId id="25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216FE8-5A53-468D-B42A-54583FD3B6AF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429D00-FFA6-402B-AC1A-A2210C6202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372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429D00-FFA6-402B-AC1A-A2210C62020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012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91E0C-39D5-20AC-A421-6B8C0F0AB8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DA9471-8F14-EC1E-EE33-45DFA0A542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627A8-939D-0F0D-5DDD-5CA1E0EA3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5819-429D-4B4E-B289-D479C1CB1EC9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D50A1-9119-6EFB-B7CB-C39E2A946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D6DCB-25C3-66D6-D5CC-9743CEF33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8B08-672B-4B1F-B8CB-7BC29D5F4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264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22AAA-69E0-FA85-530E-94ABB0B37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F6813-B467-7AB2-8A35-1715BB408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ADF26-5A6E-879C-2941-963FD5787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5819-429D-4B4E-B289-D479C1CB1EC9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A776A4-A541-F514-F32F-89F0A4D67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E00C0-29FA-17EF-9701-FF9B9B48B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8B08-672B-4B1F-B8CB-7BC29D5F4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150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91E9D-018D-1C3B-D4B8-AAE684F88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60D175-8066-F2CA-0D6B-FACD5178C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71FFC9-DD45-A179-58AE-05B792D41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5819-429D-4B4E-B289-D479C1CB1EC9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AF17D-E768-550B-2C2F-102855555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252A8-A79A-9F36-0A21-997E91580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8B08-672B-4B1F-B8CB-7BC29D5F4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042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FA413-5958-DE83-536B-E27D84D63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EF49D-93DF-A13A-3B83-EF0892BC6F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7A9367-4D37-D067-BE5C-89BFD10A4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492D47-0D89-1218-E5B4-616E74A7F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5819-429D-4B4E-B289-D479C1CB1EC9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30AA68-FF04-3CC4-81ED-199E98E89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9238B-2A8F-1170-5F4F-9C9B53F62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8B08-672B-4B1F-B8CB-7BC29D5F4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0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3834E-A63C-D645-9FAB-4C2E384C6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2C53F-586A-DFFA-15DC-81F89FF93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64A441-68C1-DA0E-3B59-A3E7BBB3F0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5D8F34-559D-CDFD-9F59-2724FEB8AC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1D16F9-876D-8611-5358-ACD33A4FC1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E4434D-BFED-2139-A47E-1BCCBDEB1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5819-429D-4B4E-B289-D479C1CB1EC9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F5D18D-3834-F363-DFD9-2ECBCD325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30FC60-644E-D666-B89B-B5E42D66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8B08-672B-4B1F-B8CB-7BC29D5F4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342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5528C-29CD-200F-AC01-51BF9895E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0820D6-AD84-07BD-D574-A705E7A74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5819-429D-4B4E-B289-D479C1CB1EC9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1BFC40-72BA-8432-1387-4633BAB4B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780DE1-521B-F5BA-A922-48BFB4F06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8B08-672B-4B1F-B8CB-7BC29D5F4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795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506F80-BBF0-6B4F-9B38-75C6601AE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5819-429D-4B4E-B289-D479C1CB1EC9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0D103B-1C07-227A-C4F5-F25094568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ADA70-9BD6-F282-5AE9-4AC94469A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8B08-672B-4B1F-B8CB-7BC29D5F4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511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BBFBC-0B58-C9F8-3930-70E7631E9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0F657-4550-2F4C-3AFF-84A4F8594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380A40-F6CB-FA16-8DB0-97E04B175C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F71523-A6DF-6218-FC98-F019E7B49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5819-429D-4B4E-B289-D479C1CB1EC9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E7F87-43AD-2135-99DE-C8B232B3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B9B776-688D-5205-105E-9F626ED28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8B08-672B-4B1F-B8CB-7BC29D5F4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32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BC4CC-5C8E-D80A-6A0D-9869947D2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ADB420-E758-509A-B076-561107B37E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B08D21-6364-2BC2-A484-91EE499C3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CF56EB-A9DB-37A3-19E4-9EDDEE4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5819-429D-4B4E-B289-D479C1CB1EC9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6698B9-4B0E-0A60-FEC9-AD367C4C5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BA740-6223-A2EF-820B-2FD468B4C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8B08-672B-4B1F-B8CB-7BC29D5F4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289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B3626-8C52-3F3E-C327-B8134E095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D3ACBA-264F-43D2-C219-B11508FB63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B1568-545F-B5DF-CDD8-FF10E5A95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5819-429D-4B4E-B289-D479C1CB1EC9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FC239-6A73-5944-98A0-C63C358BA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12A81-7A71-4BC1-2E65-ED94597BF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8B08-672B-4B1F-B8CB-7BC29D5F4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780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E807D6-F946-6300-3157-4B0739FB61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30EC69-11CA-C7F6-60C2-73FB9598F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9B89B-9A27-C2BC-758A-F20C44A44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E5819-429D-4B4E-B289-D479C1CB1EC9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70675-D7DB-0E9E-F72E-A6D77DF72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81792-353A-A503-8253-D6A80F530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C8B08-672B-4B1F-B8CB-7BC29D5F4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526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3526CC-5768-7DD4-F1C3-25ACB24DB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9299D6-A337-5204-B012-986201203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8FA92-E39F-F2E5-DF08-AED347CBAA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E5819-429D-4B4E-B289-D479C1CB1EC9}" type="datetimeFigureOut">
              <a:rPr lang="en-US" smtClean="0"/>
              <a:t>1/31/2025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91FBB-AEDC-F152-C095-D000B8F32C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BE570-5E83-4789-183C-5FEB30111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FC8B08-672B-4B1F-B8CB-7BC29D5F4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461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FAD035-EC9B-4DC6-6D34-C6297CEF5B3A}"/>
                  </a:ext>
                </a:extLst>
              </p:cNvPr>
              <p:cNvSpPr txBox="1"/>
              <p:nvPr/>
            </p:nvSpPr>
            <p:spPr>
              <a:xfrm>
                <a:off x="177553" y="302836"/>
                <a:ext cx="11887200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rabbit runs across a parking lot on which a set of coordinate axes has, strangely enough, been drawn. The coordinates (meters) of the rabbit’s position as function of time t (seconds) are given by</a:t>
                </a:r>
              </a:p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=−0.31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+7.2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+28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=0.22</m:t>
                    </m:r>
                    <m:sSup>
                      <m:sSup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−9.1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+30</m:t>
                    </m:r>
                  </m:oMath>
                </a14:m>
                <a:r>
                  <a:rPr lang="en-US" sz="2800" dirty="0"/>
                  <a:t> </a:t>
                </a:r>
              </a:p>
              <a:p>
                <a:pPr marL="342900" indent="-342900">
                  <a:buAutoNum type="alphaLcParenBoth"/>
                </a:pPr>
                <a:r>
                  <a:rPr lang="en-US" sz="2800" dirty="0"/>
                  <a:t>At t=15 s, what is the rabbit’s position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en-US" sz="2800" dirty="0"/>
                  <a:t> in unit-vector notation and in magnitude-angle notation?</a:t>
                </a:r>
              </a:p>
              <a:p>
                <a:pPr marL="342900" indent="-342900">
                  <a:buAutoNum type="alphaLcParenBoth"/>
                </a:pPr>
                <a:r>
                  <a:rPr lang="en-US" sz="2800" dirty="0"/>
                  <a:t>Find the velocity</a:t>
                </a: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𝑣</m:t>
                        </m:r>
                      </m:e>
                    </m:acc>
                  </m:oMath>
                </a14:m>
                <a:r>
                  <a:rPr lang="en-US" sz="2800" dirty="0"/>
                  <a:t>  at time t=15 s in unit vector notation and magnitude-angle notation.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AutoNum type="alphaLcParenBoth"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Find the acceleration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accPr>
                      <m:e>
                        <m:r>
                          <a:rPr kumimoji="0" lang="en-US" sz="2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𝑎</m:t>
                        </m:r>
                      </m:e>
                    </m:acc>
                  </m:oMath>
                </a14:m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at time t=15 s in unit vector notation and magnitude-angle notation.</a:t>
                </a:r>
              </a:p>
              <a:p>
                <a:pPr marL="342900" indent="-342900">
                  <a:buAutoNum type="alphaLcParenBoth"/>
                </a:pPr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5FAD035-EC9B-4DC6-6D34-C6297CEF5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53" y="302836"/>
                <a:ext cx="11887200" cy="5262979"/>
              </a:xfrm>
              <a:prstGeom prst="rect">
                <a:avLst/>
              </a:prstGeom>
              <a:blipFill>
                <a:blip r:embed="rId2"/>
                <a:stretch>
                  <a:fillRect l="-1077" t="-1159" r="-14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9C7F385E-0F24-74A8-F668-D716766DC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93" y="1891359"/>
            <a:ext cx="4200525" cy="48863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EEA11F-B7F6-D8CF-F4F8-B528004628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993" y="1938983"/>
            <a:ext cx="4381500" cy="479107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903518F-AEFB-759B-CDEE-7D36861242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6799" y="1487564"/>
            <a:ext cx="4295775" cy="5143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9FDB694-2F61-3110-6D1B-49948C234A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7774" y="1678364"/>
            <a:ext cx="459105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306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0B2668-E241-1E05-E5A8-BE86C5EDD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39" y="348463"/>
            <a:ext cx="3772602" cy="33277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A93A5E-9650-71F7-1D60-664FE646E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6841" y="263613"/>
            <a:ext cx="4223949" cy="65879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7C9115-BD19-7EEB-B411-9E8018A856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0790" y="556337"/>
            <a:ext cx="3910441" cy="419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874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B905CB-B130-3C4B-E76B-686EDA0E1D7C}"/>
                  </a:ext>
                </a:extLst>
              </p:cNvPr>
              <p:cNvSpPr txBox="1"/>
              <p:nvPr/>
            </p:nvSpPr>
            <p:spPr>
              <a:xfrm>
                <a:off x="79078" y="88642"/>
                <a:ext cx="6844230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/>
                  <a:t>A rescue plane flies at 198 km/h (=55.0 m/s) and constant height h=500 m toward a point directly over a victim, where a rescue capsule is to land.</a:t>
                </a:r>
              </a:p>
              <a:p>
                <a:pPr marL="342900" indent="-342900" algn="just">
                  <a:buAutoNum type="alphaLcParenBoth"/>
                </a:pPr>
                <a:r>
                  <a:rPr lang="en-US" sz="2400" dirty="0"/>
                  <a:t>What should be the angle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2400" dirty="0"/>
                  <a:t> of the pilot’s line of sight to the victim when the capsule release is made?</a:t>
                </a:r>
              </a:p>
              <a:p>
                <a:pPr marL="342900" indent="-342900" algn="just">
                  <a:buAutoNum type="alphaLcParenBoth"/>
                </a:pPr>
                <a:r>
                  <a:rPr lang="en-US" sz="2400" dirty="0"/>
                  <a:t>As the capsule reaches the water, what is the velocity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en-US" sz="2400" dirty="0"/>
                  <a:t> in unit-vector notation and in magnitude-angle notation?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4B905CB-B130-3C4B-E76B-686EDA0E1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8" y="88642"/>
                <a:ext cx="6844230" cy="3416320"/>
              </a:xfrm>
              <a:prstGeom prst="rect">
                <a:avLst/>
              </a:prstGeom>
              <a:blipFill>
                <a:blip r:embed="rId3"/>
                <a:stretch>
                  <a:fillRect l="-1425" t="-1429" r="-1336" b="-3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D357CD9E-C1AB-DD21-D7F1-FDB4A6013D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0972" y="3079645"/>
            <a:ext cx="5587014" cy="368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411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ACC13A-E925-8AC0-511A-EF474C94E245}"/>
                  </a:ext>
                </a:extLst>
              </p:cNvPr>
              <p:cNvSpPr txBox="1"/>
              <p:nvPr/>
            </p:nvSpPr>
            <p:spPr>
              <a:xfrm>
                <a:off x="428625" y="342900"/>
                <a:ext cx="10810875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Figure shows a pirate ship 560 m from a fort defending a harbor entrance. A defense cannon, located at sea level, fires balls at initial speed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=82</m:t>
                    </m:r>
                  </m:oMath>
                </a14:m>
                <a:r>
                  <a:rPr lang="en-US" sz="2400" dirty="0"/>
                  <a:t> m/s.</a:t>
                </a:r>
              </a:p>
              <a:p>
                <a:pPr marL="342900" indent="-342900">
                  <a:buAutoNum type="alphaLcParenBoth"/>
                </a:pPr>
                <a:r>
                  <a:rPr lang="en-US" sz="2400" dirty="0"/>
                  <a:t>At what angle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from the horizontal must a ball be fired to hit the ship?</a:t>
                </a:r>
              </a:p>
              <a:p>
                <a:pPr marL="342900" indent="-342900">
                  <a:buAutoNum type="alphaLcParenBoth"/>
                </a:pPr>
                <a:r>
                  <a:rPr lang="en-US" sz="2400" dirty="0"/>
                  <a:t>What is the maximum range of the cannonballs?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ACC13A-E925-8AC0-511A-EF474C94E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25" y="342900"/>
                <a:ext cx="10810875" cy="1569660"/>
              </a:xfrm>
              <a:prstGeom prst="rect">
                <a:avLst/>
              </a:prstGeom>
              <a:blipFill>
                <a:blip r:embed="rId2"/>
                <a:stretch>
                  <a:fillRect l="-902" t="-3101" b="-8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8C8CA5B-21ED-5651-907E-02BA02B74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924" y="2249766"/>
            <a:ext cx="5670760" cy="338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612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69F7467-AB1F-BED6-9A16-940CDBDCE6A5}"/>
                  </a:ext>
                </a:extLst>
              </p:cNvPr>
              <p:cNvSpPr txBox="1"/>
              <p:nvPr/>
            </p:nvSpPr>
            <p:spPr>
              <a:xfrm>
                <a:off x="190122" y="181070"/>
                <a:ext cx="11640517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0" i="0" dirty="0">
                    <a:solidFill>
                      <a:srgbClr val="231F2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Figure indicates the launch and landing sites of a man sliding along a long water slide into the air to land in a pool. The coordinate system is chosen such a way that</a:t>
                </a:r>
                <a:r>
                  <a:rPr lang="en-US" sz="2400" dirty="0">
                    <a:solidFill>
                      <a:srgbClr val="231F2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</a:t>
                </a:r>
                <a:r>
                  <a:rPr lang="en-US" sz="2400" b="0" i="0" dirty="0">
                    <a:solidFill>
                      <a:srgbClr val="231F2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origin is  located at the launch site. The horizontal flight distance </a:t>
                </a:r>
                <a:r>
                  <a:rPr lang="en-US" sz="2400" b="0" i="1" dirty="0">
                    <a:solidFill>
                      <a:srgbClr val="231F2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 =</a:t>
                </a:r>
                <a:r>
                  <a:rPr lang="en-US" sz="2400" b="0" i="0" dirty="0">
                    <a:solidFill>
                      <a:srgbClr val="231F2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20.0 m, the flight time </a:t>
                </a:r>
                <a:r>
                  <a:rPr lang="en-US" sz="2400" b="0" i="1" dirty="0">
                    <a:solidFill>
                      <a:srgbClr val="231F2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=</a:t>
                </a:r>
                <a:r>
                  <a:rPr lang="en-US" sz="2400" b="0" i="0" dirty="0">
                    <a:solidFill>
                      <a:srgbClr val="231F2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2.50 s, and the launch angle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231F2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𝜃</m:t>
                    </m:r>
                    <m:r>
                      <a:rPr lang="en-US" sz="2400" b="0" i="1" smtClean="0">
                        <a:solidFill>
                          <a:srgbClr val="231F2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</m:oMath>
                </a14:m>
                <a:r>
                  <a:rPr lang="en-US" sz="2400" b="0" i="0" dirty="0">
                    <a:solidFill>
                      <a:srgbClr val="231F2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40.0°. Find the magnitude of the velocity at launch and at landing.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69F7467-AB1F-BED6-9A16-940CDBDCE6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122" y="181070"/>
                <a:ext cx="11640517" cy="1569660"/>
              </a:xfrm>
              <a:prstGeom prst="rect">
                <a:avLst/>
              </a:prstGeom>
              <a:blipFill>
                <a:blip r:embed="rId2"/>
                <a:stretch>
                  <a:fillRect l="-785" t="-3113" r="-1309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16C290F6-3C23-67E7-0243-73B23062B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009" y="2564255"/>
            <a:ext cx="3874934" cy="1878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649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CB72434-96E2-BCC5-C987-C7121E8C92B4}"/>
              </a:ext>
            </a:extLst>
          </p:cNvPr>
          <p:cNvGrpSpPr/>
          <p:nvPr/>
        </p:nvGrpSpPr>
        <p:grpSpPr>
          <a:xfrm>
            <a:off x="420557" y="160563"/>
            <a:ext cx="4476420" cy="4071813"/>
            <a:chOff x="420557" y="160563"/>
            <a:chExt cx="4476420" cy="407181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B6B12EE-4D3E-39AC-6E15-0382CDCB13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0557" y="160563"/>
              <a:ext cx="4476420" cy="1537607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8A1EA76-9E36-D6FC-DA20-6EB6875DDD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0557" y="1698170"/>
              <a:ext cx="4476420" cy="2534206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44CE58CD-1150-B28C-FD58-EBA5F3B276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6708" y="341608"/>
            <a:ext cx="3860292" cy="389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164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C2DAB9-FC09-CF22-688C-F3FDCB220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356" y="162537"/>
            <a:ext cx="8065224" cy="605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610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FB87EE-B10A-9AC3-43E6-4E79B67235FE}"/>
                  </a:ext>
                </a:extLst>
              </p:cNvPr>
              <p:cNvSpPr txBox="1"/>
              <p:nvPr/>
            </p:nvSpPr>
            <p:spPr>
              <a:xfrm>
                <a:off x="710213" y="307185"/>
                <a:ext cx="9978501" cy="2101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3200" dirty="0"/>
                  <a:t>What is the magnitude of the acceleration, in g units of a pilot whose aircraft enters a horizontal circular turn with a velocity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320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=(400</m:t>
                    </m:r>
                    <m:acc>
                      <m:accPr>
                        <m:chr m:val="̂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+500</m:t>
                    </m:r>
                    <m:acc>
                      <m:accPr>
                        <m:chr m:val="̂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m/s and 24.0 s later leaves the turn with a velocity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sz="3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sz="32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3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3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400</m:t>
                    </m:r>
                    <m:acc>
                      <m:accPr>
                        <m:chr m:val="̂"/>
                        <m:ctrlPr>
                          <a:rPr lang="en-US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a:rPr lang="en-US" sz="32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3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500</m:t>
                    </m:r>
                    <m:acc>
                      <m:accPr>
                        <m:chr m:val="̂"/>
                        <m:ctrlPr>
                          <a:rPr lang="en-US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a:rPr lang="en-US" sz="32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>
                    <a:solidFill>
                      <a:prstClr val="black"/>
                    </a:solidFill>
                  </a:rPr>
                  <a:t> m/s? </a:t>
                </a:r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FB87EE-B10A-9AC3-43E6-4E79B6723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213" y="307185"/>
                <a:ext cx="9978501" cy="2101537"/>
              </a:xfrm>
              <a:prstGeom prst="rect">
                <a:avLst/>
              </a:prstGeom>
              <a:blipFill>
                <a:blip r:embed="rId2"/>
                <a:stretch>
                  <a:fillRect l="-1589" t="-3768" r="-2567" b="-6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2191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400</Words>
  <Application>Microsoft Office PowerPoint</Application>
  <PresentationFormat>Widescreen</PresentationFormat>
  <Paragraphs>15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akabir</dc:creator>
  <cp:lastModifiedBy>akabir</cp:lastModifiedBy>
  <cp:revision>11</cp:revision>
  <dcterms:created xsi:type="dcterms:W3CDTF">2022-10-05T15:23:58Z</dcterms:created>
  <dcterms:modified xsi:type="dcterms:W3CDTF">2025-01-31T16:22:13Z</dcterms:modified>
</cp:coreProperties>
</file>