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112C4A-D5C1-42A3-856B-F59321277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D932FE3-E538-83F4-182A-D4E784F01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0181B1-B827-B128-EFD6-1D2C8E3B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2D1D51-DDF5-9B3C-2ECF-EBDC87888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9E89D0-53C7-CB4D-935D-FC2FCB7E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973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D624A6-B5BD-64A5-8DDF-4D39FC43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3905A7-650E-8F0E-D451-40D00E3E9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0DD297-CA00-B5E5-3AD9-DD577588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DF28768-B03D-3E7B-5272-DE7404CE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173DD7D-F20A-CF7F-9085-ABE27345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510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1A0639-D372-C71A-78B9-8F7A5E20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DB8182-F1C4-5480-49AB-FFB3D45C1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96A16B-1CB2-4894-2D6B-E4F8426E5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7AB03F-22B3-EE78-641A-EC753C2E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DA8105-71AF-EB50-58CC-5A04E6E1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3151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3EC64B-532B-E7D8-4329-04D9C37D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0444B6-9A6D-FB11-90C3-6CAFE6FBE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2A017E-451C-92B6-65BD-18F5DB27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B8B37FA-9739-0EDD-818C-A007B4FE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3223B76-C3ED-4744-3952-B836043E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9CDBBA-78DB-28B5-0055-40049B85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111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BBFCB6-F068-29ED-5292-7BF61BDB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6D1527B-39BA-44D1-2500-568C47A15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264E606-C923-5426-6AB2-69EA618B3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5A8329E-CE82-63B0-77C9-B3C61583A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DC2C931-726B-4426-37D8-0F03FC45D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94073FC-8A19-FD13-FE84-3403DE59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8B0C958-CC2F-A1A4-5F02-7586A34C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1F38677-4D7E-B16E-E17D-E56F68FB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944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71590C-0D79-37FC-6FCE-21F4F8148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D4F2085-D149-B801-7F9E-7EEB8D6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16868A1-1F78-775D-6901-6442DFDA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D91BDE-FB83-F41F-3CBC-7D48C4EB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192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0278734-9636-2B8D-E367-66D090DDD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D53F346-6E51-F369-262B-A686E1B0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21D7F3-31BB-BC24-18C9-963E23D6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3870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0FD894-B0BC-4B16-FF1D-534565F8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BBCB12-A651-BDBE-F6D8-1797325A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BD1DB97-E080-4DC4-9B7A-6BBFBDFE2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E6A569-2603-5E4F-1E29-C0057176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E04090F-D017-C95F-2E52-07669A2C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45D71A-4C5E-F143-DC0F-F60CED44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489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EC4E84-FB4F-6A65-D6CB-63C647DE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9E7BD5B-55DC-8798-DAD9-85275875E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924FD42-7421-C803-E51E-F6C97483E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19035B2-27EC-717C-D397-C276272B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E53796-91C5-76E6-639A-DA189B08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433E4F5-4D5E-D541-CADC-1787285A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8418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A560AB-717B-1C00-04FB-963515AF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601A6EC-996E-0195-5114-DD929E8FF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C0B528-B264-42A3-EEA6-A03D8FF97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5FB7FD-B1C3-7567-6F0B-173CF411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A919B1-35D0-DFEC-95CC-7F6A78FA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049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5DF7088-EBB2-BB1E-6827-B9EB1778D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1979B98-2FD8-9FE6-BECE-20BEF531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4C048D-FD8D-D194-E4AA-AA71C518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1D636C-A534-1C4E-16C3-E9A31A9A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457B31-08AC-BBE8-1D20-84AFEB7EB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5312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8AA605B-0EC2-3E78-1304-F6D6CAA8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BC6D3A-73E0-644B-89F8-47243FC1F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1AA39D-C894-71A8-E350-20DAE76F8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EC96D-B6D9-4504-BE9B-650CF9E40DD5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DFDBCE-98FC-E1F2-4A1D-145AA93E8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9CFD59-E106-A98F-C95D-680AD53DB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FE775-2EEA-4620-B337-134D83AB26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995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F68DAF-98E4-55D5-76EA-FC0CF97FAA17}"/>
                  </a:ext>
                </a:extLst>
              </p:cNvPr>
              <p:cNvSpPr txBox="1"/>
              <p:nvPr/>
            </p:nvSpPr>
            <p:spPr>
              <a:xfrm>
                <a:off x="275207" y="0"/>
                <a:ext cx="11248008" cy="4082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Figure shows two industrial spies sliding an initially stationary 225 kg floor safe a distance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sz="2400" dirty="0"/>
                  <a:t> of magnitude 8.50 m, straight toward their truck. The push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of spy 001 is 12.0 N, directed at an angle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 downward from the horizontal; the pull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of spy 002 is 10.0 N, directed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above the horizontal. The magnitudes and directions of these forces do not change as the safe moves, and the floor and safe make frictionless contact.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400" dirty="0">
                    <a:solidFill>
                      <a:prstClr val="black"/>
                    </a:solidFill>
                  </a:rPr>
                  <a:t>What is the net work done on the safe by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 during the displacement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sz="2400" dirty="0"/>
                  <a:t>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400" dirty="0"/>
                  <a:t>During the displacement, what is the 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400" dirty="0"/>
                  <a:t> done on the safe by the gravitational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and what is 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done on the safe by the normal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from the floor?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400" dirty="0">
                    <a:solidFill>
                      <a:prstClr val="black"/>
                    </a:solidFill>
                  </a:rPr>
                  <a:t> The safe is initially stationary. What is its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at the end of the 8.50 m displacement? </a:t>
                </a:r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FF68DAF-98E4-55D5-76EA-FC0CF97FA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07" y="0"/>
                <a:ext cx="11248008" cy="4082592"/>
              </a:xfrm>
              <a:prstGeom prst="rect">
                <a:avLst/>
              </a:prstGeom>
              <a:blipFill>
                <a:blip r:embed="rId2"/>
                <a:stretch>
                  <a:fillRect l="-867" t="-1194" r="-867" b="-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A4CE87E-40AD-AA72-9266-CF0B7B5E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247" y="4009840"/>
            <a:ext cx="365760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951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B8CB7C-F556-CC20-67F8-91FE5C328879}"/>
                  </a:ext>
                </a:extLst>
              </p:cNvPr>
              <p:cNvSpPr txBox="1"/>
              <p:nvPr/>
            </p:nvSpPr>
            <p:spPr>
              <a:xfrm>
                <a:off x="1267693" y="200200"/>
                <a:ext cx="10040645" cy="4149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During a storm, a crate of crepe is sliding across a slick, oily parking lot through a displacement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=(−3.0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sz="2800" dirty="0"/>
                  <a:t> while a steady wind pushes against the crate with a force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.0 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acc>
                      <m:accPr>
                        <m:chr m:val="̂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+(−6.0 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. The situation and coordinate axes are shown in the figure below: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800" dirty="0">
                    <a:solidFill>
                      <a:prstClr val="black"/>
                    </a:solidFill>
                  </a:rPr>
                  <a:t>How much work does this force do on the crate during the displacement?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800" dirty="0">
                    <a:solidFill>
                      <a:prstClr val="black"/>
                    </a:solidFill>
                  </a:rPr>
                  <a:t>If the crate has a kinetic energy of 10 J at the beginning of displacement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, what is its kinetic energy at the end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?</a:t>
                </a:r>
              </a:p>
              <a:p>
                <a:pPr marL="342900" indent="-342900" algn="just">
                  <a:buAutoNum type="alphaLcParenBoth"/>
                </a:pPr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9B8CB7C-F556-CC20-67F8-91FE5C328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693" y="200200"/>
                <a:ext cx="10040645" cy="4149919"/>
              </a:xfrm>
              <a:prstGeom prst="rect">
                <a:avLst/>
              </a:prstGeom>
              <a:blipFill>
                <a:blip r:embed="rId2"/>
                <a:stretch>
                  <a:fillRect l="-1275" t="-1468" r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B865C2F-516A-0EBA-F1C5-EF746E02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285" y="4350119"/>
            <a:ext cx="439102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1005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AB2A93-9522-1497-68A1-4D240670DDC7}"/>
                  </a:ext>
                </a:extLst>
              </p:cNvPr>
              <p:cNvSpPr txBox="1"/>
              <p:nvPr/>
            </p:nvSpPr>
            <p:spPr>
              <a:xfrm>
                <a:off x="712961" y="0"/>
                <a:ext cx="10142144" cy="2316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problem an object is pulled along a ramp but the object starts and ends at rest and thus has no overall change in its kinetic energy (that is important). Figure shows the situation. A rope pulls a 200 kg sleigh (which you may know) up a slope at incline angle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231F2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through distance </a:t>
                </a:r>
                <a:r>
                  <a:rPr lang="en-US" sz="2400" b="0" i="1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</a:t>
                </a:r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20 m. The sleigh and its contents have a total mass of 200 kg. The snowy slope is so slippery that we take it to be frictionless. How much work is done by each force acting on the sleigh?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AB2A93-9522-1497-68A1-4D240670D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61" y="0"/>
                <a:ext cx="10142144" cy="2316660"/>
              </a:xfrm>
              <a:prstGeom prst="rect">
                <a:avLst/>
              </a:prstGeom>
              <a:blipFill>
                <a:blip r:embed="rId2"/>
                <a:stretch>
                  <a:fillRect l="-962" t="-2105" r="-901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E4CF5A-7D4D-D74E-5AA9-DC4058CC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61" y="2486591"/>
            <a:ext cx="3777163" cy="25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824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606243-E511-5CA5-17CE-95A92215B293}"/>
                  </a:ext>
                </a:extLst>
              </p:cNvPr>
              <p:cNvSpPr txBox="1"/>
              <p:nvPr/>
            </p:nvSpPr>
            <p:spPr>
              <a:xfrm>
                <a:off x="292963" y="133165"/>
                <a:ext cx="8646851" cy="6501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An elevator cab of mass m=500 kg is descending with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=4.0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when its supporting cable begins to slip, allowing it to fall with constant acceleration</a:t>
                </a:r>
              </a:p>
              <a:p>
                <a:pPr algn="just"/>
                <a:r>
                  <a:rPr lang="en-US" sz="2800" dirty="0"/>
                  <a:t/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b="0" dirty="0"/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During the fall through a distance d= 12 m, what is the 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800" dirty="0"/>
                  <a:t> done on the cab by the gravitational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800" dirty="0"/>
                  <a:t>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During the 12 m fall, what is the 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done on the cab by the upward</a:t>
                </a:r>
                <a:r>
                  <a:rPr kumimoji="0" lang="en-US" sz="2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pull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US" sz="2800" dirty="0"/>
                  <a:t>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What is the net work W on the cab during the fall?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800" dirty="0"/>
                  <a:t>What is the cab’s kinetic energy at the end of the 12 m fall?</a:t>
                </a:r>
              </a:p>
              <a:p>
                <a:pPr marL="342900" indent="-342900" algn="just">
                  <a:buAutoNum type="alphaLcParenBoth"/>
                </a:pPr>
                <a:endParaRPr lang="en-US" sz="2800" dirty="0"/>
              </a:p>
              <a:p>
                <a:pPr marL="342900" indent="-342900" algn="just">
                  <a:buAutoNum type="alphaLcParenBoth"/>
                </a:pPr>
                <a:endParaRPr lang="en-US" sz="2800" dirty="0"/>
              </a:p>
              <a:p>
                <a:pPr marL="342900" indent="-342900" algn="just">
                  <a:buAutoNum type="alphaLcParenBoth"/>
                </a:pPr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7606243-E511-5CA5-17CE-95A92215B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63" y="133165"/>
                <a:ext cx="8646851" cy="6501908"/>
              </a:xfrm>
              <a:prstGeom prst="rect">
                <a:avLst/>
              </a:prstGeom>
              <a:blipFill>
                <a:blip r:embed="rId2"/>
                <a:stretch>
                  <a:fillRect l="-1480" t="-938" r="-1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86A8D1F-8DA3-CAE5-B1F1-9283A732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213" y="272618"/>
            <a:ext cx="24765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29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1DD128D-95B2-7DEF-3869-92A3945F4050}"/>
              </a:ext>
            </a:extLst>
          </p:cNvPr>
          <p:cNvSpPr txBox="1"/>
          <p:nvPr/>
        </p:nvSpPr>
        <p:spPr>
          <a:xfrm>
            <a:off x="745724" y="169037"/>
            <a:ext cx="97920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As in the figure, a cumin canister of mass m=0.40 kg slides across a horizontal frictionless counter with speed v=0.50 m/s. It then runs into and compresses a spring of spring constant k=750 N/m. When the canister is momentarily stopped by the spring, by what distance d is the spring compressed?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E10A5CD-BA30-73CC-D1C0-08BA52959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48" y="2856282"/>
            <a:ext cx="66294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99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9E61CCF-1022-E651-3069-A552FFD0FA6C}"/>
              </a:ext>
            </a:extLst>
          </p:cNvPr>
          <p:cNvSpPr txBox="1"/>
          <p:nvPr/>
        </p:nvSpPr>
        <p:spPr>
          <a:xfrm>
            <a:off x="461727" y="255179"/>
            <a:ext cx="1125345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Fig.-b an 8.0 kg block slides along a frictionless floor as a force acts on it, starting at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ending at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6.5 m. As the block moves, the magnitude and direction of the force varies according to the graph shown in Fig.-a.  For example, from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0 to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m, the force is positive (in the positive direction of the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axis) and increases in magnitude from 0 to 40 N. And from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 m to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5 m, the force is negative and increases in magnitude from 0 to 20 N.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(Note that this latter value is displayed as -20 N.) The block’s kinetic energy at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280 J. What is the block’s speed at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1  0,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 4.0 m, and </a:t>
            </a:r>
            <a:r>
              <a:rPr lang="en-US" sz="2400" b="0" i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6.5 m?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FE055E-87A4-A176-C720-17F177DF1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1" y="3001843"/>
            <a:ext cx="4245415" cy="297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54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7B7AE7-01D5-F0DC-80EA-FB0E176EEB17}"/>
                  </a:ext>
                </a:extLst>
              </p:cNvPr>
              <p:cNvSpPr txBox="1"/>
              <p:nvPr/>
            </p:nvSpPr>
            <p:spPr>
              <a:xfrm>
                <a:off x="382555" y="0"/>
                <a:ext cx="11087100" cy="281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we calculate an instantaneous work-that is, the rate at which is being done at any instant rather than averaged over a time interval. Figure shows constant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acting on a box as the box slides rightward across a frictionless floor. Force 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horizontal, with magnitude 2.0 N; force 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angled upward by 60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floor and has magnitude 4.0 N. The speed v of the box at a certain instant is 3.0 m/s. What is the power due to each force acting on the box at that instant, and what is the net power? Is the net power changing at that instant?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A7B7AE7-01D5-F0DC-80EA-FB0E176E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55" y="0"/>
                <a:ext cx="11087100" cy="2811924"/>
              </a:xfrm>
              <a:prstGeom prst="rect">
                <a:avLst/>
              </a:prstGeom>
              <a:blipFill>
                <a:blip r:embed="rId2"/>
                <a:stretch>
                  <a:fillRect l="-880" t="-1735" r="-825" b="-4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153308B-C49D-90E2-78FB-929EC4AAA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83" y="2901330"/>
            <a:ext cx="5305926" cy="17686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D9D0436-6105-EEF3-0A87-BDB975438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661822"/>
            <a:ext cx="430530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271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216</Words>
  <Application>Microsoft Office PowerPoint</Application>
  <PresentationFormat>Custom</PresentationFormat>
  <Paragraphs>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AMAR PC</cp:lastModifiedBy>
  <cp:revision>8</cp:revision>
  <dcterms:created xsi:type="dcterms:W3CDTF">2022-10-19T14:12:28Z</dcterms:created>
  <dcterms:modified xsi:type="dcterms:W3CDTF">2025-06-27T16:00:08Z</dcterms:modified>
</cp:coreProperties>
</file>