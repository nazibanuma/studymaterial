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0" r:id="rId7"/>
    <p:sldId id="25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10" d="100"/>
          <a:sy n="110" d="100"/>
        </p:scale>
        <p:origin x="-558" y="-9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504FD8-FE96-4EBA-7FB1-B789AC5A05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98A2927-D41F-35D1-A704-3B516E7AF7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B562F228-A105-2BDA-E3C3-9ACDE42694D2}"/>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5" name="Footer Placeholder 4">
            <a:extLst>
              <a:ext uri="{FF2B5EF4-FFF2-40B4-BE49-F238E27FC236}">
                <a16:creationId xmlns:a16="http://schemas.microsoft.com/office/drawing/2014/main" xmlns="" id="{C57C99FA-888D-81C8-9EA9-0D0324FE7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00EDE89-B100-724F-A209-AB34A0972634}"/>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2682086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C38B61-BCC2-9593-36AC-3029477AC9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3D7855B-5B8A-425E-C945-8408070684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4BA1DE2-05FD-EF89-6851-436E2F0D2AB3}"/>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5" name="Footer Placeholder 4">
            <a:extLst>
              <a:ext uri="{FF2B5EF4-FFF2-40B4-BE49-F238E27FC236}">
                <a16:creationId xmlns:a16="http://schemas.microsoft.com/office/drawing/2014/main" xmlns="" id="{90AB7F06-A1B8-EB29-5018-0313E2CD3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C8B47DC-ADF0-5017-1FBC-19124BD4EEBF}"/>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4089305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E2190B-F96C-AC32-0F40-1FFF376B6B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C7A9938E-0B14-A469-9223-8122E6FA6D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56E5B0A9-2142-E80D-C531-940D0371A6A2}"/>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5" name="Footer Placeholder 4">
            <a:extLst>
              <a:ext uri="{FF2B5EF4-FFF2-40B4-BE49-F238E27FC236}">
                <a16:creationId xmlns:a16="http://schemas.microsoft.com/office/drawing/2014/main" xmlns="" id="{51494806-0B32-9A8E-30AE-82307D4571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ECF6214-3372-002D-8AD0-54F9CE45454D}"/>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178965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E7EE3A-A030-8B79-F5E5-4DAF7AFB5A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27341C5-5548-EA84-AA00-C516FE4839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9435BDEE-D9A8-96F2-086F-5F71A74E69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5C2B61D6-4F3A-9C68-B06B-681CB0616AF8}"/>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6" name="Footer Placeholder 5">
            <a:extLst>
              <a:ext uri="{FF2B5EF4-FFF2-40B4-BE49-F238E27FC236}">
                <a16:creationId xmlns:a16="http://schemas.microsoft.com/office/drawing/2014/main" xmlns="" id="{F45A5CB1-A4A5-29DE-F501-08CFA85BD2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FD23F34-9DFD-4B20-5992-88AE1C5F7A94}"/>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2290575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D443F1-0C6A-DC3F-D64A-20E0688016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1C693418-79AD-59D2-3E8C-202DB35A1D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B3EFB33-0D5D-C380-AD0C-7CAF724C9A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FFD655F2-051A-4724-0850-4BB05A96CC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9CACAE8-DF55-0001-CE1F-7B34EC1685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14CD4969-642C-95FF-5A7C-F6D6917C0FEF}"/>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8" name="Footer Placeholder 7">
            <a:extLst>
              <a:ext uri="{FF2B5EF4-FFF2-40B4-BE49-F238E27FC236}">
                <a16:creationId xmlns:a16="http://schemas.microsoft.com/office/drawing/2014/main" xmlns="" id="{A028230B-9ECC-BF27-179F-34215D13C1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0CF3552F-1285-377E-3B96-FBFBA6547B65}"/>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820680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F71881-2581-487B-FE62-62385EC8F8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9579C7E4-98C2-439B-3000-F7710E3EB234}"/>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4" name="Footer Placeholder 3">
            <a:extLst>
              <a:ext uri="{FF2B5EF4-FFF2-40B4-BE49-F238E27FC236}">
                <a16:creationId xmlns:a16="http://schemas.microsoft.com/office/drawing/2014/main" xmlns="" id="{8449DAD3-9704-753F-CFCD-7E2E2F7BAC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1676CED1-1A8D-0921-C0D4-78FE453EDE5E}"/>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1907859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3F2FA50-8A76-B476-26C4-3CC4C55A6245}"/>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3" name="Footer Placeholder 2">
            <a:extLst>
              <a:ext uri="{FF2B5EF4-FFF2-40B4-BE49-F238E27FC236}">
                <a16:creationId xmlns:a16="http://schemas.microsoft.com/office/drawing/2014/main" xmlns="" id="{C2174BCD-86E6-0E9C-899D-B9BBF48EFC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982FDC7E-8752-E388-CE71-4460E3C93D0C}"/>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4250671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179C23-BDA9-5D1B-67B9-9BE58DF0F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F6A974CF-949C-878A-8399-031A50BEB1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1C0D03E9-B8D4-5685-CBF8-8F99A1761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E2741C0-991A-F2FC-FD92-B4D191B7B0EA}"/>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6" name="Footer Placeholder 5">
            <a:extLst>
              <a:ext uri="{FF2B5EF4-FFF2-40B4-BE49-F238E27FC236}">
                <a16:creationId xmlns:a16="http://schemas.microsoft.com/office/drawing/2014/main" xmlns="" id="{05F1E028-8F2F-DD6A-6530-5128DAC359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3F00AF0-CA72-8F26-1D74-F8F49242754E}"/>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1981415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E4091D-8B40-61F9-523D-21601EEF76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9DF47B29-4AAB-64D7-22F7-7556FFADF8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379DC6EA-AD8A-CCB2-1BD7-37B4E1D9B6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30B2C98-C3FA-8732-0EBC-415B7C10ABB9}"/>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6" name="Footer Placeholder 5">
            <a:extLst>
              <a:ext uri="{FF2B5EF4-FFF2-40B4-BE49-F238E27FC236}">
                <a16:creationId xmlns:a16="http://schemas.microsoft.com/office/drawing/2014/main" xmlns="" id="{C1790466-0531-77EB-E9BA-9128B2DEB9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F9BF8A0-5639-BCCB-226D-99FD5018BB96}"/>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2057650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93C614-0FDB-2D94-DCEA-F80518BB63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5C949C36-0F85-450C-EFDD-7BCA7FB690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B1D451-4778-5E62-ECAB-604DFE21D618}"/>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5" name="Footer Placeholder 4">
            <a:extLst>
              <a:ext uri="{FF2B5EF4-FFF2-40B4-BE49-F238E27FC236}">
                <a16:creationId xmlns:a16="http://schemas.microsoft.com/office/drawing/2014/main" xmlns="" id="{9A1DAAC6-1466-B4F5-99FE-DFA4F6703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457D3F2-7CD5-3B41-CCCA-4D178B7C165F}"/>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4129915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3BA477F-1378-57A5-08A0-25DFF68EA6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04242E39-AF4C-C6EE-9AEF-26C1AF2499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D8CA625-EFCA-C436-8442-17D5C47D3E49}"/>
              </a:ext>
            </a:extLst>
          </p:cNvPr>
          <p:cNvSpPr>
            <a:spLocks noGrp="1"/>
          </p:cNvSpPr>
          <p:nvPr>
            <p:ph type="dt" sz="half" idx="10"/>
          </p:nvPr>
        </p:nvSpPr>
        <p:spPr/>
        <p:txBody>
          <a:bodyPr/>
          <a:lstStyle/>
          <a:p>
            <a:fld id="{6DCA202B-50A2-4EB6-96A0-0AC346B3B6A2}" type="datetimeFigureOut">
              <a:rPr lang="en-US" smtClean="0"/>
              <a:pPr/>
              <a:t>1/28/2026</a:t>
            </a:fld>
            <a:endParaRPr lang="en-US"/>
          </a:p>
        </p:txBody>
      </p:sp>
      <p:sp>
        <p:nvSpPr>
          <p:cNvPr id="5" name="Footer Placeholder 4">
            <a:extLst>
              <a:ext uri="{FF2B5EF4-FFF2-40B4-BE49-F238E27FC236}">
                <a16:creationId xmlns:a16="http://schemas.microsoft.com/office/drawing/2014/main" xmlns="" id="{61D694F6-CA8A-1DC7-2ECE-42ECF5C43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F0FD3E8-3756-A1C6-F5CE-74E4CB20818B}"/>
              </a:ext>
            </a:extLst>
          </p:cNvPr>
          <p:cNvSpPr>
            <a:spLocks noGrp="1"/>
          </p:cNvSpPr>
          <p:nvPr>
            <p:ph type="sldNum" sz="quarter" idx="12"/>
          </p:nvPr>
        </p:nvSpPr>
        <p:spPr/>
        <p:txBody>
          <a:body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2970016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6C241FD-E9C8-DC90-6A22-3AE6B7B09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D8670860-3A87-2536-F242-5D11885CFB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B7C33D3-ACA7-55B8-31BC-5F9CC23CAF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CA202B-50A2-4EB6-96A0-0AC346B3B6A2}" type="datetimeFigureOut">
              <a:rPr lang="en-US" smtClean="0"/>
              <a:pPr/>
              <a:t>1/28/2026</a:t>
            </a:fld>
            <a:endParaRPr lang="en-US"/>
          </a:p>
        </p:txBody>
      </p:sp>
      <p:sp>
        <p:nvSpPr>
          <p:cNvPr id="5" name="Footer Placeholder 4">
            <a:extLst>
              <a:ext uri="{FF2B5EF4-FFF2-40B4-BE49-F238E27FC236}">
                <a16:creationId xmlns:a16="http://schemas.microsoft.com/office/drawing/2014/main" xmlns="" id="{B2FB7DD8-B917-A22C-9C59-1BE9176B06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500DEE5A-3BC9-E12A-DCC4-8B45578F04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07296C-9338-4E81-A65F-52710C36A0AA}" type="slidenum">
              <a:rPr lang="en-US" smtClean="0"/>
              <a:pPr/>
              <a:t>‹#›</a:t>
            </a:fld>
            <a:endParaRPr lang="en-US"/>
          </a:p>
        </p:txBody>
      </p:sp>
    </p:spTree>
    <p:extLst>
      <p:ext uri="{BB962C8B-B14F-4D97-AF65-F5344CB8AC3E}">
        <p14:creationId xmlns:p14="http://schemas.microsoft.com/office/powerpoint/2010/main" xmlns="" val="818371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6" name="TextBox 5">
                <a:extLst>
                  <a:ext uri="{FF2B5EF4-FFF2-40B4-BE49-F238E27FC236}">
                    <a16:creationId xmlns:a16="http://schemas.microsoft.com/office/drawing/2014/main" id="{4FC28565-E2A1-E713-9CF6-05888AD2A4D4}"/>
                  </a:ext>
                </a:extLst>
              </p:cNvPr>
              <p:cNvSpPr txBox="1"/>
              <p:nvPr/>
            </p:nvSpPr>
            <p:spPr>
              <a:xfrm>
                <a:off x="514904" y="0"/>
                <a:ext cx="11345663" cy="6159763"/>
              </a:xfrm>
              <a:prstGeom prst="rect">
                <a:avLst/>
              </a:prstGeom>
              <a:noFill/>
            </p:spPr>
            <p:txBody>
              <a:bodyPr wrap="square" rtlCol="0">
                <a:spAutoFit/>
              </a:bodyPr>
              <a:lstStyle/>
              <a:p>
                <a:pPr algn="just"/>
                <a:r>
                  <a:rPr lang="en-US" sz="2800" dirty="0"/>
                  <a:t>You drive a beat-up pickup truck along a straight road for 8.4 km at 70 km/h, at which point the truck runs out of gasoline and stops. Over the next 30 min, you walk another 2.0 km farther along the road to a gasoline station.</a:t>
                </a:r>
              </a:p>
              <a:p>
                <a:pPr marL="342900" indent="-342900" algn="just">
                  <a:buAutoNum type="alphaLcParenBoth"/>
                </a:pPr>
                <a:r>
                  <a:rPr lang="en-US" sz="2800" dirty="0"/>
                  <a:t>What is your overall displacement from the beginning of your drive to your arrival at the station?</a:t>
                </a:r>
              </a:p>
              <a:p>
                <a:pPr marL="342900" indent="-342900" algn="just">
                  <a:buAutoNum type="alphaLcParenBoth"/>
                </a:pPr>
                <a:r>
                  <a:rPr lang="en-US" sz="2800" dirty="0"/>
                  <a:t>What is the time interval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𝑡</m:t>
                    </m:r>
                  </m:oMath>
                </a14:m>
                <a:r>
                  <a:rPr lang="en-US" sz="2800" dirty="0"/>
                  <a:t> from the beginning of your drive to your arrival at the station? </a:t>
                </a:r>
              </a:p>
              <a:p>
                <a:pPr marL="342900" indent="-342900" algn="just">
                  <a:buAutoNum type="alphaLcParenBoth"/>
                </a:pPr>
                <a:r>
                  <a:rPr lang="en-US" sz="2800" dirty="0"/>
                  <a:t>What is your average velocity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𝑎𝑣𝑔</m:t>
                        </m:r>
                      </m:sub>
                    </m:sSub>
                  </m:oMath>
                </a14:m>
                <a:r>
                  <a:rPr lang="en-US" sz="2800" dirty="0"/>
                  <a:t> from the beginning of your drive to your arrival at the station?</a:t>
                </a:r>
              </a:p>
              <a:p>
                <a:pPr marL="342900" indent="-342900" algn="just">
                  <a:buAutoNum type="alphaLcParenBoth"/>
                </a:pPr>
                <a:r>
                  <a:rPr lang="en-US" sz="2800" dirty="0"/>
                  <a:t>Suppose that to pump the gasoline, pay for it, and walk back to the truck takes you another 45 min. What is your average speed from the beginning of your drive to your return to the truck with the gasoline?</a:t>
                </a:r>
              </a:p>
              <a:p>
                <a:pPr marL="342900" indent="-342900" algn="just">
                  <a:buAutoNum type="alphaLcParenBoth"/>
                </a:pPr>
                <a:endParaRPr lang="en-US" sz="2800" dirty="0"/>
              </a:p>
              <a:p>
                <a:pPr marL="342900" indent="-342900" algn="just">
                  <a:buAutoNum type="alphaLcParenBoth"/>
                </a:pPr>
                <a:endParaRPr lang="en-US" sz="2800" dirty="0"/>
              </a:p>
            </p:txBody>
          </p:sp>
        </mc:Choice>
        <mc:Fallback>
          <p:sp>
            <p:nvSpPr>
              <p:cNvPr id="6" name="TextBox 5">
                <a:extLst>
                  <a:ext uri="{FF2B5EF4-FFF2-40B4-BE49-F238E27FC236}">
                    <a16:creationId xmlns:a16="http://schemas.microsoft.com/office/drawing/2014/main" xmlns="" xmlns:a14="http://schemas.microsoft.com/office/drawing/2010/main" id="{4FC28565-E2A1-E713-9CF6-05888AD2A4D4}"/>
                  </a:ext>
                </a:extLst>
              </p:cNvPr>
              <p:cNvSpPr txBox="1">
                <a:spLocks noRot="1" noChangeAspect="1" noMove="1" noResize="1" noEditPoints="1" noAdjustHandles="1" noChangeArrowheads="1" noChangeShapeType="1" noTextEdit="1"/>
              </p:cNvSpPr>
              <p:nvPr/>
            </p:nvSpPr>
            <p:spPr>
              <a:xfrm>
                <a:off x="514904" y="0"/>
                <a:ext cx="11345663" cy="6159763"/>
              </a:xfrm>
              <a:prstGeom prst="rect">
                <a:avLst/>
              </a:prstGeom>
              <a:blipFill>
                <a:blip r:embed="rId2"/>
                <a:stretch>
                  <a:fillRect l="-1128" t="-891" r="-1074"/>
                </a:stretch>
              </a:blipFill>
            </p:spPr>
            <p:txBody>
              <a:bodyPr/>
              <a:lstStyle/>
              <a:p>
                <a:r>
                  <a:rPr lang="en-US">
                    <a:noFill/>
                  </a:rPr>
                  <a:t> </a:t>
                </a:r>
              </a:p>
            </p:txBody>
          </p:sp>
        </mc:Fallback>
      </mc:AlternateContent>
    </p:spTree>
    <p:extLst>
      <p:ext uri="{BB962C8B-B14F-4D97-AF65-F5344CB8AC3E}">
        <p14:creationId xmlns:p14="http://schemas.microsoft.com/office/powerpoint/2010/main" xmlns="" val="3847294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6D402723-52E3-663E-5A09-6DA3C7135290}"/>
                  </a:ext>
                </a:extLst>
              </p:cNvPr>
              <p:cNvSpPr txBox="1"/>
              <p:nvPr/>
            </p:nvSpPr>
            <p:spPr>
              <a:xfrm>
                <a:off x="248575" y="346229"/>
                <a:ext cx="7066625" cy="923330"/>
              </a:xfrm>
              <a:prstGeom prst="rect">
                <a:avLst/>
              </a:prstGeom>
              <a:noFill/>
            </p:spPr>
            <p:txBody>
              <a:bodyPr wrap="square" rtlCol="0">
                <a:spAutoFit/>
              </a:bodyPr>
              <a:lstStyle/>
              <a:p>
                <a:r>
                  <a:rPr lang="en-US" dirty="0"/>
                  <a:t>Figure shows an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plot for an elevator cab that is initially stationary, then moves upward (which we take to be the positive direction of x), and then stops. Plot </a:t>
                </a:r>
                <a14:m>
                  <m:oMath xmlns:m="http://schemas.openxmlformats.org/officeDocument/2006/math">
                    <m:r>
                      <m:rPr>
                        <m:sty m:val="p"/>
                      </m:rPr>
                      <a:rPr lang="en-US" b="0" i="0" smtClean="0">
                        <a:solidFill>
                          <a:prstClr val="black"/>
                        </a:solidFill>
                        <a:latin typeface="Cambria Math" panose="02040503050406030204" pitchFamily="18" charset="0"/>
                      </a:rPr>
                      <m:t>v</m:t>
                    </m:r>
                    <m:d>
                      <m:dPr>
                        <m:ctrlPr>
                          <a:rPr lang="en-US" b="0" i="1" smtClean="0">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𝑡</m:t>
                        </m:r>
                      </m:e>
                    </m:d>
                  </m:oMath>
                </a14:m>
                <a:r>
                  <a:rPr lang="en-US" dirty="0">
                    <a:solidFill>
                      <a:prstClr val="black"/>
                    </a:solidFill>
                  </a:rPr>
                  <a:t> and </a:t>
                </a:r>
                <a14:m>
                  <m:oMath xmlns:m="http://schemas.openxmlformats.org/officeDocument/2006/math">
                    <m:r>
                      <m:rPr>
                        <m:sty m:val="p"/>
                      </m:rPr>
                      <a:rPr lang="en-US" dirty="0" smtClean="0">
                        <a:solidFill>
                          <a:prstClr val="black"/>
                        </a:solidFill>
                        <a:latin typeface="Cambria Math" panose="02040503050406030204" pitchFamily="18" charset="0"/>
                      </a:rPr>
                      <m:t>a</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𝑡</m:t>
                        </m:r>
                      </m:e>
                    </m:d>
                  </m:oMath>
                </a14:m>
                <a:r>
                  <a:rPr lang="en-US" dirty="0">
                    <a:solidFill>
                      <a:prstClr val="black"/>
                    </a:solidFill>
                  </a:rPr>
                  <a:t/>
                </a:r>
                <a:endParaRPr lang="en-US" dirty="0"/>
              </a:p>
            </p:txBody>
          </p:sp>
        </mc:Choice>
        <mc:Fallback>
          <p:sp>
            <p:nvSpPr>
              <p:cNvPr id="4" name="TextBox 3">
                <a:extLst>
                  <a:ext uri="{FF2B5EF4-FFF2-40B4-BE49-F238E27FC236}">
                    <a16:creationId xmlns:a16="http://schemas.microsoft.com/office/drawing/2014/main" xmlns="" xmlns:a14="http://schemas.microsoft.com/office/drawing/2010/main" id="{6D402723-52E3-663E-5A09-6DA3C7135290}"/>
                  </a:ext>
                </a:extLst>
              </p:cNvPr>
              <p:cNvSpPr txBox="1">
                <a:spLocks noRot="1" noChangeAspect="1" noMove="1" noResize="1" noEditPoints="1" noAdjustHandles="1" noChangeArrowheads="1" noChangeShapeType="1" noTextEdit="1"/>
              </p:cNvSpPr>
              <p:nvPr/>
            </p:nvSpPr>
            <p:spPr>
              <a:xfrm>
                <a:off x="248575" y="346229"/>
                <a:ext cx="7066625" cy="923330"/>
              </a:xfrm>
              <a:prstGeom prst="rect">
                <a:avLst/>
              </a:prstGeom>
              <a:blipFill>
                <a:blip r:embed="rId2"/>
                <a:stretch>
                  <a:fillRect l="-777" t="-3974" b="-993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484CE95F-97A2-0449-02B1-572DDAF33D9E}"/>
              </a:ext>
            </a:extLst>
          </p:cNvPr>
          <p:cNvPicPr>
            <a:picLocks noChangeAspect="1"/>
          </p:cNvPicPr>
          <p:nvPr/>
        </p:nvPicPr>
        <p:blipFill>
          <a:blip r:embed="rId3"/>
          <a:stretch>
            <a:fillRect/>
          </a:stretch>
        </p:blipFill>
        <p:spPr>
          <a:xfrm>
            <a:off x="7528265" y="187633"/>
            <a:ext cx="4031988" cy="2824309"/>
          </a:xfrm>
          <a:prstGeom prst="rect">
            <a:avLst/>
          </a:prstGeom>
        </p:spPr>
      </p:pic>
      <p:pic>
        <p:nvPicPr>
          <p:cNvPr id="8" name="Picture 7">
            <a:extLst>
              <a:ext uri="{FF2B5EF4-FFF2-40B4-BE49-F238E27FC236}">
                <a16:creationId xmlns:a16="http://schemas.microsoft.com/office/drawing/2014/main" xmlns="" id="{0A288444-E7B8-0011-E897-CDE246A8FA9D}"/>
              </a:ext>
            </a:extLst>
          </p:cNvPr>
          <p:cNvPicPr>
            <a:picLocks noChangeAspect="1"/>
          </p:cNvPicPr>
          <p:nvPr/>
        </p:nvPicPr>
        <p:blipFill>
          <a:blip r:embed="rId4"/>
          <a:stretch>
            <a:fillRect/>
          </a:stretch>
        </p:blipFill>
        <p:spPr>
          <a:xfrm>
            <a:off x="5826111" y="3840722"/>
            <a:ext cx="4542176" cy="2671049"/>
          </a:xfrm>
          <a:prstGeom prst="rect">
            <a:avLst/>
          </a:prstGeom>
        </p:spPr>
      </p:pic>
      <p:pic>
        <p:nvPicPr>
          <p:cNvPr id="10" name="Picture 9">
            <a:extLst>
              <a:ext uri="{FF2B5EF4-FFF2-40B4-BE49-F238E27FC236}">
                <a16:creationId xmlns:a16="http://schemas.microsoft.com/office/drawing/2014/main" xmlns="" id="{0E19B40E-6A59-6B6A-1390-B7546DC65FC2}"/>
              </a:ext>
            </a:extLst>
          </p:cNvPr>
          <p:cNvPicPr>
            <a:picLocks noChangeAspect="1"/>
          </p:cNvPicPr>
          <p:nvPr/>
        </p:nvPicPr>
        <p:blipFill>
          <a:blip r:embed="rId5"/>
          <a:stretch>
            <a:fillRect/>
          </a:stretch>
        </p:blipFill>
        <p:spPr>
          <a:xfrm>
            <a:off x="1237580" y="3089429"/>
            <a:ext cx="4379928" cy="2463097"/>
          </a:xfrm>
          <a:prstGeom prst="rect">
            <a:avLst/>
          </a:prstGeom>
        </p:spPr>
      </p:pic>
    </p:spTree>
    <p:extLst>
      <p:ext uri="{BB962C8B-B14F-4D97-AF65-F5344CB8AC3E}">
        <p14:creationId xmlns:p14="http://schemas.microsoft.com/office/powerpoint/2010/main" xmlns="" val="411813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368647BB-3685-B821-B0AC-C3D2176A5A36}"/>
                  </a:ext>
                </a:extLst>
              </p:cNvPr>
              <p:cNvSpPr txBox="1"/>
              <p:nvPr/>
            </p:nvSpPr>
            <p:spPr>
              <a:xfrm>
                <a:off x="790112" y="248574"/>
                <a:ext cx="10830758" cy="2677656"/>
              </a:xfrm>
              <a:prstGeom prst="rect">
                <a:avLst/>
              </a:prstGeom>
              <a:noFill/>
            </p:spPr>
            <p:txBody>
              <a:bodyPr wrap="square" rtlCol="0">
                <a:spAutoFit/>
              </a:bodyPr>
              <a:lstStyle/>
              <a:p>
                <a:pPr algn="just"/>
                <a:r>
                  <a:rPr lang="en-US" sz="2800" dirty="0"/>
                  <a:t>A particle’s position on the x-axis is given by </a:t>
                </a:r>
                <a14:m>
                  <m:oMath xmlns:m="http://schemas.openxmlformats.org/officeDocument/2006/math">
                    <m:r>
                      <a:rPr lang="en-US" sz="2800" b="0" i="1" smtClean="0">
                        <a:latin typeface="Cambria Math" panose="02040503050406030204" pitchFamily="18" charset="0"/>
                      </a:rPr>
                      <m:t>𝑥</m:t>
                    </m:r>
                    <m:r>
                      <a:rPr lang="en-US" sz="2800" b="0" i="1" smtClean="0">
                        <a:latin typeface="Cambria Math" panose="02040503050406030204" pitchFamily="18" charset="0"/>
                      </a:rPr>
                      <m:t>=4−27</m:t>
                    </m:r>
                    <m:r>
                      <a:rPr lang="en-US" sz="2800" b="0" i="1" smtClean="0">
                        <a:latin typeface="Cambria Math" panose="02040503050406030204" pitchFamily="18" charset="0"/>
                      </a:rPr>
                      <m:t>𝑡</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𝑡</m:t>
                        </m:r>
                      </m:e>
                      <m:sup>
                        <m:r>
                          <a:rPr lang="en-US" sz="2800" b="0" i="1" smtClean="0">
                            <a:latin typeface="Cambria Math" panose="02040503050406030204" pitchFamily="18" charset="0"/>
                          </a:rPr>
                          <m:t>3</m:t>
                        </m:r>
                      </m:sup>
                    </m:sSup>
                    <m:r>
                      <a:rPr lang="en-US" sz="2800" b="0" i="1" smtClean="0">
                        <a:latin typeface="Cambria Math" panose="02040503050406030204" pitchFamily="18" charset="0"/>
                      </a:rPr>
                      <m:t>,</m:t>
                    </m:r>
                  </m:oMath>
                </a14:m>
                <a:r>
                  <a:rPr lang="en-US" sz="2800" dirty="0"/>
                  <a:t> with x in meters and t in seconds.</a:t>
                </a:r>
              </a:p>
              <a:p>
                <a:pPr marL="342900" indent="-342900" algn="just">
                  <a:buAutoNum type="alphaLcParenBoth"/>
                </a:pPr>
                <a:r>
                  <a:rPr lang="en-US" sz="2800" dirty="0"/>
                  <a:t>Because position x depends on time t, the particle must be moving. Find the particle’s velocity function v(t) and acceleration function a(t). </a:t>
                </a:r>
              </a:p>
              <a:p>
                <a:pPr marL="342900" indent="-342900" algn="just">
                  <a:buAutoNum type="alphaLcParenBoth"/>
                </a:pPr>
                <a:r>
                  <a:rPr lang="en-US" sz="2800" dirty="0"/>
                  <a:t>Is there ever a time when v=0?</a:t>
                </a:r>
              </a:p>
              <a:p>
                <a:pPr marL="342900" indent="-342900" algn="just">
                  <a:buAutoNum type="alphaLcParenBoth"/>
                </a:pPr>
                <a:r>
                  <a:rPr lang="en-US" sz="2800" dirty="0"/>
                  <a:t>Describe the particle’s motion for </a:t>
                </a:r>
                <a14:m>
                  <m:oMath xmlns:m="http://schemas.openxmlformats.org/officeDocument/2006/math">
                    <m:r>
                      <a:rPr lang="en-US" sz="2800" b="0" i="1" smtClean="0">
                        <a:latin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≥0.</m:t>
                    </m:r>
                  </m:oMath>
                </a14:m>
                <a:endParaRPr lang="en-US" sz="2800" dirty="0"/>
              </a:p>
            </p:txBody>
          </p:sp>
        </mc:Choice>
        <mc:Fallback>
          <p:sp>
            <p:nvSpPr>
              <p:cNvPr id="4" name="TextBox 3">
                <a:extLst>
                  <a:ext uri="{FF2B5EF4-FFF2-40B4-BE49-F238E27FC236}">
                    <a16:creationId xmlns:a16="http://schemas.microsoft.com/office/drawing/2014/main" xmlns="" xmlns:a14="http://schemas.microsoft.com/office/drawing/2010/main" id="{368647BB-3685-B821-B0AC-C3D2176A5A36}"/>
                  </a:ext>
                </a:extLst>
              </p:cNvPr>
              <p:cNvSpPr txBox="1">
                <a:spLocks noRot="1" noChangeAspect="1" noMove="1" noResize="1" noEditPoints="1" noAdjustHandles="1" noChangeArrowheads="1" noChangeShapeType="1" noTextEdit="1"/>
              </p:cNvSpPr>
              <p:nvPr/>
            </p:nvSpPr>
            <p:spPr>
              <a:xfrm>
                <a:off x="790112" y="248574"/>
                <a:ext cx="10830758" cy="2677656"/>
              </a:xfrm>
              <a:prstGeom prst="rect">
                <a:avLst/>
              </a:prstGeom>
              <a:blipFill>
                <a:blip r:embed="rId2"/>
                <a:stretch>
                  <a:fillRect l="-1182" t="-2278" r="-1182" b="-5695"/>
                </a:stretch>
              </a:blipFill>
            </p:spPr>
            <p:txBody>
              <a:bodyPr/>
              <a:lstStyle/>
              <a:p>
                <a:r>
                  <a:rPr lang="en-US">
                    <a:noFill/>
                  </a:rPr>
                  <a:t> </a:t>
                </a:r>
              </a:p>
            </p:txBody>
          </p:sp>
        </mc:Fallback>
      </mc:AlternateContent>
    </p:spTree>
    <p:extLst>
      <p:ext uri="{BB962C8B-B14F-4D97-AF65-F5344CB8AC3E}">
        <p14:creationId xmlns:p14="http://schemas.microsoft.com/office/powerpoint/2010/main" xmlns="" val="173755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490600"/>
            <a:ext cx="11082068" cy="2246769"/>
          </a:xfrm>
          <a:prstGeom prst="rect">
            <a:avLst/>
          </a:prstGeom>
        </p:spPr>
        <p:txBody>
          <a:bodyPr wrap="square">
            <a:spAutoFit/>
          </a:bodyPr>
          <a:lstStyle/>
          <a:p>
            <a:r>
              <a:rPr lang="en-US" sz="2800" dirty="0" smtClean="0"/>
              <a:t>A jet lands on an aircraft carrier at 140 mi/h (63 m/s). </a:t>
            </a:r>
          </a:p>
          <a:p>
            <a:pPr marL="514350" indent="-514350">
              <a:buAutoNum type="alphaUcParenBoth"/>
            </a:pPr>
            <a:r>
              <a:rPr lang="en-US" sz="2800" dirty="0" smtClean="0"/>
              <a:t>What is its acceleration (assumed constant) if it stops in 2.0 s due to an arresting cable that snags the airplane and brings it to a stop? </a:t>
            </a:r>
          </a:p>
          <a:p>
            <a:pPr marL="514350" indent="-514350">
              <a:buAutoNum type="alphaUcParenBoth"/>
            </a:pPr>
            <a:r>
              <a:rPr lang="en-US" sz="2800" dirty="0" smtClean="0"/>
              <a:t>If the plane touches down at position </a:t>
            </a:r>
            <a:r>
              <a:rPr lang="en-US" sz="2800" i="1" dirty="0" smtClean="0"/>
              <a:t>x</a:t>
            </a:r>
            <a:r>
              <a:rPr lang="en-US" sz="2800" i="1" baseline="-25000" dirty="0" smtClean="0"/>
              <a:t>i</a:t>
            </a:r>
            <a:r>
              <a:rPr lang="en-US" sz="2800" i="1" dirty="0" smtClean="0"/>
              <a:t>=</a:t>
            </a:r>
            <a:r>
              <a:rPr lang="en-US" sz="2800" dirty="0" smtClean="0"/>
              <a:t>0, what is the final position of the plane? </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65848" y="550032"/>
            <a:ext cx="10271185" cy="1569660"/>
          </a:xfrm>
          <a:prstGeom prst="rect">
            <a:avLst/>
          </a:prstGeom>
        </p:spPr>
        <p:txBody>
          <a:bodyPr wrap="square">
            <a:spAutoFit/>
          </a:bodyPr>
          <a:lstStyle/>
          <a:p>
            <a:r>
              <a:rPr lang="en-US" sz="2400" dirty="0" smtClean="0"/>
              <a:t>A car traveling at a constant speed of 45.0 m/s passes a trooper hidden behind a billboard. One second after the speeding car passes the billboard, the trooper sets out from the billboard to catch it, accelerating at a constant rate of 3.00 m/s</a:t>
            </a:r>
            <a:r>
              <a:rPr lang="en-US" sz="2400" baseline="30000" dirty="0" smtClean="0"/>
              <a:t>2</a:t>
            </a:r>
            <a:r>
              <a:rPr lang="en-US" sz="2400" dirty="0" smtClean="0"/>
              <a:t>. How long does it take her to overtake the car? </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5C551EB-8A09-A19F-B75B-5F654CC5F7EA}"/>
              </a:ext>
            </a:extLst>
          </p:cNvPr>
          <p:cNvSpPr txBox="1"/>
          <p:nvPr/>
        </p:nvSpPr>
        <p:spPr>
          <a:xfrm>
            <a:off x="222735" y="-75188"/>
            <a:ext cx="11171977" cy="3046988"/>
          </a:xfrm>
          <a:prstGeom prst="rect">
            <a:avLst/>
          </a:prstGeom>
          <a:noFill/>
        </p:spPr>
        <p:txBody>
          <a:bodyPr wrap="square">
            <a:spAutoFit/>
          </a:bodyPr>
          <a:lstStyle/>
          <a:p>
            <a:pPr algn="just"/>
            <a:r>
              <a:rPr lang="en-US" sz="2400" b="0" i="0" dirty="0">
                <a:solidFill>
                  <a:srgbClr val="231F20"/>
                </a:solidFill>
                <a:effectLst/>
                <a:latin typeface="Times New Roman" panose="02020603050405020304" pitchFamily="18" charset="0"/>
                <a:cs typeface="Times New Roman" panose="02020603050405020304" pitchFamily="18" charset="0"/>
              </a:rPr>
              <a:t>A popular web video shows a jet airplane, a car, and a motorcycle racing from rest along a runway (As in the Fig.). Initially the motorcycle takes the lead, but then the jet takes the lead, and finally the car blows past the motorcycle. Here let’s focus on the car and motorcycle and assign some reasonable values to the motion. The motorcycle first takes the lead because its (constant) acceleration am 8.40 m/s</a:t>
            </a:r>
            <a:r>
              <a:rPr lang="en-US" sz="2400" b="0" i="0" baseline="30000" dirty="0">
                <a:solidFill>
                  <a:srgbClr val="231F20"/>
                </a:solidFill>
                <a:effectLst/>
                <a:latin typeface="Times New Roman" panose="02020603050405020304" pitchFamily="18" charset="0"/>
                <a:cs typeface="Times New Roman" panose="02020603050405020304" pitchFamily="18" charset="0"/>
              </a:rPr>
              <a:t>2</a:t>
            </a:r>
            <a:r>
              <a:rPr lang="en-US" sz="2400" b="0" i="0" dirty="0">
                <a:solidFill>
                  <a:srgbClr val="231F20"/>
                </a:solidFill>
                <a:effectLst/>
                <a:latin typeface="Times New Roman" panose="02020603050405020304" pitchFamily="18" charset="0"/>
                <a:cs typeface="Times New Roman" panose="02020603050405020304" pitchFamily="18" charset="0"/>
              </a:rPr>
              <a:t> is greater than the car’s (constant) acceleration ac 5.60 m/s</a:t>
            </a:r>
            <a:r>
              <a:rPr lang="en-US" sz="2400" b="0" i="0" baseline="30000" dirty="0">
                <a:solidFill>
                  <a:srgbClr val="231F20"/>
                </a:solidFill>
                <a:effectLst/>
                <a:latin typeface="Times New Roman" panose="02020603050405020304" pitchFamily="18" charset="0"/>
                <a:cs typeface="Times New Roman" panose="02020603050405020304" pitchFamily="18" charset="0"/>
              </a:rPr>
              <a:t>2</a:t>
            </a:r>
            <a:r>
              <a:rPr lang="en-US" sz="2400" b="0" i="0" dirty="0">
                <a:solidFill>
                  <a:srgbClr val="231F20"/>
                </a:solidFill>
                <a:effectLst/>
                <a:latin typeface="Times New Roman" panose="02020603050405020304" pitchFamily="18" charset="0"/>
                <a:cs typeface="Times New Roman" panose="02020603050405020304" pitchFamily="18" charset="0"/>
              </a:rPr>
              <a:t>, but it soon loses to the car because it reaches its greatest speed v</a:t>
            </a:r>
            <a:r>
              <a:rPr lang="en-US" sz="2400" b="0" i="0" baseline="-25000" dirty="0">
                <a:solidFill>
                  <a:srgbClr val="231F20"/>
                </a:solidFill>
                <a:effectLst/>
                <a:latin typeface="Times New Roman" panose="02020603050405020304" pitchFamily="18" charset="0"/>
                <a:cs typeface="Times New Roman" panose="02020603050405020304" pitchFamily="18" charset="0"/>
              </a:rPr>
              <a:t>m</a:t>
            </a:r>
            <a:r>
              <a:rPr lang="en-US" sz="2400" b="0" i="0" dirty="0">
                <a:solidFill>
                  <a:srgbClr val="231F20"/>
                </a:solidFill>
                <a:effectLst/>
                <a:latin typeface="Times New Roman" panose="02020603050405020304" pitchFamily="18" charset="0"/>
                <a:cs typeface="Times New Roman" panose="02020603050405020304" pitchFamily="18" charset="0"/>
              </a:rPr>
              <a:t> 58.8 m/s before the car reaches its greatest speed v</a:t>
            </a:r>
            <a:r>
              <a:rPr lang="en-US" sz="2400" b="0" i="0" baseline="-25000" dirty="0">
                <a:solidFill>
                  <a:srgbClr val="231F20"/>
                </a:solidFill>
                <a:effectLst/>
                <a:latin typeface="Times New Roman" panose="02020603050405020304" pitchFamily="18" charset="0"/>
                <a:cs typeface="Times New Roman" panose="02020603050405020304" pitchFamily="18" charset="0"/>
              </a:rPr>
              <a:t>c</a:t>
            </a:r>
            <a:r>
              <a:rPr lang="en-US" sz="2400" b="0" i="0" dirty="0">
                <a:solidFill>
                  <a:srgbClr val="231F20"/>
                </a:solidFill>
                <a:effectLst/>
                <a:latin typeface="Times New Roman" panose="02020603050405020304" pitchFamily="18" charset="0"/>
                <a:cs typeface="Times New Roman" panose="02020603050405020304" pitchFamily="18" charset="0"/>
              </a:rPr>
              <a:t> 106 m/s. How long does the car take to reach the motorcycle?</a:t>
            </a:r>
            <a:r>
              <a:rPr lang="en-US" sz="24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xmlns="" id="{F2554FA9-D8B6-0980-4B19-9EFF25E13504}"/>
              </a:ext>
            </a:extLst>
          </p:cNvPr>
          <p:cNvPicPr>
            <a:picLocks noChangeAspect="1"/>
          </p:cNvPicPr>
          <p:nvPr/>
        </p:nvPicPr>
        <p:blipFill>
          <a:blip r:embed="rId2"/>
          <a:stretch>
            <a:fillRect/>
          </a:stretch>
        </p:blipFill>
        <p:spPr>
          <a:xfrm>
            <a:off x="501151" y="3074428"/>
            <a:ext cx="5307572" cy="3512986"/>
          </a:xfrm>
          <a:prstGeom prst="rect">
            <a:avLst/>
          </a:prstGeom>
        </p:spPr>
      </p:pic>
      <p:sp>
        <p:nvSpPr>
          <p:cNvPr id="6" name="TextBox 5">
            <a:extLst>
              <a:ext uri="{FF2B5EF4-FFF2-40B4-BE49-F238E27FC236}">
                <a16:creationId xmlns:a16="http://schemas.microsoft.com/office/drawing/2014/main" xmlns="" id="{2D1358A7-298F-9010-FC1C-63772CE97E32}"/>
              </a:ext>
            </a:extLst>
          </p:cNvPr>
          <p:cNvSpPr txBox="1"/>
          <p:nvPr/>
        </p:nvSpPr>
        <p:spPr>
          <a:xfrm>
            <a:off x="8080310" y="5553259"/>
            <a:ext cx="2062066" cy="369332"/>
          </a:xfrm>
          <a:prstGeom prst="rect">
            <a:avLst/>
          </a:prstGeom>
          <a:noFill/>
        </p:spPr>
        <p:txBody>
          <a:bodyPr wrap="square" rtlCol="0">
            <a:spAutoFit/>
          </a:bodyPr>
          <a:lstStyle/>
          <a:p>
            <a:r>
              <a:rPr lang="en-US" dirty="0"/>
              <a:t>ANS: 16.6 S</a:t>
            </a:r>
          </a:p>
        </p:txBody>
      </p:sp>
      <p:pic>
        <p:nvPicPr>
          <p:cNvPr id="8" name="Picture 7">
            <a:extLst>
              <a:ext uri="{FF2B5EF4-FFF2-40B4-BE49-F238E27FC236}">
                <a16:creationId xmlns:a16="http://schemas.microsoft.com/office/drawing/2014/main" xmlns="" id="{D71661EF-E745-A877-EA28-3DBBB69C2302}"/>
              </a:ext>
            </a:extLst>
          </p:cNvPr>
          <p:cNvPicPr>
            <a:picLocks noChangeAspect="1"/>
          </p:cNvPicPr>
          <p:nvPr/>
        </p:nvPicPr>
        <p:blipFill>
          <a:blip r:embed="rId3"/>
          <a:stretch>
            <a:fillRect/>
          </a:stretch>
        </p:blipFill>
        <p:spPr>
          <a:xfrm>
            <a:off x="4272346" y="1549699"/>
            <a:ext cx="6972300" cy="4695825"/>
          </a:xfrm>
          <a:prstGeom prst="rect">
            <a:avLst/>
          </a:prstGeom>
        </p:spPr>
      </p:pic>
    </p:spTree>
    <p:extLst>
      <p:ext uri="{BB962C8B-B14F-4D97-AF65-F5344CB8AC3E}">
        <p14:creationId xmlns:p14="http://schemas.microsoft.com/office/powerpoint/2010/main" xmlns="" val="23307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C02882D2-AF6B-804A-C2D5-32045EF3407A}"/>
              </a:ext>
            </a:extLst>
          </p:cNvPr>
          <p:cNvSpPr txBox="1"/>
          <p:nvPr/>
        </p:nvSpPr>
        <p:spPr>
          <a:xfrm>
            <a:off x="559292" y="257452"/>
            <a:ext cx="8602463" cy="3539430"/>
          </a:xfrm>
          <a:prstGeom prst="rect">
            <a:avLst/>
          </a:prstGeom>
          <a:noFill/>
        </p:spPr>
        <p:txBody>
          <a:bodyPr wrap="square" rtlCol="0">
            <a:spAutoFit/>
          </a:bodyPr>
          <a:lstStyle/>
          <a:p>
            <a:r>
              <a:rPr lang="en-US" sz="2800" dirty="0"/>
              <a:t>As in the figure, a pitcher tosses a baseball up along a y-axis, with an initial speed of 12 m/s.</a:t>
            </a:r>
          </a:p>
          <a:p>
            <a:pPr marL="342900" indent="-342900">
              <a:buAutoNum type="alphaLcParenBoth"/>
            </a:pPr>
            <a:r>
              <a:rPr lang="en-US" sz="2800" dirty="0"/>
              <a:t>How long does the ball take to reach its maximum height?</a:t>
            </a:r>
          </a:p>
          <a:p>
            <a:pPr marL="342900" indent="-342900">
              <a:buAutoNum type="alphaLcParenBoth"/>
            </a:pPr>
            <a:r>
              <a:rPr lang="en-US" sz="2800" dirty="0"/>
              <a:t>What is the ball’s maximum height above its release point?</a:t>
            </a:r>
          </a:p>
          <a:p>
            <a:pPr marL="342900" indent="-342900">
              <a:buAutoNum type="alphaLcParenBoth"/>
            </a:pPr>
            <a:r>
              <a:rPr lang="en-US" sz="2800" dirty="0"/>
              <a:t>How long does the ball take to reach a point 5.0 m above its release point?</a:t>
            </a:r>
          </a:p>
        </p:txBody>
      </p:sp>
      <p:pic>
        <p:nvPicPr>
          <p:cNvPr id="10" name="Picture 9">
            <a:extLst>
              <a:ext uri="{FF2B5EF4-FFF2-40B4-BE49-F238E27FC236}">
                <a16:creationId xmlns:a16="http://schemas.microsoft.com/office/drawing/2014/main" xmlns="" id="{44626BF0-A0AB-2DB9-F392-342D97B4E3C8}"/>
              </a:ext>
            </a:extLst>
          </p:cNvPr>
          <p:cNvPicPr>
            <a:picLocks noChangeAspect="1"/>
          </p:cNvPicPr>
          <p:nvPr/>
        </p:nvPicPr>
        <p:blipFill>
          <a:blip r:embed="rId2"/>
          <a:stretch>
            <a:fillRect/>
          </a:stretch>
        </p:blipFill>
        <p:spPr>
          <a:xfrm>
            <a:off x="8886547" y="447839"/>
            <a:ext cx="3139345" cy="5962322"/>
          </a:xfrm>
          <a:prstGeom prst="rect">
            <a:avLst/>
          </a:prstGeom>
        </p:spPr>
      </p:pic>
    </p:spTree>
    <p:extLst>
      <p:ext uri="{BB962C8B-B14F-4D97-AF65-F5344CB8AC3E}">
        <p14:creationId xmlns:p14="http://schemas.microsoft.com/office/powerpoint/2010/main" xmlns="" val="1163596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322</Words>
  <Application>Microsoft Office PowerPoint</Application>
  <PresentationFormat>Custom</PresentationFormat>
  <Paragraphs>13</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akabir</dc:creator>
  <cp:lastModifiedBy>AMAR PC</cp:lastModifiedBy>
  <cp:revision>11</cp:revision>
  <dcterms:created xsi:type="dcterms:W3CDTF">2022-09-30T14:27:38Z</dcterms:created>
  <dcterms:modified xsi:type="dcterms:W3CDTF">2026-01-28T15:27:15Z</dcterms:modified>
</cp:coreProperties>
</file>