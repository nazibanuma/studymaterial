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EFE365-45AE-F159-09A9-3A23FAD3A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02B8FC3-1108-2CE9-1FAC-B29AB6306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3C233E-2B23-3F8F-E448-2A52EA5D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E7BEA2B-F696-BAD8-EEBE-6FA30134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D6F4D3-EBC5-0FBE-3164-735F252E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349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1D8C73-9FF6-3FC6-43E3-EF347A80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F57F51-437A-44CE-01C0-E987AB30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2A6C8CB-62BF-6450-4051-3D4EA8A9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A3AEB6-2712-11F4-997A-2B6C9678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E51BCB-264E-D913-5FD9-0910499C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71806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F65238-4D2B-3713-02E7-63EAD8D3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9743B9-3BE6-AE75-8E97-C61649AED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1799F3-5477-93B7-1A49-71604C62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3AAB12-9438-BE61-1B4A-A25E96E8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7BF728-60F9-D175-3883-4EF6809D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26152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0A9D8E-97E6-A095-3FFC-4EEA006B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122DD9-C8E9-73BC-9CD1-0F63CE695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9C19C31-EB88-3C9D-9199-5586B0450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38AE4EF-E548-5377-A8BB-3241F19A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8AB18F3-13D2-A7A1-E937-8E74872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5B705D1-2CB2-C9B1-D833-9A574515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299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9C6AFF-17F7-C8FC-A0CD-AE83F300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F626790-EB85-D947-F24E-16DA5A202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ED8C908-8E5D-CD67-8DAE-CD5D728C3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74215DE-93E5-8B39-8440-A6304EB47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57238F8-4F69-16F1-3E25-196F4E0D2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11A9D04-05E5-8A51-C7E6-7D270C41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96BCB5-D9F9-443F-E53C-D8A9F4C6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E41FEAE-6186-2E4D-401B-EABD3B21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45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ED1630-CCDD-9C3D-95AC-C4F75EEC3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E179F2C-2CFC-69D1-4B22-CB8A8CC0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53A6C25-8CBA-743B-308C-6BF88BA5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E9A2D54-302C-A2AC-7C5A-8F1DC664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3830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8215216-16B8-98A5-DB13-8D2DFDB8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5E0C8FB-E528-6CE5-DF85-F9F54424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666A48D-C2B0-3577-C868-B972D9733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045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79C21D-917C-D86F-88AE-AECB7C13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9C01C3-278C-65A3-A0C9-86799477C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8CC4518-5F6B-418B-3164-3F8F0E6E9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248B96-BA9A-B390-74B1-A0D996D5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188379C-1DC0-ADD0-02C0-1F6B027A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598B419-E17C-A3A2-ECE0-0026C013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968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100978-8038-95B6-BDDA-C100F44C0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44C0A45-0F01-43CF-86FF-C1F931BBD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D14ACFA-720F-CF26-91E3-7BF2F8748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2F9E8BA-AD1E-7EC7-09FC-14AB03158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538B2C-004D-FB4D-496C-ED298248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37AAE69-FB72-2F54-B18D-C5FD92CC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525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B65974-2C4D-18BF-F2C2-8D5C4BA0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8FDD689-785F-B0E2-B145-8DFE3AABB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5FC5A6-6DC9-16CE-89D3-B673C1DF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58AEB3-84FE-00EB-19D6-C53D200F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C6D3AF-A0C5-7CD4-080F-655DE97B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469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4352351-FF9A-0ADE-0991-409D04C17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C8E4EE3-88FE-47A1-0D6D-946C0B900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E033A8-8A02-D12D-02DF-3F99369B6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139E53-CDB9-41F8-EBCF-FECE8D7A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1883A2-69CE-5C76-C73D-D32D672D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748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3BA8868-8F1B-F1A6-A31E-583FFB4D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D44630-FCE7-237D-EF9B-143A1409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950A61-9FA1-A410-87E7-40130096C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A3E42-2FA7-449B-A6D0-8A9EC7D1D168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B97C8-B9D7-B24B-C5ED-994645265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4A259D-CB7E-6E2B-ACD6-27C2018B9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40138-F8EF-4E2D-9D9F-09040A96D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365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CBD4F7-6C9D-F4E6-7683-4593A1AB7699}"/>
                  </a:ext>
                </a:extLst>
              </p:cNvPr>
              <p:cNvSpPr txBox="1"/>
              <p:nvPr/>
            </p:nvSpPr>
            <p:spPr>
              <a:xfrm>
                <a:off x="812488" y="107348"/>
                <a:ext cx="10870526" cy="2351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As in the figure, three forces, each of magnitude 2.0 N, act on a particle. The particle is in the </a:t>
                </a:r>
                <a:r>
                  <a:rPr lang="en-US" sz="2800" dirty="0" err="1"/>
                  <a:t>xz</a:t>
                </a:r>
                <a:r>
                  <a:rPr lang="en-US" sz="2800" dirty="0"/>
                  <a:t> plane at point A given by position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sz="2800" dirty="0"/>
                  <a:t>, where r=3.0 m and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=30°</m:t>
                    </m:r>
                  </m:oMath>
                </a14:m>
                <a:r>
                  <a:rPr lang="en-US" sz="2800" dirty="0"/>
                  <a:t>.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parallel to the x axis,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is parallel to the z-axis,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 is parallel to the y-axis. What is the torque, about the origin O, due each force?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F3CBD4F7-6C9D-F4E6-7683-4593A1AB7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88" y="107348"/>
                <a:ext cx="10870526" cy="2351285"/>
              </a:xfrm>
              <a:prstGeom prst="rect">
                <a:avLst/>
              </a:prstGeom>
              <a:blipFill>
                <a:blip r:embed="rId2"/>
                <a:stretch>
                  <a:fillRect l="-1121" t="-2597" r="-1121" b="-6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4B09417-8518-EBB0-1FF5-CD1606597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9295"/>
            <a:ext cx="2771775" cy="441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25E3BE7-398A-A86F-242B-207E4B1DB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758" y="3598970"/>
            <a:ext cx="2819400" cy="1857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C72CBE70-F086-DE29-3EF2-3E658FBC3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388" y="3408470"/>
            <a:ext cx="2076450" cy="2381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BD989376-EF9B-3562-EC76-03CF66D7C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747" y="3424089"/>
            <a:ext cx="21621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2129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392F4E5-C0E2-4A03-9EE9-25DB2EE39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39" y="3333361"/>
            <a:ext cx="3638550" cy="2057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2B0CD8-EF32-3C6C-13D3-9C946003167E}"/>
                  </a:ext>
                </a:extLst>
              </p:cNvPr>
              <p:cNvSpPr txBox="1"/>
              <p:nvPr/>
            </p:nvSpPr>
            <p:spPr>
              <a:xfrm>
                <a:off x="585926" y="307910"/>
                <a:ext cx="11070455" cy="2729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Figure shows an overhead view of two particles moving at constant momentum along horizontal paths. Particle 1, with momentum magnitude p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=5.0 </a:t>
                </a:r>
                <a:r>
                  <a:rPr lang="en-US" sz="2800" dirty="0" err="1"/>
                  <a:t>kg.m</a:t>
                </a:r>
                <a:r>
                  <a:rPr lang="en-US" sz="2800" dirty="0"/>
                  <a:t>/s, has position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and will pass 2.0 m from point O. Particle 2, with momentum magnitude p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=2.0 </a:t>
                </a:r>
                <a:r>
                  <a:rPr lang="en-US" sz="2800" dirty="0" err="1"/>
                  <a:t>kg.m</a:t>
                </a:r>
                <a:r>
                  <a:rPr lang="en-US" sz="2800" dirty="0"/>
                  <a:t>/s, has position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and will pass 4.0 m from point O. What are the magnitude and direction of the net angular momentum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US" sz="2800" dirty="0"/>
                  <a:t> about point O of the two-particle system?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192B0CD8-EF32-3C6C-13D3-9C9460031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6" y="307910"/>
                <a:ext cx="11070455" cy="2729914"/>
              </a:xfrm>
              <a:prstGeom prst="rect">
                <a:avLst/>
              </a:prstGeom>
              <a:blipFill>
                <a:blip r:embed="rId3"/>
                <a:stretch>
                  <a:fillRect l="-1101" t="-2237" r="-1156" b="-5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0220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2403" y="108009"/>
            <a:ext cx="8246229" cy="368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4988" y="3787177"/>
            <a:ext cx="39909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FB45A9A-107C-0A97-F32B-5988EE117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716" y="0"/>
            <a:ext cx="3924300" cy="54959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6D69E-8C3A-3E70-772F-6C90AFBBB32D}"/>
                  </a:ext>
                </a:extLst>
              </p:cNvPr>
              <p:cNvSpPr txBox="1"/>
              <p:nvPr/>
            </p:nvSpPr>
            <p:spPr>
              <a:xfrm>
                <a:off x="279918" y="690465"/>
                <a:ext cx="7193902" cy="3269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In figure, a penguin of mass m falls from rest at point A, a horizontal distance D from the origin O of an </a:t>
                </a:r>
                <a:r>
                  <a:rPr lang="en-US" sz="2800" dirty="0" err="1"/>
                  <a:t>xyz</a:t>
                </a:r>
                <a:r>
                  <a:rPr lang="en-US" sz="2800" dirty="0"/>
                  <a:t> coordinate system.</a:t>
                </a:r>
              </a:p>
              <a:p>
                <a:pPr algn="just"/>
                <a:r>
                  <a:rPr lang="en-US" sz="2800" dirty="0"/>
                  <a:t>(a) What is the angular momentum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en-US" sz="2800" dirty="0"/>
                  <a:t> of the falling penguin about O?</a:t>
                </a:r>
              </a:p>
              <a:p>
                <a:pPr algn="just"/>
                <a:r>
                  <a:rPr lang="en-US" sz="2800" dirty="0"/>
                  <a:t>(b) About the origin O, what is the torque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en-US" sz="2800" dirty="0"/>
                  <a:t> on the penguin due to the gravitational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096D69E-8C3A-3E70-772F-6C90AFBBB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18" y="690465"/>
                <a:ext cx="7193902" cy="3269421"/>
              </a:xfrm>
              <a:prstGeom prst="rect">
                <a:avLst/>
              </a:prstGeom>
              <a:blipFill>
                <a:blip r:embed="rId3"/>
                <a:stretch>
                  <a:fillRect l="-1780" t="-1676" r="-1695" b="-3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97244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09FC84-ADEC-08C1-C7B4-77A9FC5B4497}"/>
                  </a:ext>
                </a:extLst>
              </p:cNvPr>
              <p:cNvSpPr txBox="1"/>
              <p:nvPr/>
            </p:nvSpPr>
            <p:spPr>
              <a:xfrm>
                <a:off x="923278" y="177554"/>
                <a:ext cx="1019156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A cockroach with mass m rides on a disk of mass 6.00m and radius R. The disk rotates like a merry-go-round around its central axis at angular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=1.50</m:t>
                    </m:r>
                  </m:oMath>
                </a14:m>
                <a:r>
                  <a:rPr lang="en-US" sz="2800" dirty="0"/>
                  <a:t> rad/s. The cockroach is initially at radius r=0.800R, but then it crawls out to the rim of the disk. Treat the cockroach as a particle. What then is the angular speed?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3909FC84-ADEC-08C1-C7B4-77A9FC5B4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78" y="177554"/>
                <a:ext cx="10191565" cy="2246769"/>
              </a:xfrm>
              <a:prstGeom prst="rect">
                <a:avLst/>
              </a:prstGeom>
              <a:blipFill>
                <a:blip r:embed="rId2"/>
                <a:stretch>
                  <a:fillRect l="-1196" t="-2439" r="-1256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5C8557B-B8FD-6BF9-CF19-BF6545FDB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416" y="2604117"/>
            <a:ext cx="2743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4786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F515E4-930B-287E-7B0D-3C5AEF9545CF}"/>
                  </a:ext>
                </a:extLst>
              </p:cNvPr>
              <p:cNvSpPr txBox="1"/>
              <p:nvPr/>
            </p:nvSpPr>
            <p:spPr>
              <a:xfrm>
                <a:off x="727788" y="391886"/>
                <a:ext cx="11010122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A uniform thin rod of length 0.500 m and mass 4.00 kg can rotate in a horizontal plane about a vertical axis through its center. The rod is at rest when a 3.00 g bullet traveling in the rotation plane is fired into one end of the rod. As viewed from above, the bullet’s path makes angle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=60.0°</m:t>
                    </m:r>
                  </m:oMath>
                </a14:m>
                <a:r>
                  <a:rPr lang="en-US" sz="2800" dirty="0"/>
                  <a:t> with the rod. If the bullet lodges in the rod and the angular velocity of the rod is 10 rad/s immediately after the collision, what is the bullet’s speed just before impact?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C5F515E4-930B-287E-7B0D-3C5AEF954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88" y="391886"/>
                <a:ext cx="11010122" cy="3108543"/>
              </a:xfrm>
              <a:prstGeom prst="rect">
                <a:avLst/>
              </a:prstGeom>
              <a:blipFill>
                <a:blip r:embed="rId2"/>
                <a:stretch>
                  <a:fillRect l="-1107" t="-1765" r="-1107" b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BFB14BB-657F-6750-CA98-C1665B6EF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079" y="3415438"/>
            <a:ext cx="328612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844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Custom</PresentationFormat>
  <Paragraphs>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akabir</dc:creator>
  <cp:lastModifiedBy>AMAR PC</cp:lastModifiedBy>
  <cp:revision>4</cp:revision>
  <dcterms:created xsi:type="dcterms:W3CDTF">2022-11-11T14:14:00Z</dcterms:created>
  <dcterms:modified xsi:type="dcterms:W3CDTF">2025-11-12T14:49:34Z</dcterms:modified>
</cp:coreProperties>
</file>