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4" r:id="rId5"/>
    <p:sldId id="263" r:id="rId6"/>
    <p:sldId id="259" r:id="rId7"/>
    <p:sldId id="261"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110" d="100"/>
          <a:sy n="110" d="100"/>
        </p:scale>
        <p:origin x="-558" y="-90"/>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B12BB1-A5E2-A730-A573-799F166E7C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8BF0A2ED-DBEA-4477-638C-EAAAC7967B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21374BAE-CDD5-C227-3F89-505A97FFEAD7}"/>
              </a:ext>
            </a:extLst>
          </p:cNvPr>
          <p:cNvSpPr>
            <a:spLocks noGrp="1"/>
          </p:cNvSpPr>
          <p:nvPr>
            <p:ph type="dt" sz="half" idx="10"/>
          </p:nvPr>
        </p:nvSpPr>
        <p:spPr/>
        <p:txBody>
          <a:bodyPr/>
          <a:lstStyle/>
          <a:p>
            <a:fld id="{B4C51AFF-1EC8-4995-9FCE-9C54EC9CCAA8}" type="datetimeFigureOut">
              <a:rPr lang="en-US" smtClean="0"/>
              <a:pPr/>
              <a:t>11/12/2025</a:t>
            </a:fld>
            <a:endParaRPr lang="en-US"/>
          </a:p>
        </p:txBody>
      </p:sp>
      <p:sp>
        <p:nvSpPr>
          <p:cNvPr id="5" name="Footer Placeholder 4">
            <a:extLst>
              <a:ext uri="{FF2B5EF4-FFF2-40B4-BE49-F238E27FC236}">
                <a16:creationId xmlns:a16="http://schemas.microsoft.com/office/drawing/2014/main" xmlns="" id="{1BB84754-E1C8-4D37-A1DE-46722E6A8C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079128FB-43C0-8ADD-D646-0883B7439E41}"/>
              </a:ext>
            </a:extLst>
          </p:cNvPr>
          <p:cNvSpPr>
            <a:spLocks noGrp="1"/>
          </p:cNvSpPr>
          <p:nvPr>
            <p:ph type="sldNum" sz="quarter" idx="12"/>
          </p:nvPr>
        </p:nvSpPr>
        <p:spPr/>
        <p:txBody>
          <a:bodyPr/>
          <a:lstStyle/>
          <a:p>
            <a:fld id="{D09CC021-B555-4587-BC0E-6C3AD773AB94}" type="slidenum">
              <a:rPr lang="en-US" smtClean="0"/>
              <a:pPr/>
              <a:t>‹#›</a:t>
            </a:fld>
            <a:endParaRPr lang="en-US"/>
          </a:p>
        </p:txBody>
      </p:sp>
    </p:spTree>
    <p:extLst>
      <p:ext uri="{BB962C8B-B14F-4D97-AF65-F5344CB8AC3E}">
        <p14:creationId xmlns:p14="http://schemas.microsoft.com/office/powerpoint/2010/main" xmlns="" val="3235400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EDA70F-0D41-D4BB-C78F-DDB2E27073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277B2F59-ACE7-9C47-6736-B153774677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39D1515E-2F18-A49E-BCDB-8C77CFCF4072}"/>
              </a:ext>
            </a:extLst>
          </p:cNvPr>
          <p:cNvSpPr>
            <a:spLocks noGrp="1"/>
          </p:cNvSpPr>
          <p:nvPr>
            <p:ph type="dt" sz="half" idx="10"/>
          </p:nvPr>
        </p:nvSpPr>
        <p:spPr/>
        <p:txBody>
          <a:bodyPr/>
          <a:lstStyle/>
          <a:p>
            <a:fld id="{B4C51AFF-1EC8-4995-9FCE-9C54EC9CCAA8}" type="datetimeFigureOut">
              <a:rPr lang="en-US" smtClean="0"/>
              <a:pPr/>
              <a:t>11/12/2025</a:t>
            </a:fld>
            <a:endParaRPr lang="en-US"/>
          </a:p>
        </p:txBody>
      </p:sp>
      <p:sp>
        <p:nvSpPr>
          <p:cNvPr id="5" name="Footer Placeholder 4">
            <a:extLst>
              <a:ext uri="{FF2B5EF4-FFF2-40B4-BE49-F238E27FC236}">
                <a16:creationId xmlns:a16="http://schemas.microsoft.com/office/drawing/2014/main" xmlns="" id="{78A9F661-9206-198C-E576-A50CFFD9D9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0FDB855D-D001-DF53-C485-600D69E88EB3}"/>
              </a:ext>
            </a:extLst>
          </p:cNvPr>
          <p:cNvSpPr>
            <a:spLocks noGrp="1"/>
          </p:cNvSpPr>
          <p:nvPr>
            <p:ph type="sldNum" sz="quarter" idx="12"/>
          </p:nvPr>
        </p:nvSpPr>
        <p:spPr/>
        <p:txBody>
          <a:bodyPr/>
          <a:lstStyle/>
          <a:p>
            <a:fld id="{D09CC021-B555-4587-BC0E-6C3AD773AB94}" type="slidenum">
              <a:rPr lang="en-US" smtClean="0"/>
              <a:pPr/>
              <a:t>‹#›</a:t>
            </a:fld>
            <a:endParaRPr lang="en-US"/>
          </a:p>
        </p:txBody>
      </p:sp>
    </p:spTree>
    <p:extLst>
      <p:ext uri="{BB962C8B-B14F-4D97-AF65-F5344CB8AC3E}">
        <p14:creationId xmlns:p14="http://schemas.microsoft.com/office/powerpoint/2010/main" xmlns="" val="181310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8AE675-F419-6081-28C9-E639BD82BC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651A612D-9918-D1BD-6A78-55AFAA08E9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E78E5D83-B307-0044-913D-9E018BE3DF5A}"/>
              </a:ext>
            </a:extLst>
          </p:cNvPr>
          <p:cNvSpPr>
            <a:spLocks noGrp="1"/>
          </p:cNvSpPr>
          <p:nvPr>
            <p:ph type="dt" sz="half" idx="10"/>
          </p:nvPr>
        </p:nvSpPr>
        <p:spPr/>
        <p:txBody>
          <a:bodyPr/>
          <a:lstStyle/>
          <a:p>
            <a:fld id="{B4C51AFF-1EC8-4995-9FCE-9C54EC9CCAA8}" type="datetimeFigureOut">
              <a:rPr lang="en-US" smtClean="0"/>
              <a:pPr/>
              <a:t>11/12/2025</a:t>
            </a:fld>
            <a:endParaRPr lang="en-US"/>
          </a:p>
        </p:txBody>
      </p:sp>
      <p:sp>
        <p:nvSpPr>
          <p:cNvPr id="5" name="Footer Placeholder 4">
            <a:extLst>
              <a:ext uri="{FF2B5EF4-FFF2-40B4-BE49-F238E27FC236}">
                <a16:creationId xmlns:a16="http://schemas.microsoft.com/office/drawing/2014/main" xmlns="" id="{EDC5B2C3-4630-1497-9C28-24C936305B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D4F21484-E35C-4B04-4F13-A0E395658EE5}"/>
              </a:ext>
            </a:extLst>
          </p:cNvPr>
          <p:cNvSpPr>
            <a:spLocks noGrp="1"/>
          </p:cNvSpPr>
          <p:nvPr>
            <p:ph type="sldNum" sz="quarter" idx="12"/>
          </p:nvPr>
        </p:nvSpPr>
        <p:spPr/>
        <p:txBody>
          <a:bodyPr/>
          <a:lstStyle/>
          <a:p>
            <a:fld id="{D09CC021-B555-4587-BC0E-6C3AD773AB94}" type="slidenum">
              <a:rPr lang="en-US" smtClean="0"/>
              <a:pPr/>
              <a:t>‹#›</a:t>
            </a:fld>
            <a:endParaRPr lang="en-US"/>
          </a:p>
        </p:txBody>
      </p:sp>
    </p:spTree>
    <p:extLst>
      <p:ext uri="{BB962C8B-B14F-4D97-AF65-F5344CB8AC3E}">
        <p14:creationId xmlns:p14="http://schemas.microsoft.com/office/powerpoint/2010/main" xmlns="" val="3240568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5DC360-42F2-D7D2-217D-B94CD065FB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CB4BB980-EBBB-A9F3-76C8-CD92ABB71D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4DA130BB-0F6C-D980-0A64-49452EE757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93AF4812-07D2-3724-1918-C6A4BA515A39}"/>
              </a:ext>
            </a:extLst>
          </p:cNvPr>
          <p:cNvSpPr>
            <a:spLocks noGrp="1"/>
          </p:cNvSpPr>
          <p:nvPr>
            <p:ph type="dt" sz="half" idx="10"/>
          </p:nvPr>
        </p:nvSpPr>
        <p:spPr/>
        <p:txBody>
          <a:bodyPr/>
          <a:lstStyle/>
          <a:p>
            <a:fld id="{B4C51AFF-1EC8-4995-9FCE-9C54EC9CCAA8}" type="datetimeFigureOut">
              <a:rPr lang="en-US" smtClean="0"/>
              <a:pPr/>
              <a:t>11/12/2025</a:t>
            </a:fld>
            <a:endParaRPr lang="en-US"/>
          </a:p>
        </p:txBody>
      </p:sp>
      <p:sp>
        <p:nvSpPr>
          <p:cNvPr id="6" name="Footer Placeholder 5">
            <a:extLst>
              <a:ext uri="{FF2B5EF4-FFF2-40B4-BE49-F238E27FC236}">
                <a16:creationId xmlns:a16="http://schemas.microsoft.com/office/drawing/2014/main" xmlns="" id="{915691BB-A44E-2C4D-419A-9F40165B39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C5ACB430-A491-5CDB-072D-F84694C7E39D}"/>
              </a:ext>
            </a:extLst>
          </p:cNvPr>
          <p:cNvSpPr>
            <a:spLocks noGrp="1"/>
          </p:cNvSpPr>
          <p:nvPr>
            <p:ph type="sldNum" sz="quarter" idx="12"/>
          </p:nvPr>
        </p:nvSpPr>
        <p:spPr/>
        <p:txBody>
          <a:bodyPr/>
          <a:lstStyle/>
          <a:p>
            <a:fld id="{D09CC021-B555-4587-BC0E-6C3AD773AB94}" type="slidenum">
              <a:rPr lang="en-US" smtClean="0"/>
              <a:pPr/>
              <a:t>‹#›</a:t>
            </a:fld>
            <a:endParaRPr lang="en-US"/>
          </a:p>
        </p:txBody>
      </p:sp>
    </p:spTree>
    <p:extLst>
      <p:ext uri="{BB962C8B-B14F-4D97-AF65-F5344CB8AC3E}">
        <p14:creationId xmlns:p14="http://schemas.microsoft.com/office/powerpoint/2010/main" xmlns="" val="2741888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A8C15C-A10B-E4FD-B4CB-BD860D2C8C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E9C973B3-66F1-CEB0-06EC-079785695E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CE8F179B-4974-9651-EA1B-FEF5529C50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3167606B-9A78-B72B-E9FC-73085D83BB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538D3183-7F97-3D92-5C29-C468AE86A8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9249996C-CAB2-2215-BBC4-6CCEB8A5818B}"/>
              </a:ext>
            </a:extLst>
          </p:cNvPr>
          <p:cNvSpPr>
            <a:spLocks noGrp="1"/>
          </p:cNvSpPr>
          <p:nvPr>
            <p:ph type="dt" sz="half" idx="10"/>
          </p:nvPr>
        </p:nvSpPr>
        <p:spPr/>
        <p:txBody>
          <a:bodyPr/>
          <a:lstStyle/>
          <a:p>
            <a:fld id="{B4C51AFF-1EC8-4995-9FCE-9C54EC9CCAA8}" type="datetimeFigureOut">
              <a:rPr lang="en-US" smtClean="0"/>
              <a:pPr/>
              <a:t>11/12/2025</a:t>
            </a:fld>
            <a:endParaRPr lang="en-US"/>
          </a:p>
        </p:txBody>
      </p:sp>
      <p:sp>
        <p:nvSpPr>
          <p:cNvPr id="8" name="Footer Placeholder 7">
            <a:extLst>
              <a:ext uri="{FF2B5EF4-FFF2-40B4-BE49-F238E27FC236}">
                <a16:creationId xmlns:a16="http://schemas.microsoft.com/office/drawing/2014/main" xmlns="" id="{EC7E183A-F0EB-0696-99A1-4EC25049B0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9104C933-79C7-BE2D-5CB8-F88A28A1F16A}"/>
              </a:ext>
            </a:extLst>
          </p:cNvPr>
          <p:cNvSpPr>
            <a:spLocks noGrp="1"/>
          </p:cNvSpPr>
          <p:nvPr>
            <p:ph type="sldNum" sz="quarter" idx="12"/>
          </p:nvPr>
        </p:nvSpPr>
        <p:spPr/>
        <p:txBody>
          <a:bodyPr/>
          <a:lstStyle/>
          <a:p>
            <a:fld id="{D09CC021-B555-4587-BC0E-6C3AD773AB94}" type="slidenum">
              <a:rPr lang="en-US" smtClean="0"/>
              <a:pPr/>
              <a:t>‹#›</a:t>
            </a:fld>
            <a:endParaRPr lang="en-US"/>
          </a:p>
        </p:txBody>
      </p:sp>
    </p:spTree>
    <p:extLst>
      <p:ext uri="{BB962C8B-B14F-4D97-AF65-F5344CB8AC3E}">
        <p14:creationId xmlns:p14="http://schemas.microsoft.com/office/powerpoint/2010/main" xmlns="" val="3129636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5D1EFB-0C63-07C0-C560-4BE53D5D83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00B2BBED-C1CF-DBAD-AAA3-8A99A1D4580F}"/>
              </a:ext>
            </a:extLst>
          </p:cNvPr>
          <p:cNvSpPr>
            <a:spLocks noGrp="1"/>
          </p:cNvSpPr>
          <p:nvPr>
            <p:ph type="dt" sz="half" idx="10"/>
          </p:nvPr>
        </p:nvSpPr>
        <p:spPr/>
        <p:txBody>
          <a:bodyPr/>
          <a:lstStyle/>
          <a:p>
            <a:fld id="{B4C51AFF-1EC8-4995-9FCE-9C54EC9CCAA8}" type="datetimeFigureOut">
              <a:rPr lang="en-US" smtClean="0"/>
              <a:pPr/>
              <a:t>11/12/2025</a:t>
            </a:fld>
            <a:endParaRPr lang="en-US"/>
          </a:p>
        </p:txBody>
      </p:sp>
      <p:sp>
        <p:nvSpPr>
          <p:cNvPr id="4" name="Footer Placeholder 3">
            <a:extLst>
              <a:ext uri="{FF2B5EF4-FFF2-40B4-BE49-F238E27FC236}">
                <a16:creationId xmlns:a16="http://schemas.microsoft.com/office/drawing/2014/main" xmlns="" id="{0F2C8A3D-21CF-09ED-F3E2-ECD5BB96859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5FE215EB-7AAA-CEC5-042B-486B4059B5A8}"/>
              </a:ext>
            </a:extLst>
          </p:cNvPr>
          <p:cNvSpPr>
            <a:spLocks noGrp="1"/>
          </p:cNvSpPr>
          <p:nvPr>
            <p:ph type="sldNum" sz="quarter" idx="12"/>
          </p:nvPr>
        </p:nvSpPr>
        <p:spPr/>
        <p:txBody>
          <a:bodyPr/>
          <a:lstStyle/>
          <a:p>
            <a:fld id="{D09CC021-B555-4587-BC0E-6C3AD773AB94}" type="slidenum">
              <a:rPr lang="en-US" smtClean="0"/>
              <a:pPr/>
              <a:t>‹#›</a:t>
            </a:fld>
            <a:endParaRPr lang="en-US"/>
          </a:p>
        </p:txBody>
      </p:sp>
    </p:spTree>
    <p:extLst>
      <p:ext uri="{BB962C8B-B14F-4D97-AF65-F5344CB8AC3E}">
        <p14:creationId xmlns:p14="http://schemas.microsoft.com/office/powerpoint/2010/main" xmlns="" val="578814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8D4C029C-ED58-6626-CB25-BF655D9858E7}"/>
              </a:ext>
            </a:extLst>
          </p:cNvPr>
          <p:cNvSpPr>
            <a:spLocks noGrp="1"/>
          </p:cNvSpPr>
          <p:nvPr>
            <p:ph type="dt" sz="half" idx="10"/>
          </p:nvPr>
        </p:nvSpPr>
        <p:spPr/>
        <p:txBody>
          <a:bodyPr/>
          <a:lstStyle/>
          <a:p>
            <a:fld id="{B4C51AFF-1EC8-4995-9FCE-9C54EC9CCAA8}" type="datetimeFigureOut">
              <a:rPr lang="en-US" smtClean="0"/>
              <a:pPr/>
              <a:t>11/12/2025</a:t>
            </a:fld>
            <a:endParaRPr lang="en-US"/>
          </a:p>
        </p:txBody>
      </p:sp>
      <p:sp>
        <p:nvSpPr>
          <p:cNvPr id="3" name="Footer Placeholder 2">
            <a:extLst>
              <a:ext uri="{FF2B5EF4-FFF2-40B4-BE49-F238E27FC236}">
                <a16:creationId xmlns:a16="http://schemas.microsoft.com/office/drawing/2014/main" xmlns="" id="{83A3BFD7-864D-6C2A-DE6D-8A0930A0B7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D8F0C730-6697-8BBB-8506-DE24FD27A35A}"/>
              </a:ext>
            </a:extLst>
          </p:cNvPr>
          <p:cNvSpPr>
            <a:spLocks noGrp="1"/>
          </p:cNvSpPr>
          <p:nvPr>
            <p:ph type="sldNum" sz="quarter" idx="12"/>
          </p:nvPr>
        </p:nvSpPr>
        <p:spPr/>
        <p:txBody>
          <a:bodyPr/>
          <a:lstStyle/>
          <a:p>
            <a:fld id="{D09CC021-B555-4587-BC0E-6C3AD773AB94}" type="slidenum">
              <a:rPr lang="en-US" smtClean="0"/>
              <a:pPr/>
              <a:t>‹#›</a:t>
            </a:fld>
            <a:endParaRPr lang="en-US"/>
          </a:p>
        </p:txBody>
      </p:sp>
    </p:spTree>
    <p:extLst>
      <p:ext uri="{BB962C8B-B14F-4D97-AF65-F5344CB8AC3E}">
        <p14:creationId xmlns:p14="http://schemas.microsoft.com/office/powerpoint/2010/main" xmlns="" val="223713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A78AF4-D310-52BB-9006-54CE964B5E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C98D2143-FC66-14FD-35B3-3B9E506105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0D87D45B-046A-C649-C458-6D7D20D416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C3C67B7-B8CD-8EDD-3AC2-2AA6E7A1D746}"/>
              </a:ext>
            </a:extLst>
          </p:cNvPr>
          <p:cNvSpPr>
            <a:spLocks noGrp="1"/>
          </p:cNvSpPr>
          <p:nvPr>
            <p:ph type="dt" sz="half" idx="10"/>
          </p:nvPr>
        </p:nvSpPr>
        <p:spPr/>
        <p:txBody>
          <a:bodyPr/>
          <a:lstStyle/>
          <a:p>
            <a:fld id="{B4C51AFF-1EC8-4995-9FCE-9C54EC9CCAA8}" type="datetimeFigureOut">
              <a:rPr lang="en-US" smtClean="0"/>
              <a:pPr/>
              <a:t>11/12/2025</a:t>
            </a:fld>
            <a:endParaRPr lang="en-US"/>
          </a:p>
        </p:txBody>
      </p:sp>
      <p:sp>
        <p:nvSpPr>
          <p:cNvPr id="6" name="Footer Placeholder 5">
            <a:extLst>
              <a:ext uri="{FF2B5EF4-FFF2-40B4-BE49-F238E27FC236}">
                <a16:creationId xmlns:a16="http://schemas.microsoft.com/office/drawing/2014/main" xmlns="" id="{96C1F842-C170-C53C-FBAE-40A9FA11DE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71A4BF03-9F6A-19E7-5ED0-DE5636E89049}"/>
              </a:ext>
            </a:extLst>
          </p:cNvPr>
          <p:cNvSpPr>
            <a:spLocks noGrp="1"/>
          </p:cNvSpPr>
          <p:nvPr>
            <p:ph type="sldNum" sz="quarter" idx="12"/>
          </p:nvPr>
        </p:nvSpPr>
        <p:spPr/>
        <p:txBody>
          <a:bodyPr/>
          <a:lstStyle/>
          <a:p>
            <a:fld id="{D09CC021-B555-4587-BC0E-6C3AD773AB94}" type="slidenum">
              <a:rPr lang="en-US" smtClean="0"/>
              <a:pPr/>
              <a:t>‹#›</a:t>
            </a:fld>
            <a:endParaRPr lang="en-US"/>
          </a:p>
        </p:txBody>
      </p:sp>
    </p:spTree>
    <p:extLst>
      <p:ext uri="{BB962C8B-B14F-4D97-AF65-F5344CB8AC3E}">
        <p14:creationId xmlns:p14="http://schemas.microsoft.com/office/powerpoint/2010/main" xmlns="" val="911091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4603B2-F189-893F-1B38-7B2BF94D67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8398AD1B-3DEC-1138-E84E-95AE2235C8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6B6DFD7B-9928-D36D-3449-C8D515D757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5C48AB6-7F00-A8EA-C36D-F95CE5C34E7A}"/>
              </a:ext>
            </a:extLst>
          </p:cNvPr>
          <p:cNvSpPr>
            <a:spLocks noGrp="1"/>
          </p:cNvSpPr>
          <p:nvPr>
            <p:ph type="dt" sz="half" idx="10"/>
          </p:nvPr>
        </p:nvSpPr>
        <p:spPr/>
        <p:txBody>
          <a:bodyPr/>
          <a:lstStyle/>
          <a:p>
            <a:fld id="{B4C51AFF-1EC8-4995-9FCE-9C54EC9CCAA8}" type="datetimeFigureOut">
              <a:rPr lang="en-US" smtClean="0"/>
              <a:pPr/>
              <a:t>11/12/2025</a:t>
            </a:fld>
            <a:endParaRPr lang="en-US"/>
          </a:p>
        </p:txBody>
      </p:sp>
      <p:sp>
        <p:nvSpPr>
          <p:cNvPr id="6" name="Footer Placeholder 5">
            <a:extLst>
              <a:ext uri="{FF2B5EF4-FFF2-40B4-BE49-F238E27FC236}">
                <a16:creationId xmlns:a16="http://schemas.microsoft.com/office/drawing/2014/main" xmlns="" id="{E156A10E-89B6-82BE-2490-CD541E6C42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34C6C0F7-6DF7-7C7A-7C68-3A4D9EF5CE34}"/>
              </a:ext>
            </a:extLst>
          </p:cNvPr>
          <p:cNvSpPr>
            <a:spLocks noGrp="1"/>
          </p:cNvSpPr>
          <p:nvPr>
            <p:ph type="sldNum" sz="quarter" idx="12"/>
          </p:nvPr>
        </p:nvSpPr>
        <p:spPr/>
        <p:txBody>
          <a:bodyPr/>
          <a:lstStyle/>
          <a:p>
            <a:fld id="{D09CC021-B555-4587-BC0E-6C3AD773AB94}" type="slidenum">
              <a:rPr lang="en-US" smtClean="0"/>
              <a:pPr/>
              <a:t>‹#›</a:t>
            </a:fld>
            <a:endParaRPr lang="en-US"/>
          </a:p>
        </p:txBody>
      </p:sp>
    </p:spTree>
    <p:extLst>
      <p:ext uri="{BB962C8B-B14F-4D97-AF65-F5344CB8AC3E}">
        <p14:creationId xmlns:p14="http://schemas.microsoft.com/office/powerpoint/2010/main" xmlns="" val="1248841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17CAC7-4997-6B8C-3747-C1A77BAA59C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CCC15022-FF41-F7B5-2886-D2B4E8025F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DB5FDBC-BC2A-D3CF-70AE-CD9BF6652352}"/>
              </a:ext>
            </a:extLst>
          </p:cNvPr>
          <p:cNvSpPr>
            <a:spLocks noGrp="1"/>
          </p:cNvSpPr>
          <p:nvPr>
            <p:ph type="dt" sz="half" idx="10"/>
          </p:nvPr>
        </p:nvSpPr>
        <p:spPr/>
        <p:txBody>
          <a:bodyPr/>
          <a:lstStyle/>
          <a:p>
            <a:fld id="{B4C51AFF-1EC8-4995-9FCE-9C54EC9CCAA8}" type="datetimeFigureOut">
              <a:rPr lang="en-US" smtClean="0"/>
              <a:pPr/>
              <a:t>11/12/2025</a:t>
            </a:fld>
            <a:endParaRPr lang="en-US"/>
          </a:p>
        </p:txBody>
      </p:sp>
      <p:sp>
        <p:nvSpPr>
          <p:cNvPr id="5" name="Footer Placeholder 4">
            <a:extLst>
              <a:ext uri="{FF2B5EF4-FFF2-40B4-BE49-F238E27FC236}">
                <a16:creationId xmlns:a16="http://schemas.microsoft.com/office/drawing/2014/main" xmlns="" id="{BAD77183-47A4-9C78-C7D6-4EA7705D96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58EC200-1ECA-B70C-5E35-FFFD09394A3A}"/>
              </a:ext>
            </a:extLst>
          </p:cNvPr>
          <p:cNvSpPr>
            <a:spLocks noGrp="1"/>
          </p:cNvSpPr>
          <p:nvPr>
            <p:ph type="sldNum" sz="quarter" idx="12"/>
          </p:nvPr>
        </p:nvSpPr>
        <p:spPr/>
        <p:txBody>
          <a:bodyPr/>
          <a:lstStyle/>
          <a:p>
            <a:fld id="{D09CC021-B555-4587-BC0E-6C3AD773AB94}" type="slidenum">
              <a:rPr lang="en-US" smtClean="0"/>
              <a:pPr/>
              <a:t>‹#›</a:t>
            </a:fld>
            <a:endParaRPr lang="en-US"/>
          </a:p>
        </p:txBody>
      </p:sp>
    </p:spTree>
    <p:extLst>
      <p:ext uri="{BB962C8B-B14F-4D97-AF65-F5344CB8AC3E}">
        <p14:creationId xmlns:p14="http://schemas.microsoft.com/office/powerpoint/2010/main" xmlns="" val="519005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BEA402BA-C68B-79F4-0D5C-6EF2C9595C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D6967513-4B58-5294-BAE8-B4BEED5A25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57A460D-AEDD-ED7E-BDB1-5E32AA2F3201}"/>
              </a:ext>
            </a:extLst>
          </p:cNvPr>
          <p:cNvSpPr>
            <a:spLocks noGrp="1"/>
          </p:cNvSpPr>
          <p:nvPr>
            <p:ph type="dt" sz="half" idx="10"/>
          </p:nvPr>
        </p:nvSpPr>
        <p:spPr/>
        <p:txBody>
          <a:bodyPr/>
          <a:lstStyle/>
          <a:p>
            <a:fld id="{B4C51AFF-1EC8-4995-9FCE-9C54EC9CCAA8}" type="datetimeFigureOut">
              <a:rPr lang="en-US" smtClean="0"/>
              <a:pPr/>
              <a:t>11/12/2025</a:t>
            </a:fld>
            <a:endParaRPr lang="en-US"/>
          </a:p>
        </p:txBody>
      </p:sp>
      <p:sp>
        <p:nvSpPr>
          <p:cNvPr id="5" name="Footer Placeholder 4">
            <a:extLst>
              <a:ext uri="{FF2B5EF4-FFF2-40B4-BE49-F238E27FC236}">
                <a16:creationId xmlns:a16="http://schemas.microsoft.com/office/drawing/2014/main" xmlns="" id="{77FC3036-5EB4-E950-084F-4B41EC720D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AF3D5C0-0845-AFB3-F150-077D8930EB24}"/>
              </a:ext>
            </a:extLst>
          </p:cNvPr>
          <p:cNvSpPr>
            <a:spLocks noGrp="1"/>
          </p:cNvSpPr>
          <p:nvPr>
            <p:ph type="sldNum" sz="quarter" idx="12"/>
          </p:nvPr>
        </p:nvSpPr>
        <p:spPr/>
        <p:txBody>
          <a:bodyPr/>
          <a:lstStyle/>
          <a:p>
            <a:fld id="{D09CC021-B555-4587-BC0E-6C3AD773AB94}" type="slidenum">
              <a:rPr lang="en-US" smtClean="0"/>
              <a:pPr/>
              <a:t>‹#›</a:t>
            </a:fld>
            <a:endParaRPr lang="en-US"/>
          </a:p>
        </p:txBody>
      </p:sp>
    </p:spTree>
    <p:extLst>
      <p:ext uri="{BB962C8B-B14F-4D97-AF65-F5344CB8AC3E}">
        <p14:creationId xmlns:p14="http://schemas.microsoft.com/office/powerpoint/2010/main" xmlns="" val="1110832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5D9B8C4-D3AB-7426-1D95-A86F7DDEA7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610C9E2A-612E-D847-7969-C8973B9DBE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130F5E5-C87B-14DB-B7EC-0FCC1988C5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C51AFF-1EC8-4995-9FCE-9C54EC9CCAA8}" type="datetimeFigureOut">
              <a:rPr lang="en-US" smtClean="0"/>
              <a:pPr/>
              <a:t>11/12/2025</a:t>
            </a:fld>
            <a:endParaRPr lang="en-US"/>
          </a:p>
        </p:txBody>
      </p:sp>
      <p:sp>
        <p:nvSpPr>
          <p:cNvPr id="5" name="Footer Placeholder 4">
            <a:extLst>
              <a:ext uri="{FF2B5EF4-FFF2-40B4-BE49-F238E27FC236}">
                <a16:creationId xmlns:a16="http://schemas.microsoft.com/office/drawing/2014/main" xmlns="" id="{D5B0D150-CBA8-6ADC-1A72-C75B96DCD7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C800F3A4-5677-DB4D-405C-9D5A37080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9CC021-B555-4587-BC0E-6C3AD773AB94}" type="slidenum">
              <a:rPr lang="en-US" smtClean="0"/>
              <a:pPr/>
              <a:t>‹#›</a:t>
            </a:fld>
            <a:endParaRPr lang="en-US"/>
          </a:p>
        </p:txBody>
      </p:sp>
    </p:spTree>
    <p:extLst>
      <p:ext uri="{BB962C8B-B14F-4D97-AF65-F5344CB8AC3E}">
        <p14:creationId xmlns:p14="http://schemas.microsoft.com/office/powerpoint/2010/main" xmlns="" val="911229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6" name="TextBox 5">
                <a:extLst>
                  <a:ext uri="{FF2B5EF4-FFF2-40B4-BE49-F238E27FC236}">
                    <a16:creationId xmlns:a16="http://schemas.microsoft.com/office/drawing/2014/main" id="{0365EEBF-CA06-8819-F10F-7F3FB4CABA77}"/>
                  </a:ext>
                </a:extLst>
              </p:cNvPr>
              <p:cNvSpPr txBox="1"/>
              <p:nvPr/>
            </p:nvSpPr>
            <p:spPr>
              <a:xfrm>
                <a:off x="1068219" y="315792"/>
                <a:ext cx="10694693" cy="4832092"/>
              </a:xfrm>
              <a:prstGeom prst="rect">
                <a:avLst/>
              </a:prstGeom>
              <a:noFill/>
            </p:spPr>
            <p:txBody>
              <a:bodyPr wrap="square" rtlCol="0">
                <a:spAutoFit/>
              </a:bodyPr>
              <a:lstStyle/>
              <a:p>
                <a:pPr algn="just"/>
                <a:r>
                  <a:rPr lang="en-US" sz="2800" dirty="0"/>
                  <a:t>A disk is rotating about its central axis like a merry-go-round. The angular position </a:t>
                </a:r>
                <a14:m>
                  <m:oMath xmlns:m="http://schemas.openxmlformats.org/officeDocument/2006/math">
                    <m:r>
                      <a:rPr lang="en-US" sz="2800" i="1" smtClean="0">
                        <a:latin typeface="Cambria Math" panose="02040503050406030204" pitchFamily="18" charset="0"/>
                        <a:ea typeface="Cambria Math" panose="02040503050406030204" pitchFamily="18" charset="0"/>
                      </a:rPr>
                      <m:t>𝜃</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𝑡</m:t>
                    </m:r>
                    <m:r>
                      <a:rPr lang="en-US" sz="2800" b="0" i="1" smtClean="0">
                        <a:latin typeface="Cambria Math" panose="02040503050406030204" pitchFamily="18" charset="0"/>
                        <a:ea typeface="Cambria Math" panose="02040503050406030204" pitchFamily="18" charset="0"/>
                      </a:rPr>
                      <m:t>)</m:t>
                    </m:r>
                  </m:oMath>
                </a14:m>
                <a:r>
                  <a:rPr lang="en-US" sz="2800" dirty="0"/>
                  <a:t> of a reference line on the disk is given by </a:t>
                </a:r>
                <a14:m>
                  <m:oMath xmlns:m="http://schemas.openxmlformats.org/officeDocument/2006/math">
                    <m:r>
                      <a:rPr lang="en-US" sz="2800" i="1" smtClean="0">
                        <a:latin typeface="Cambria Math" panose="02040503050406030204" pitchFamily="18" charset="0"/>
                        <a:ea typeface="Cambria Math" panose="02040503050406030204" pitchFamily="18" charset="0"/>
                      </a:rPr>
                      <m:t>𝜃</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𝑡</m:t>
                        </m:r>
                      </m:e>
                    </m:d>
                    <m:r>
                      <a:rPr lang="en-US" sz="2800" b="0" i="1" smtClean="0">
                        <a:latin typeface="Cambria Math" panose="02040503050406030204" pitchFamily="18" charset="0"/>
                        <a:ea typeface="Cambria Math" panose="02040503050406030204" pitchFamily="18" charset="0"/>
                      </a:rPr>
                      <m:t>=−1.00−0.600</m:t>
                    </m:r>
                    <m:r>
                      <a:rPr lang="en-US" sz="2800" b="0" i="1" smtClean="0">
                        <a:latin typeface="Cambria Math" panose="02040503050406030204" pitchFamily="18" charset="0"/>
                        <a:ea typeface="Cambria Math" panose="02040503050406030204" pitchFamily="18" charset="0"/>
                      </a:rPr>
                      <m:t>𝑡</m:t>
                    </m:r>
                    <m:r>
                      <a:rPr lang="en-US" sz="2800" b="0" i="1" smtClean="0">
                        <a:latin typeface="Cambria Math" panose="02040503050406030204" pitchFamily="18" charset="0"/>
                        <a:ea typeface="Cambria Math" panose="02040503050406030204" pitchFamily="18" charset="0"/>
                      </a:rPr>
                      <m:t>+0.250</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𝑡</m:t>
                        </m:r>
                      </m:e>
                      <m:sup>
                        <m:r>
                          <a:rPr lang="en-US" sz="2800" b="0" i="1" smtClean="0">
                            <a:latin typeface="Cambria Math" panose="02040503050406030204" pitchFamily="18" charset="0"/>
                            <a:ea typeface="Cambria Math" panose="02040503050406030204" pitchFamily="18" charset="0"/>
                          </a:rPr>
                          <m:t>2</m:t>
                        </m:r>
                      </m:sup>
                    </m:sSup>
                    <m:r>
                      <a:rPr lang="en-US" sz="2800" b="0" i="1" smtClean="0">
                        <a:latin typeface="Cambria Math" panose="02040503050406030204" pitchFamily="18" charset="0"/>
                        <a:ea typeface="Cambria Math" panose="02040503050406030204" pitchFamily="18" charset="0"/>
                      </a:rPr>
                      <m:t>,</m:t>
                    </m:r>
                  </m:oMath>
                </a14:m>
                <a:r>
                  <a:rPr lang="en-US" sz="2800" dirty="0"/>
                  <a:t> with t in seconds, </a:t>
                </a:r>
                <a14:m>
                  <m:oMath xmlns:m="http://schemas.openxmlformats.org/officeDocument/2006/math">
                    <m:r>
                      <a:rPr lang="en-US" sz="2800" i="1">
                        <a:solidFill>
                          <a:prstClr val="black"/>
                        </a:solidFill>
                        <a:latin typeface="Cambria Math" panose="02040503050406030204" pitchFamily="18" charset="0"/>
                        <a:ea typeface="Cambria Math" panose="02040503050406030204" pitchFamily="18" charset="0"/>
                      </a:rPr>
                      <m:t>𝜃</m:t>
                    </m:r>
                  </m:oMath>
                </a14:m>
                <a:r>
                  <a:rPr lang="en-US" sz="2800" dirty="0"/>
                  <a:t> in radians. </a:t>
                </a:r>
              </a:p>
              <a:p>
                <a:pPr marL="342900" indent="-342900" algn="just">
                  <a:buAutoNum type="alphaLcParenBoth"/>
                </a:pPr>
                <a:r>
                  <a:rPr lang="en-US" sz="2800" dirty="0"/>
                  <a:t>Graph the angular position of the disk versus time from </a:t>
                </a:r>
                <a14:m>
                  <m:oMath xmlns:m="http://schemas.openxmlformats.org/officeDocument/2006/math">
                    <m:r>
                      <a:rPr lang="en-US" sz="2800" b="0" i="1" smtClean="0">
                        <a:latin typeface="Cambria Math" panose="02040503050406030204" pitchFamily="18" charset="0"/>
                      </a:rPr>
                      <m:t>𝑡</m:t>
                    </m:r>
                    <m:r>
                      <a:rPr lang="en-US" sz="2800" b="0" i="1" smtClean="0">
                        <a:latin typeface="Cambria Math" panose="02040503050406030204" pitchFamily="18" charset="0"/>
                      </a:rPr>
                      <m:t>=−3.0</m:t>
                    </m:r>
                  </m:oMath>
                </a14:m>
                <a:r>
                  <a:rPr lang="en-US" sz="2800" dirty="0"/>
                  <a:t> s to </a:t>
                </a:r>
                <a14:m>
                  <m:oMath xmlns:m="http://schemas.openxmlformats.org/officeDocument/2006/math">
                    <m:r>
                      <a:rPr lang="en-US" sz="2800" i="1">
                        <a:solidFill>
                          <a:prstClr val="black"/>
                        </a:solidFill>
                        <a:latin typeface="Cambria Math" panose="02040503050406030204" pitchFamily="18" charset="0"/>
                      </a:rPr>
                      <m:t>𝑡</m:t>
                    </m:r>
                    <m:r>
                      <a:rPr lang="en-US" sz="2800" i="1">
                        <a:solidFill>
                          <a:prstClr val="black"/>
                        </a:solidFill>
                        <a:latin typeface="Cambria Math" panose="02040503050406030204" pitchFamily="18" charset="0"/>
                      </a:rPr>
                      <m:t>=</m:t>
                    </m:r>
                  </m:oMath>
                </a14:m>
                <a:r>
                  <a:rPr lang="en-US" sz="2800" dirty="0">
                    <a:solidFill>
                      <a:prstClr val="black"/>
                    </a:solidFill>
                  </a:rPr>
                  <a:t> 5.4 s. </a:t>
                </a:r>
              </a:p>
              <a:p>
                <a:pPr marL="342900" indent="-342900" algn="just">
                  <a:buAutoNum type="alphaLcParenBoth"/>
                </a:pPr>
                <a:r>
                  <a:rPr lang="en-US" sz="2800" dirty="0">
                    <a:solidFill>
                      <a:prstClr val="black"/>
                    </a:solidFill>
                  </a:rPr>
                  <a:t>At what time does </a:t>
                </a:r>
                <a14:m>
                  <m:oMath xmlns:m="http://schemas.openxmlformats.org/officeDocument/2006/math">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𝜃</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𝑡</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a14:m>
                <a:r>
                  <a:rPr lang="en-US" sz="2800" dirty="0">
                    <a:solidFill>
                      <a:prstClr val="black"/>
                    </a:solidFill>
                  </a:rPr>
                  <a:t> reach the minimum value? What is that minimum value?</a:t>
                </a:r>
              </a:p>
              <a:p>
                <a:pPr marL="342900" indent="-342900" algn="just">
                  <a:buAutoNum type="alphaLcParenBoth"/>
                </a:pPr>
                <a:r>
                  <a:rPr lang="en-US" sz="2800" dirty="0">
                    <a:solidFill>
                      <a:prstClr val="black"/>
                    </a:solidFill>
                  </a:rPr>
                  <a:t>Graph the angular velocity </a:t>
                </a:r>
                <a14:m>
                  <m:oMath xmlns:m="http://schemas.openxmlformats.org/officeDocument/2006/math">
                    <m:r>
                      <a:rPr lang="en-US" sz="2800" i="1" smtClean="0">
                        <a:solidFill>
                          <a:prstClr val="black"/>
                        </a:solidFill>
                        <a:latin typeface="Cambria Math" panose="02040503050406030204" pitchFamily="18" charset="0"/>
                        <a:ea typeface="Cambria Math" panose="02040503050406030204" pitchFamily="18" charset="0"/>
                      </a:rPr>
                      <m:t>𝜔</m:t>
                    </m:r>
                  </m:oMath>
                </a14:m>
                <a:r>
                  <a:rPr lang="en-US" sz="2800" dirty="0">
                    <a:solidFill>
                      <a:prstClr val="black"/>
                    </a:solidFill>
                  </a:rPr>
                  <a:t> of the disk versus time from </a:t>
                </a:r>
                <a14:m>
                  <m:oMath xmlns:m="http://schemas.openxmlformats.org/officeDocument/2006/math">
                    <m:r>
                      <a:rPr lang="en-US" sz="2800" i="1">
                        <a:solidFill>
                          <a:prstClr val="black"/>
                        </a:solidFill>
                        <a:latin typeface="Cambria Math" panose="02040503050406030204" pitchFamily="18" charset="0"/>
                      </a:rPr>
                      <m:t>𝑡</m:t>
                    </m:r>
                    <m:r>
                      <a:rPr lang="en-US" sz="2800" i="1">
                        <a:solidFill>
                          <a:prstClr val="black"/>
                        </a:solidFill>
                        <a:latin typeface="Cambria Math" panose="02040503050406030204" pitchFamily="18" charset="0"/>
                      </a:rPr>
                      <m:t>=−3.0</m:t>
                    </m:r>
                  </m:oMath>
                </a14:m>
                <a:r>
                  <a:rPr lang="en-US" sz="2800" dirty="0">
                    <a:solidFill>
                      <a:prstClr val="black"/>
                    </a:solidFill>
                  </a:rPr>
                  <a:t> s to </a:t>
                </a:r>
                <a14:m>
                  <m:oMath xmlns:m="http://schemas.openxmlformats.org/officeDocument/2006/math">
                    <m:r>
                      <a:rPr lang="en-US" sz="2800" i="1">
                        <a:solidFill>
                          <a:prstClr val="black"/>
                        </a:solidFill>
                        <a:latin typeface="Cambria Math" panose="02040503050406030204" pitchFamily="18" charset="0"/>
                      </a:rPr>
                      <m:t>𝑡</m:t>
                    </m:r>
                    <m:r>
                      <a:rPr lang="en-US" sz="2800" i="1">
                        <a:solidFill>
                          <a:prstClr val="black"/>
                        </a:solidFill>
                        <a:latin typeface="Cambria Math" panose="02040503050406030204" pitchFamily="18" charset="0"/>
                      </a:rPr>
                      <m:t>=</m:t>
                    </m:r>
                  </m:oMath>
                </a14:m>
                <a:r>
                  <a:rPr lang="en-US" sz="2800" dirty="0">
                    <a:solidFill>
                      <a:prstClr val="black"/>
                    </a:solidFill>
                  </a:rPr>
                  <a:t> 6.0 s.</a:t>
                </a:r>
              </a:p>
              <a:p>
                <a:pPr marL="342900" indent="-342900" algn="just">
                  <a:buAutoNum type="alphaLcParenBoth"/>
                </a:pPr>
                <a:r>
                  <a:rPr lang="en-US" sz="2800" dirty="0">
                    <a:solidFill>
                      <a:prstClr val="black"/>
                    </a:solidFill>
                  </a:rPr>
                  <a:t>Describe the motion of the disk </a:t>
                </a:r>
                <a:r>
                  <a:rPr kumimoji="0" lang="en-US" sz="2800" b="0" i="0" u="none" strike="noStrike" kern="1200" cap="none" spc="0" normalizeH="0" baseline="0" noProof="0" dirty="0">
                    <a:ln>
                      <a:noFill/>
                    </a:ln>
                    <a:solidFill>
                      <a:prstClr val="black"/>
                    </a:solidFill>
                    <a:effectLst/>
                    <a:uLnTx/>
                    <a:uFillTx/>
                    <a:latin typeface="Calibri" panose="020F0502020204030204"/>
                  </a:rPr>
                  <a:t>from </a:t>
                </a:r>
                <a14:m>
                  <m:oMath xmlns:m="http://schemas.openxmlformats.org/officeDocument/2006/math">
                    <m:r>
                      <a:rPr kumimoji="0" lang="en-US" sz="2800" b="0" i="1" u="none" strike="noStrike" kern="1200" cap="none" spc="0" normalizeH="0" baseline="0" noProof="0">
                        <a:ln>
                          <a:noFill/>
                        </a:ln>
                        <a:solidFill>
                          <a:prstClr val="black"/>
                        </a:solidFill>
                        <a:effectLst/>
                        <a:uLnTx/>
                        <a:uFillTx/>
                        <a:latin typeface="Cambria Math" panose="02040503050406030204" pitchFamily="18" charset="0"/>
                      </a:rPr>
                      <m:t>𝑡</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rPr>
                      <m:t>=−3.0</m:t>
                    </m:r>
                  </m:oMath>
                </a14:m>
                <a:r>
                  <a:rPr kumimoji="0" lang="en-US" sz="2800" b="0" i="0" u="none" strike="noStrike" kern="1200" cap="none" spc="0" normalizeH="0" baseline="0" noProof="0" dirty="0">
                    <a:ln>
                      <a:noFill/>
                    </a:ln>
                    <a:solidFill>
                      <a:prstClr val="black"/>
                    </a:solidFill>
                    <a:effectLst/>
                    <a:uLnTx/>
                    <a:uFillTx/>
                    <a:latin typeface="Calibri" panose="020F0502020204030204"/>
                  </a:rPr>
                  <a:t> s to </a:t>
                </a:r>
                <a14:m>
                  <m:oMath xmlns:m="http://schemas.openxmlformats.org/officeDocument/2006/math">
                    <m:r>
                      <a:rPr kumimoji="0" lang="en-US" sz="2800" b="0" i="1" u="none" strike="noStrike" kern="1200" cap="none" spc="0" normalizeH="0" baseline="0" noProof="0">
                        <a:ln>
                          <a:noFill/>
                        </a:ln>
                        <a:solidFill>
                          <a:prstClr val="black"/>
                        </a:solidFill>
                        <a:effectLst/>
                        <a:uLnTx/>
                        <a:uFillTx/>
                        <a:latin typeface="Cambria Math" panose="02040503050406030204" pitchFamily="18" charset="0"/>
                      </a:rPr>
                      <m:t>𝑡</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rPr>
                      <m:t>=</m:t>
                    </m:r>
                  </m:oMath>
                </a14:m>
                <a:r>
                  <a:rPr kumimoji="0" lang="en-US" sz="2800" b="0" i="0" u="none" strike="noStrike" kern="1200" cap="none" spc="0" normalizeH="0" baseline="0" noProof="0" dirty="0">
                    <a:ln>
                      <a:noFill/>
                    </a:ln>
                    <a:solidFill>
                      <a:prstClr val="black"/>
                    </a:solidFill>
                    <a:effectLst/>
                    <a:uLnTx/>
                    <a:uFillTx/>
                    <a:latin typeface="Calibri" panose="020F0502020204030204"/>
                  </a:rPr>
                  <a:t> 6.0 s.</a:t>
                </a:r>
                <a:endParaRPr lang="en-US" sz="2800" dirty="0">
                  <a:solidFill>
                    <a:prstClr val="black"/>
                  </a:solidFill>
                </a:endParaRPr>
              </a:p>
              <a:p>
                <a:pPr marL="342900" indent="-342900" algn="just">
                  <a:buAutoNum type="alphaLcParenBoth"/>
                </a:pPr>
                <a:endParaRPr lang="en-US" sz="2800" dirty="0"/>
              </a:p>
            </p:txBody>
          </p:sp>
        </mc:Choice>
        <mc:Fallback>
          <p:sp>
            <p:nvSpPr>
              <p:cNvPr id="6" name="TextBox 5">
                <a:extLst>
                  <a:ext uri="{FF2B5EF4-FFF2-40B4-BE49-F238E27FC236}">
                    <a16:creationId xmlns:a16="http://schemas.microsoft.com/office/drawing/2014/main" xmlns="" xmlns:a14="http://schemas.microsoft.com/office/drawing/2010/main" id="{0365EEBF-CA06-8819-F10F-7F3FB4CABA77}"/>
                  </a:ext>
                </a:extLst>
              </p:cNvPr>
              <p:cNvSpPr txBox="1">
                <a:spLocks noRot="1" noChangeAspect="1" noMove="1" noResize="1" noEditPoints="1" noAdjustHandles="1" noChangeArrowheads="1" noChangeShapeType="1" noTextEdit="1"/>
              </p:cNvSpPr>
              <p:nvPr/>
            </p:nvSpPr>
            <p:spPr>
              <a:xfrm>
                <a:off x="1068219" y="315792"/>
                <a:ext cx="10694693" cy="4832092"/>
              </a:xfrm>
              <a:prstGeom prst="rect">
                <a:avLst/>
              </a:prstGeom>
              <a:blipFill>
                <a:blip r:embed="rId2"/>
                <a:stretch>
                  <a:fillRect l="-1197" t="-1263" r="-1140"/>
                </a:stretch>
              </a:blipFill>
            </p:spPr>
            <p:txBody>
              <a:bodyPr/>
              <a:lstStyle/>
              <a:p>
                <a:r>
                  <a:rPr lang="en-US">
                    <a:noFill/>
                  </a:rPr>
                  <a:t> </a:t>
                </a:r>
              </a:p>
            </p:txBody>
          </p:sp>
        </mc:Fallback>
      </mc:AlternateContent>
    </p:spTree>
    <p:extLst>
      <p:ext uri="{BB962C8B-B14F-4D97-AF65-F5344CB8AC3E}">
        <p14:creationId xmlns:p14="http://schemas.microsoft.com/office/powerpoint/2010/main" xmlns="" val="30982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4" name="TextBox 3">
                <a:extLst>
                  <a:ext uri="{FF2B5EF4-FFF2-40B4-BE49-F238E27FC236}">
                    <a16:creationId xmlns:a16="http://schemas.microsoft.com/office/drawing/2014/main" id="{42A596B8-12BC-1638-A564-CF331841184D}"/>
                  </a:ext>
                </a:extLst>
              </p:cNvPr>
              <p:cNvSpPr txBox="1"/>
              <p:nvPr/>
            </p:nvSpPr>
            <p:spPr>
              <a:xfrm>
                <a:off x="1772815" y="419878"/>
                <a:ext cx="9714890" cy="2246769"/>
              </a:xfrm>
              <a:prstGeom prst="rect">
                <a:avLst/>
              </a:prstGeom>
              <a:noFill/>
            </p:spPr>
            <p:txBody>
              <a:bodyPr wrap="square" rtlCol="0">
                <a:spAutoFit/>
              </a:bodyPr>
              <a:lstStyle/>
              <a:p>
                <a:r>
                  <a:rPr lang="en-US" sz="2800" dirty="0"/>
                  <a:t>A child’s top is spun with angular acceleration </a:t>
                </a:r>
                <a14:m>
                  <m:oMath xmlns:m="http://schemas.openxmlformats.org/officeDocument/2006/math">
                    <m:r>
                      <a:rPr lang="en-US" sz="2800" i="1" smtClean="0">
                        <a:latin typeface="Cambria Math" panose="02040503050406030204" pitchFamily="18" charset="0"/>
                        <a:ea typeface="Cambria Math" panose="02040503050406030204" pitchFamily="18" charset="0"/>
                      </a:rPr>
                      <m:t>𝛼</m:t>
                    </m:r>
                    <m:r>
                      <a:rPr lang="en-US" sz="2800" b="0" i="1" smtClean="0">
                        <a:latin typeface="Cambria Math" panose="02040503050406030204" pitchFamily="18" charset="0"/>
                        <a:ea typeface="Cambria Math" panose="02040503050406030204" pitchFamily="18" charset="0"/>
                      </a:rPr>
                      <m:t>=5</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𝑡</m:t>
                        </m:r>
                      </m:e>
                      <m:sup>
                        <m:r>
                          <a:rPr lang="en-US" sz="2800" b="0" i="1" smtClean="0">
                            <a:latin typeface="Cambria Math" panose="02040503050406030204" pitchFamily="18" charset="0"/>
                            <a:ea typeface="Cambria Math" panose="02040503050406030204" pitchFamily="18" charset="0"/>
                          </a:rPr>
                          <m:t>3</m:t>
                        </m:r>
                      </m:sup>
                    </m:sSup>
                    <m:r>
                      <a:rPr lang="en-US" sz="2800" b="0" i="1" smtClean="0">
                        <a:latin typeface="Cambria Math" panose="02040503050406030204" pitchFamily="18" charset="0"/>
                        <a:ea typeface="Cambria Math" panose="02040503050406030204" pitchFamily="18" charset="0"/>
                      </a:rPr>
                      <m:t>−4</m:t>
                    </m:r>
                    <m:r>
                      <a:rPr lang="en-US" sz="2800" b="0" i="1" smtClean="0">
                        <a:latin typeface="Cambria Math" panose="02040503050406030204" pitchFamily="18" charset="0"/>
                        <a:ea typeface="Cambria Math" panose="02040503050406030204" pitchFamily="18" charset="0"/>
                      </a:rPr>
                      <m:t>𝑡</m:t>
                    </m:r>
                    <m:r>
                      <a:rPr lang="en-US" sz="2800" b="0" i="1" smtClean="0">
                        <a:latin typeface="Cambria Math" panose="02040503050406030204" pitchFamily="18" charset="0"/>
                        <a:ea typeface="Cambria Math" panose="02040503050406030204" pitchFamily="18" charset="0"/>
                      </a:rPr>
                      <m:t>,</m:t>
                    </m:r>
                  </m:oMath>
                </a14:m>
                <a:r>
                  <a:rPr lang="en-US" sz="2800" dirty="0"/>
                  <a:t> at t=0, the top has angular velocity 5 rad/s, and a reference line on it is at angular position </a:t>
                </a:r>
                <a14:m>
                  <m:oMath xmlns:m="http://schemas.openxmlformats.org/officeDocument/2006/math">
                    <m:r>
                      <a:rPr lang="en-US" sz="2800" i="1" smtClean="0">
                        <a:latin typeface="Cambria Math" panose="02040503050406030204" pitchFamily="18" charset="0"/>
                        <a:ea typeface="Cambria Math" panose="02040503050406030204" pitchFamily="18" charset="0"/>
                      </a:rPr>
                      <m:t>𝜃</m:t>
                    </m:r>
                    <m:r>
                      <a:rPr lang="en-US" sz="2800" b="0" i="1" smtClean="0">
                        <a:latin typeface="Cambria Math" panose="02040503050406030204" pitchFamily="18" charset="0"/>
                        <a:ea typeface="Cambria Math" panose="02040503050406030204" pitchFamily="18" charset="0"/>
                      </a:rPr>
                      <m:t>=2</m:t>
                    </m:r>
                  </m:oMath>
                </a14:m>
                <a:r>
                  <a:rPr lang="en-US" sz="2800" dirty="0"/>
                  <a:t> rad.</a:t>
                </a:r>
              </a:p>
              <a:p>
                <a:r>
                  <a:rPr lang="en-US" sz="2800" dirty="0"/>
                  <a:t>(a) Obtain an expression for the angular velocity </a:t>
                </a:r>
                <a14:m>
                  <m:oMath xmlns:m="http://schemas.openxmlformats.org/officeDocument/2006/math">
                    <m:r>
                      <a:rPr lang="en-US" sz="2800" i="1" smtClean="0">
                        <a:latin typeface="Cambria Math" panose="02040503050406030204" pitchFamily="18" charset="0"/>
                        <a:ea typeface="Cambria Math" panose="02040503050406030204" pitchFamily="18" charset="0"/>
                      </a:rPr>
                      <m:t>𝜔</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𝑡</m:t>
                    </m:r>
                    <m:r>
                      <a:rPr lang="en-US" sz="2800" b="0" i="1" smtClean="0">
                        <a:latin typeface="Cambria Math" panose="02040503050406030204" pitchFamily="18" charset="0"/>
                        <a:ea typeface="Cambria Math" panose="02040503050406030204" pitchFamily="18" charset="0"/>
                      </a:rPr>
                      <m:t>)</m:t>
                    </m:r>
                  </m:oMath>
                </a14:m>
                <a:r>
                  <a:rPr lang="en-US" sz="2800" dirty="0"/>
                  <a:t> of the top.</a:t>
                </a:r>
              </a:p>
              <a:p>
                <a:r>
                  <a:rPr lang="en-US" sz="2800" dirty="0"/>
                  <a:t>(b) Obtain an expression for the angular position </a:t>
                </a:r>
                <a14:m>
                  <m:oMath xmlns:m="http://schemas.openxmlformats.org/officeDocument/2006/math">
                    <m:r>
                      <m:rPr>
                        <m:sty m:val="p"/>
                      </m:rPr>
                      <a:rPr kumimoji="0" lang="el-GR"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θ</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𝑡</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US" sz="2800" b="0" i="0" u="none" strike="noStrike" kern="1200" cap="none" spc="0" normalizeH="0" baseline="0" noProof="0" dirty="0">
                    <a:ln>
                      <a:noFill/>
                    </a:ln>
                    <a:solidFill>
                      <a:prstClr val="black"/>
                    </a:solidFill>
                    <a:effectLst/>
                    <a:uLnTx/>
                    <a:uFillTx/>
                    <a:latin typeface="Calibri" panose="020F0502020204030204"/>
                  </a:rPr>
                  <a:t> of the top. </a:t>
                </a:r>
                <a:endParaRPr lang="en-US" sz="2800" dirty="0"/>
              </a:p>
            </p:txBody>
          </p:sp>
        </mc:Choice>
        <mc:Fallback>
          <p:sp>
            <p:nvSpPr>
              <p:cNvPr id="4" name="TextBox 3">
                <a:extLst>
                  <a:ext uri="{FF2B5EF4-FFF2-40B4-BE49-F238E27FC236}">
                    <a16:creationId xmlns:a16="http://schemas.microsoft.com/office/drawing/2014/main" xmlns="" xmlns:a14="http://schemas.microsoft.com/office/drawing/2010/main" id="{42A596B8-12BC-1638-A564-CF331841184D}"/>
                  </a:ext>
                </a:extLst>
              </p:cNvPr>
              <p:cNvSpPr txBox="1">
                <a:spLocks noRot="1" noChangeAspect="1" noMove="1" noResize="1" noEditPoints="1" noAdjustHandles="1" noChangeArrowheads="1" noChangeShapeType="1" noTextEdit="1"/>
              </p:cNvSpPr>
              <p:nvPr/>
            </p:nvSpPr>
            <p:spPr>
              <a:xfrm>
                <a:off x="1772815" y="419878"/>
                <a:ext cx="9714890" cy="2246769"/>
              </a:xfrm>
              <a:prstGeom prst="rect">
                <a:avLst/>
              </a:prstGeom>
              <a:blipFill>
                <a:blip r:embed="rId2"/>
                <a:stretch>
                  <a:fillRect l="-1318" t="-2717" r="-1758" b="-7065"/>
                </a:stretch>
              </a:blipFill>
            </p:spPr>
            <p:txBody>
              <a:bodyPr/>
              <a:lstStyle/>
              <a:p>
                <a:r>
                  <a:rPr lang="en-US">
                    <a:noFill/>
                  </a:rPr>
                  <a:t> </a:t>
                </a:r>
              </a:p>
            </p:txBody>
          </p:sp>
        </mc:Fallback>
      </mc:AlternateContent>
    </p:spTree>
    <p:extLst>
      <p:ext uri="{BB962C8B-B14F-4D97-AF65-F5344CB8AC3E}">
        <p14:creationId xmlns:p14="http://schemas.microsoft.com/office/powerpoint/2010/main" xmlns="" val="568853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4" name="TextBox 3">
                <a:extLst>
                  <a:ext uri="{FF2B5EF4-FFF2-40B4-BE49-F238E27FC236}">
                    <a16:creationId xmlns:a16="http://schemas.microsoft.com/office/drawing/2014/main" id="{738278C7-21BB-6347-4382-94728E54E5C0}"/>
                  </a:ext>
                </a:extLst>
              </p:cNvPr>
              <p:cNvSpPr txBox="1"/>
              <p:nvPr/>
            </p:nvSpPr>
            <p:spPr>
              <a:xfrm>
                <a:off x="1045029" y="466531"/>
                <a:ext cx="10245012" cy="3970318"/>
              </a:xfrm>
              <a:prstGeom prst="rect">
                <a:avLst/>
              </a:prstGeom>
              <a:noFill/>
            </p:spPr>
            <p:txBody>
              <a:bodyPr wrap="square" rtlCol="0">
                <a:spAutoFit/>
              </a:bodyPr>
              <a:lstStyle/>
              <a:p>
                <a:r>
                  <a:rPr lang="en-US" sz="2800" dirty="0"/>
                  <a:t>A grindstone rotates at constant angular acceleration </a:t>
                </a:r>
                <a14:m>
                  <m:oMath xmlns:m="http://schemas.openxmlformats.org/officeDocument/2006/math">
                    <m:r>
                      <a:rPr lang="en-US" sz="2800" i="1" smtClean="0">
                        <a:latin typeface="Cambria Math" panose="02040503050406030204" pitchFamily="18" charset="0"/>
                        <a:ea typeface="Cambria Math" panose="02040503050406030204" pitchFamily="18" charset="0"/>
                      </a:rPr>
                      <m:t>𝛼</m:t>
                    </m:r>
                    <m:r>
                      <a:rPr lang="en-US" sz="2800" b="0" i="1" smtClean="0">
                        <a:latin typeface="Cambria Math" panose="02040503050406030204" pitchFamily="18" charset="0"/>
                        <a:ea typeface="Cambria Math" panose="02040503050406030204" pitchFamily="18" charset="0"/>
                      </a:rPr>
                      <m:t>=0.35</m:t>
                    </m:r>
                  </m:oMath>
                </a14:m>
                <a:r>
                  <a:rPr lang="en-US" sz="2800" dirty="0"/>
                  <a:t> rad/s2. At time t=0, it has an angular velocity of </a:t>
                </a:r>
                <a14:m>
                  <m:oMath xmlns:m="http://schemas.openxmlformats.org/officeDocument/2006/math">
                    <m:sSub>
                      <m:sSubPr>
                        <m:ctrlPr>
                          <a:rPr lang="en-US" sz="2800" i="1" smtClean="0">
                            <a:latin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𝜔</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=−4.6</m:t>
                    </m:r>
                  </m:oMath>
                </a14:m>
                <a:r>
                  <a:rPr lang="en-US" sz="2800" dirty="0"/>
                  <a:t> rad/s and a reference line on it is horizontal, at the angular position </a:t>
                </a:r>
                <a14:m>
                  <m:oMath xmlns:m="http://schemas.openxmlformats.org/officeDocument/2006/math">
                    <m:sSub>
                      <m:sSubPr>
                        <m:ctrlPr>
                          <a:rPr lang="en-US" sz="2800" i="1">
                            <a:solidFill>
                              <a:prstClr val="black"/>
                            </a:solidFill>
                            <a:latin typeface="Cambria Math" panose="02040503050406030204" pitchFamily="18" charset="0"/>
                          </a:rPr>
                        </m:ctrlPr>
                      </m:sSubPr>
                      <m:e>
                        <m:r>
                          <a:rPr lang="en-US" sz="2800" i="1" smtClean="0">
                            <a:solidFill>
                              <a:prstClr val="black"/>
                            </a:solidFill>
                            <a:latin typeface="Cambria Math" panose="02040503050406030204" pitchFamily="18" charset="0"/>
                            <a:ea typeface="Cambria Math" panose="02040503050406030204" pitchFamily="18" charset="0"/>
                          </a:rPr>
                          <m:t>𝜃</m:t>
                        </m:r>
                      </m:e>
                      <m:sub>
                        <m:r>
                          <a:rPr lang="en-US" sz="2800" i="1">
                            <a:solidFill>
                              <a:prstClr val="black"/>
                            </a:solidFill>
                            <a:latin typeface="Cambria Math" panose="02040503050406030204" pitchFamily="18" charset="0"/>
                          </a:rPr>
                          <m:t>0</m:t>
                        </m:r>
                      </m:sub>
                    </m:sSub>
                    <m:r>
                      <a:rPr lang="en-US" sz="2800" b="0" i="1" smtClean="0">
                        <a:solidFill>
                          <a:prstClr val="black"/>
                        </a:solidFill>
                        <a:latin typeface="Cambria Math" panose="02040503050406030204" pitchFamily="18" charset="0"/>
                      </a:rPr>
                      <m:t>=0.</m:t>
                    </m:r>
                  </m:oMath>
                </a14:m>
                <a:endParaRPr lang="en-US" sz="2800" dirty="0"/>
              </a:p>
              <a:p>
                <a:pPr marL="342900" indent="-342900">
                  <a:buAutoNum type="alphaLcParenBoth"/>
                </a:pPr>
                <a:r>
                  <a:rPr lang="en-US" sz="2800" dirty="0"/>
                  <a:t>At what time after t=0 is the reference line at the angular position </a:t>
                </a:r>
                <a14:m>
                  <m:oMath xmlns:m="http://schemas.openxmlformats.org/officeDocument/2006/math">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𝜃</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=5</m:t>
                    </m:r>
                  </m:oMath>
                </a14:m>
                <a:r>
                  <a:rPr kumimoji="0" lang="en-US" sz="2800" b="0" i="0" u="none" strike="noStrike" kern="1200" cap="none" spc="0" normalizeH="0" baseline="0" noProof="0" dirty="0">
                    <a:ln>
                      <a:noFill/>
                    </a:ln>
                    <a:solidFill>
                      <a:prstClr val="black"/>
                    </a:solidFill>
                    <a:effectLst/>
                    <a:uLnTx/>
                    <a:uFillTx/>
                    <a:latin typeface="Calibri" panose="020F0502020204030204"/>
                  </a:rPr>
                  <a:t> rev?</a:t>
                </a:r>
              </a:p>
              <a:p>
                <a:pPr marL="342900" indent="-342900">
                  <a:buAutoNum type="alphaLcParenBoth"/>
                </a:pPr>
                <a:r>
                  <a:rPr lang="en-US" sz="2800" dirty="0">
                    <a:solidFill>
                      <a:prstClr val="black"/>
                    </a:solidFill>
                    <a:latin typeface="Calibri" panose="020F0502020204030204"/>
                  </a:rPr>
                  <a:t>Describe the grindstone’s rotation between t=0 and t=32 s.</a:t>
                </a:r>
              </a:p>
              <a:p>
                <a:pPr marL="342900" indent="-342900">
                  <a:buAutoNum type="alphaLcParenBoth"/>
                </a:pPr>
                <a:r>
                  <a:rPr lang="en-US" sz="2800" dirty="0">
                    <a:solidFill>
                      <a:prstClr val="black"/>
                    </a:solidFill>
                    <a:latin typeface="Calibri" panose="020F0502020204030204"/>
                  </a:rPr>
                  <a:t>At what time t does the grindstone momentarily stop?</a:t>
                </a:r>
              </a:p>
              <a:p>
                <a:pPr marL="342900" indent="-342900">
                  <a:buAutoNum type="alphaLcParenBoth"/>
                </a:pPr>
                <a:endParaRPr kumimoji="0" lang="en-US" sz="2800" b="0" i="0" u="none" strike="noStrike" kern="1200" cap="none" spc="0" normalizeH="0" baseline="0" noProof="0" dirty="0">
                  <a:ln>
                    <a:noFill/>
                  </a:ln>
                  <a:solidFill>
                    <a:prstClr val="black"/>
                  </a:solidFill>
                  <a:effectLst/>
                  <a:uLnTx/>
                  <a:uFillTx/>
                  <a:latin typeface="Calibri" panose="020F0502020204030204"/>
                </a:endParaRPr>
              </a:p>
              <a:p>
                <a:r>
                  <a:rPr kumimoji="0" lang="en-US" sz="2800" b="0" i="0" u="none" strike="noStrike" kern="1200" cap="none" spc="0" normalizeH="0" baseline="0" noProof="0" dirty="0">
                    <a:ln>
                      <a:noFill/>
                    </a:ln>
                    <a:solidFill>
                      <a:prstClr val="black"/>
                    </a:solidFill>
                    <a:effectLst/>
                    <a:uLnTx/>
                    <a:uFillTx/>
                    <a:latin typeface="Calibri" panose="020F0502020204030204"/>
                  </a:rPr>
                  <a:t/>
                </a:r>
                <a:endParaRPr lang="en-US" sz="2800" dirty="0"/>
              </a:p>
            </p:txBody>
          </p:sp>
        </mc:Choice>
        <mc:Fallback>
          <p:sp>
            <p:nvSpPr>
              <p:cNvPr id="4" name="TextBox 3">
                <a:extLst>
                  <a:ext uri="{FF2B5EF4-FFF2-40B4-BE49-F238E27FC236}">
                    <a16:creationId xmlns:a16="http://schemas.microsoft.com/office/drawing/2014/main" xmlns="" xmlns:a14="http://schemas.microsoft.com/office/drawing/2010/main" id="{738278C7-21BB-6347-4382-94728E54E5C0}"/>
                  </a:ext>
                </a:extLst>
              </p:cNvPr>
              <p:cNvSpPr txBox="1">
                <a:spLocks noRot="1" noChangeAspect="1" noMove="1" noResize="1" noEditPoints="1" noAdjustHandles="1" noChangeArrowheads="1" noChangeShapeType="1" noTextEdit="1"/>
              </p:cNvSpPr>
              <p:nvPr/>
            </p:nvSpPr>
            <p:spPr>
              <a:xfrm>
                <a:off x="1045029" y="466531"/>
                <a:ext cx="10245012" cy="3970318"/>
              </a:xfrm>
              <a:prstGeom prst="rect">
                <a:avLst/>
              </a:prstGeom>
              <a:blipFill>
                <a:blip r:embed="rId2"/>
                <a:stretch>
                  <a:fillRect l="-1249" t="-1536" r="-1309"/>
                </a:stretch>
              </a:blipFill>
            </p:spPr>
            <p:txBody>
              <a:bodyPr/>
              <a:lstStyle/>
              <a:p>
                <a:r>
                  <a:rPr lang="en-US">
                    <a:noFill/>
                  </a:rPr>
                  <a:t> </a:t>
                </a:r>
              </a:p>
            </p:txBody>
          </p:sp>
        </mc:Fallback>
      </mc:AlternateContent>
    </p:spTree>
    <p:extLst>
      <p:ext uri="{BB962C8B-B14F-4D97-AF65-F5344CB8AC3E}">
        <p14:creationId xmlns:p14="http://schemas.microsoft.com/office/powerpoint/2010/main" xmlns="" val="2801337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30060" y="241540"/>
            <a:ext cx="9583948" cy="1200329"/>
          </a:xfrm>
          <a:prstGeom prst="rect">
            <a:avLst/>
          </a:prstGeom>
          <a:noFill/>
        </p:spPr>
        <p:txBody>
          <a:bodyPr wrap="square" rtlCol="0">
            <a:spAutoFit/>
          </a:bodyPr>
          <a:lstStyle/>
          <a:p>
            <a:pPr algn="just"/>
            <a:r>
              <a:rPr lang="en-US" sz="2400" dirty="0" smtClean="0"/>
              <a:t>Suppose the angular position of an object is given by Ɵ=6.39x10</a:t>
            </a:r>
            <a:r>
              <a:rPr lang="en-US" sz="2400" baseline="30000" dirty="0" smtClean="0"/>
              <a:t>-2</a:t>
            </a:r>
            <a:r>
              <a:rPr lang="en-US" sz="2400" dirty="0" smtClean="0"/>
              <a:t>t</a:t>
            </a:r>
            <a:r>
              <a:rPr lang="en-US" sz="2400" baseline="30000" dirty="0" smtClean="0"/>
              <a:t>3 </a:t>
            </a:r>
            <a:r>
              <a:rPr lang="en-US" sz="2400" dirty="0" smtClean="0"/>
              <a:t>what is the angular speed, linear speed, angular acceleration, tangential linear acceleration, radial acceleration, and acceleration of the object at t=2.20 s  </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srcRect/>
          <a:stretch>
            <a:fillRect/>
          </a:stretch>
        </p:blipFill>
        <p:spPr bwMode="auto">
          <a:xfrm>
            <a:off x="3516265" y="3310026"/>
            <a:ext cx="4773629" cy="2141867"/>
          </a:xfrm>
          <a:prstGeom prst="rect">
            <a:avLst/>
          </a:prstGeom>
          <a:noFill/>
          <a:ln w="9525">
            <a:noFill/>
            <a:miter lim="800000"/>
            <a:headEnd/>
            <a:tailEnd/>
          </a:ln>
          <a:effectLst/>
        </p:spPr>
      </p:pic>
      <p:sp>
        <p:nvSpPr>
          <p:cNvPr id="5" name="TextBox 4"/>
          <p:cNvSpPr txBox="1"/>
          <p:nvPr/>
        </p:nvSpPr>
        <p:spPr>
          <a:xfrm>
            <a:off x="1017916" y="224286"/>
            <a:ext cx="9790981" cy="2308324"/>
          </a:xfrm>
          <a:prstGeom prst="rect">
            <a:avLst/>
          </a:prstGeom>
          <a:noFill/>
        </p:spPr>
        <p:txBody>
          <a:bodyPr wrap="square" rtlCol="0">
            <a:spAutoFit/>
          </a:bodyPr>
          <a:lstStyle/>
          <a:p>
            <a:r>
              <a:rPr lang="en-US" sz="2400" dirty="0" smtClean="0"/>
              <a:t>Figure shows a rigid body consisting of two particles of mass m connected by a rod of length L and negligible mass. </a:t>
            </a:r>
          </a:p>
          <a:p>
            <a:r>
              <a:rPr lang="en-US" sz="2400" dirty="0" smtClean="0"/>
              <a:t>(a) What is the rotational inertia I</a:t>
            </a:r>
            <a:r>
              <a:rPr lang="en-US" sz="2400" baseline="-25000" dirty="0" smtClean="0"/>
              <a:t>com</a:t>
            </a:r>
            <a:r>
              <a:rPr lang="en-US" sz="2400" dirty="0" smtClean="0"/>
              <a:t> about an axis through the center of mass perpendicular to the rod shown?</a:t>
            </a:r>
          </a:p>
          <a:p>
            <a:r>
              <a:rPr lang="en-US" sz="2400" dirty="0" smtClean="0"/>
              <a:t>(b) What is the rotational inertia I of the body about an axis through the left end of the rod and parallel to the first axis.</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4456B82B-7A18-6061-0F79-EED7E2650736}"/>
              </a:ext>
            </a:extLst>
          </p:cNvPr>
          <p:cNvSpPr txBox="1"/>
          <p:nvPr/>
        </p:nvSpPr>
        <p:spPr>
          <a:xfrm>
            <a:off x="1082351" y="513184"/>
            <a:ext cx="10217020" cy="3108543"/>
          </a:xfrm>
          <a:prstGeom prst="rect">
            <a:avLst/>
          </a:prstGeom>
          <a:noFill/>
        </p:spPr>
        <p:txBody>
          <a:bodyPr wrap="square" rtlCol="0">
            <a:spAutoFit/>
          </a:bodyPr>
          <a:lstStyle/>
          <a:p>
            <a:r>
              <a:rPr lang="en-US" sz="2800" dirty="0"/>
              <a:t>A thin, uniform rod of mass M and length L, on an x axis with the origin at the rod’s center.</a:t>
            </a:r>
          </a:p>
          <a:p>
            <a:pPr marL="342900" indent="-342900">
              <a:buAutoNum type="alphaLcParenBoth"/>
            </a:pPr>
            <a:r>
              <a:rPr lang="en-US" sz="2800" dirty="0"/>
              <a:t>What is the rotational inertia of the rod about the perpendicular rotation axis through the center?</a:t>
            </a:r>
          </a:p>
          <a:p>
            <a:pPr marL="342900" indent="-342900">
              <a:buAutoNum type="alphaLcParenBoth"/>
            </a:pPr>
            <a:r>
              <a:rPr lang="en-US" sz="2800" dirty="0"/>
              <a:t>What is the rod’s rotational inertia I about a new rotation axis that is perpendicular to the rod and through the left end?</a:t>
            </a:r>
          </a:p>
          <a:p>
            <a:pPr marL="342900" indent="-342900">
              <a:buAutoNum type="alphaLcParenBoth"/>
            </a:pPr>
            <a:endParaRPr lang="en-US" sz="2800" dirty="0"/>
          </a:p>
        </p:txBody>
      </p:sp>
    </p:spTree>
    <p:extLst>
      <p:ext uri="{BB962C8B-B14F-4D97-AF65-F5344CB8AC3E}">
        <p14:creationId xmlns:p14="http://schemas.microsoft.com/office/powerpoint/2010/main" xmlns="" val="3730550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9497C8C7-D33F-C519-2604-B8D5A14DD828}"/>
              </a:ext>
            </a:extLst>
          </p:cNvPr>
          <p:cNvPicPr>
            <a:picLocks noChangeAspect="1"/>
          </p:cNvPicPr>
          <p:nvPr/>
        </p:nvPicPr>
        <p:blipFill>
          <a:blip r:embed="rId2"/>
          <a:stretch>
            <a:fillRect/>
          </a:stretch>
        </p:blipFill>
        <p:spPr>
          <a:xfrm>
            <a:off x="703996" y="976155"/>
            <a:ext cx="10784007" cy="4116118"/>
          </a:xfrm>
          <a:prstGeom prst="rect">
            <a:avLst/>
          </a:prstGeom>
        </p:spPr>
      </p:pic>
    </p:spTree>
    <p:extLst>
      <p:ext uri="{BB962C8B-B14F-4D97-AF65-F5344CB8AC3E}">
        <p14:creationId xmlns:p14="http://schemas.microsoft.com/office/powerpoint/2010/main" xmlns="" val="3089287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173C3F91-4CB8-D7D7-AF3C-51D2B52A0A54}"/>
              </a:ext>
            </a:extLst>
          </p:cNvPr>
          <p:cNvSpPr txBox="1"/>
          <p:nvPr/>
        </p:nvSpPr>
        <p:spPr>
          <a:xfrm>
            <a:off x="1212881" y="503853"/>
            <a:ext cx="9554646" cy="2677656"/>
          </a:xfrm>
          <a:prstGeom prst="rect">
            <a:avLst/>
          </a:prstGeom>
          <a:noFill/>
        </p:spPr>
        <p:txBody>
          <a:bodyPr wrap="square" rtlCol="0">
            <a:spAutoFit/>
          </a:bodyPr>
          <a:lstStyle/>
          <a:p>
            <a:pPr algn="just"/>
            <a:r>
              <a:rPr lang="en-US" sz="2800" dirty="0"/>
              <a:t>Figure shows a uniform disk, with mass M=2.5 kg and radius R=20 cm, mounted on a fixed horizontal axle. A block with mass m=1.2 kg hangs from a massless cord that is wrapped around the rim of the disk. Find the acceleration of the falling block, and the angular acceleration of the disk, and the tension of the cord. The cord does not slip, and there is no friction at the axle.</a:t>
            </a:r>
          </a:p>
        </p:txBody>
      </p:sp>
      <p:pic>
        <p:nvPicPr>
          <p:cNvPr id="6" name="Picture 5">
            <a:extLst>
              <a:ext uri="{FF2B5EF4-FFF2-40B4-BE49-F238E27FC236}">
                <a16:creationId xmlns:a16="http://schemas.microsoft.com/office/drawing/2014/main" xmlns="" id="{D3CE52EA-89AF-C98B-884F-3CDC04A94BC2}"/>
              </a:ext>
            </a:extLst>
          </p:cNvPr>
          <p:cNvPicPr>
            <a:picLocks noChangeAspect="1"/>
          </p:cNvPicPr>
          <p:nvPr/>
        </p:nvPicPr>
        <p:blipFill>
          <a:blip r:embed="rId2"/>
          <a:stretch>
            <a:fillRect/>
          </a:stretch>
        </p:blipFill>
        <p:spPr>
          <a:xfrm>
            <a:off x="588633" y="3043677"/>
            <a:ext cx="2440321" cy="3433937"/>
          </a:xfrm>
          <a:prstGeom prst="rect">
            <a:avLst/>
          </a:prstGeom>
        </p:spPr>
      </p:pic>
      <p:pic>
        <p:nvPicPr>
          <p:cNvPr id="8" name="Picture 7">
            <a:extLst>
              <a:ext uri="{FF2B5EF4-FFF2-40B4-BE49-F238E27FC236}">
                <a16:creationId xmlns:a16="http://schemas.microsoft.com/office/drawing/2014/main" xmlns="" id="{B8D995D4-97DA-AE41-AAD7-EBBDED541FE3}"/>
              </a:ext>
            </a:extLst>
          </p:cNvPr>
          <p:cNvPicPr>
            <a:picLocks noChangeAspect="1"/>
          </p:cNvPicPr>
          <p:nvPr/>
        </p:nvPicPr>
        <p:blipFill>
          <a:blip r:embed="rId3"/>
          <a:stretch>
            <a:fillRect/>
          </a:stretch>
        </p:blipFill>
        <p:spPr>
          <a:xfrm>
            <a:off x="3133049" y="3043677"/>
            <a:ext cx="1256294" cy="3242291"/>
          </a:xfrm>
          <a:prstGeom prst="rect">
            <a:avLst/>
          </a:prstGeom>
        </p:spPr>
      </p:pic>
      <p:sp>
        <p:nvSpPr>
          <p:cNvPr id="3" name="TextBox 2">
            <a:extLst>
              <a:ext uri="{FF2B5EF4-FFF2-40B4-BE49-F238E27FC236}">
                <a16:creationId xmlns:a16="http://schemas.microsoft.com/office/drawing/2014/main" xmlns="" id="{DBC1BA14-3C3F-F6AD-9584-E711A895E0FE}"/>
              </a:ext>
            </a:extLst>
          </p:cNvPr>
          <p:cNvSpPr txBox="1"/>
          <p:nvPr/>
        </p:nvSpPr>
        <p:spPr>
          <a:xfrm>
            <a:off x="4389343" y="3676492"/>
            <a:ext cx="7451387" cy="1569660"/>
          </a:xfrm>
          <a:prstGeom prst="rect">
            <a:avLst/>
          </a:prstGeom>
          <a:noFill/>
        </p:spPr>
        <p:txBody>
          <a:bodyPr wrap="square">
            <a:spAutoFit/>
          </a:bodyPr>
          <a:lstStyle/>
          <a:p>
            <a:r>
              <a:rPr lang="en-US" sz="2400" b="0" i="0" dirty="0">
                <a:solidFill>
                  <a:srgbClr val="231F20"/>
                </a:solidFill>
                <a:effectLst/>
                <a:latin typeface="Times New Roman" panose="02020603050405020304" pitchFamily="18" charset="0"/>
                <a:cs typeface="Times New Roman" panose="02020603050405020304" pitchFamily="18" charset="0"/>
              </a:rPr>
              <a:t>Let the disk in Fig. start from rest at time t= 0 and also let the tension in the massless cord be 6.0 N and the angular acceleration of the disk be -24 rad/s</a:t>
            </a:r>
            <a:r>
              <a:rPr lang="en-US" sz="2400" b="0" i="0" baseline="30000" dirty="0">
                <a:solidFill>
                  <a:srgbClr val="231F20"/>
                </a:solidFill>
                <a:effectLst/>
                <a:latin typeface="Times New Roman" panose="02020603050405020304" pitchFamily="18" charset="0"/>
                <a:cs typeface="Times New Roman" panose="02020603050405020304" pitchFamily="18" charset="0"/>
              </a:rPr>
              <a:t>2</a:t>
            </a:r>
            <a:r>
              <a:rPr lang="en-US" sz="2400" b="0" i="0" dirty="0">
                <a:solidFill>
                  <a:srgbClr val="231F20"/>
                </a:solidFill>
                <a:effectLst/>
                <a:latin typeface="Times New Roman" panose="02020603050405020304" pitchFamily="18" charset="0"/>
                <a:cs typeface="Times New Roman" panose="02020603050405020304" pitchFamily="18" charset="0"/>
              </a:rPr>
              <a:t>. What is its rotational kinetic energy K at t=2.5 s?</a:t>
            </a:r>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xmlns="" val="29182095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308</Words>
  <Application>Microsoft Office PowerPoint</Application>
  <PresentationFormat>Custom</PresentationFormat>
  <Paragraphs>12</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akabir</dc:creator>
  <cp:lastModifiedBy>AMAR PC</cp:lastModifiedBy>
  <cp:revision>10</cp:revision>
  <dcterms:created xsi:type="dcterms:W3CDTF">2022-11-04T13:53:17Z</dcterms:created>
  <dcterms:modified xsi:type="dcterms:W3CDTF">2025-11-12T14:24:14Z</dcterms:modified>
</cp:coreProperties>
</file>