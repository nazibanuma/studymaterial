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handoutMasterIdLst>
    <p:handoutMasterId r:id="rId23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1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5" r:id="rId19"/>
    <p:sldId id="274" r:id="rId20"/>
    <p:sldId id="273" r:id="rId21"/>
    <p:sldId id="276" r:id="rId22"/>
  </p:sldIdLst>
  <p:sldSz cx="9144000" cy="6858000" type="screen4x3"/>
  <p:notesSz cx="9874250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2027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C9DBBA-400B-4803-A56C-588C95063317}" type="datetimeFigureOut">
              <a:rPr lang="en-US" smtClean="0"/>
              <a:pPr/>
              <a:t>7/24/2018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2027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F4309-A122-4D24-8DFD-53B8F6FFF2C4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20756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7/24/2018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7/24/2018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7/24/2018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7/24/2018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7/24/2018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3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9.png"/><Relationship Id="rId11" Type="http://schemas.openxmlformats.org/officeDocument/2006/relationships/image" Target="../media/image22.png"/><Relationship Id="rId5" Type="http://schemas.openxmlformats.org/officeDocument/2006/relationships/image" Target="../media/image18.png"/><Relationship Id="rId10" Type="http://schemas.openxmlformats.org/officeDocument/2006/relationships/image" Target="../media/image15.wmf"/><Relationship Id="rId4" Type="http://schemas.openxmlformats.org/officeDocument/2006/relationships/image" Target="../media/image17.png"/><Relationship Id="rId9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oleObject" Target="../embeddings/oleObject10.bin"/><Relationship Id="rId3" Type="http://schemas.openxmlformats.org/officeDocument/2006/relationships/image" Target="../media/image26.png"/><Relationship Id="rId7" Type="http://schemas.openxmlformats.org/officeDocument/2006/relationships/image" Target="../media/image25.wmf"/><Relationship Id="rId12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11" Type="http://schemas.openxmlformats.org/officeDocument/2006/relationships/oleObject" Target="../embeddings/oleObject8.bin"/><Relationship Id="rId5" Type="http://schemas.openxmlformats.org/officeDocument/2006/relationships/image" Target="../media/image24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3.bin"/><Relationship Id="rId9" Type="http://schemas.openxmlformats.org/officeDocument/2006/relationships/oleObject" Target="../embeddings/oleObject6.bin"/><Relationship Id="rId1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30.png"/><Relationship Id="rId7" Type="http://schemas.openxmlformats.org/officeDocument/2006/relationships/oleObject" Target="../embeddings/oleObject12.bin"/><Relationship Id="rId12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1.bin"/><Relationship Id="rId10" Type="http://schemas.openxmlformats.org/officeDocument/2006/relationships/oleObject" Target="../embeddings/oleObject15.bin"/><Relationship Id="rId4" Type="http://schemas.openxmlformats.org/officeDocument/2006/relationships/image" Target="../media/image31.png"/><Relationship Id="rId9" Type="http://schemas.openxmlformats.org/officeDocument/2006/relationships/oleObject" Target="../embeddings/oleObject14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image" Target="../media/image39.png"/><Relationship Id="rId7" Type="http://schemas.openxmlformats.org/officeDocument/2006/relationships/oleObject" Target="../embeddings/oleObject19.bin"/><Relationship Id="rId12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7.wmf"/><Relationship Id="rId11" Type="http://schemas.openxmlformats.org/officeDocument/2006/relationships/image" Target="../media/image38.wmf"/><Relationship Id="rId5" Type="http://schemas.openxmlformats.org/officeDocument/2006/relationships/oleObject" Target="../embeddings/oleObject18.bin"/><Relationship Id="rId10" Type="http://schemas.openxmlformats.org/officeDocument/2006/relationships/oleObject" Target="../embeddings/oleObject22.bin"/><Relationship Id="rId4" Type="http://schemas.openxmlformats.org/officeDocument/2006/relationships/image" Target="../media/image40.png"/><Relationship Id="rId9" Type="http://schemas.openxmlformats.org/officeDocument/2006/relationships/oleObject" Target="../embeddings/oleObject2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143108" y="500042"/>
            <a:ext cx="6172200" cy="1894362"/>
          </a:xfrm>
          <a:prstGeom prst="rect">
            <a:avLst/>
          </a:prstGeom>
        </p:spPr>
        <p:txBody>
          <a:bodyPr vert="horz" anchor="b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MAT 350</a:t>
            </a:r>
            <a:b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Engineering mathematics</a:t>
            </a:r>
            <a:b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286000" y="5334000"/>
            <a:ext cx="6172200" cy="109267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Dr. M.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Sahadet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Hossain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Mth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Associate Professor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Department of Mathematics and Physics, NSU.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erlin Sans FB" pitchFamily="34" charset="0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14600" y="2697786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1" dirty="0" smtClean="0">
                <a:solidFill>
                  <a:schemeClr val="tx1">
                    <a:lumMod val="95000"/>
                  </a:schemeClr>
                </a:solidFill>
              </a:rPr>
              <a:t>System of First order ODEs</a:t>
            </a:r>
            <a:endParaRPr lang="en-AU" b="1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43174" y="4000504"/>
            <a:ext cx="3786214" cy="400110"/>
          </a:xfrm>
          <a:prstGeom prst="rect">
            <a:avLst/>
          </a:prstGeom>
          <a:solidFill>
            <a:srgbClr val="00B0F0">
              <a:alpha val="94000"/>
            </a:srgbClr>
          </a:solidFill>
        </p:spPr>
        <p:txBody>
          <a:bodyPr wrap="square" rtlCol="0">
            <a:spAutoFit/>
          </a:bodyPr>
          <a:lstStyle/>
          <a:p>
            <a:r>
              <a:rPr lang="en-AU" sz="2000" b="1" dirty="0" smtClean="0">
                <a:solidFill>
                  <a:srgbClr val="FF0000"/>
                </a:solidFill>
              </a:rPr>
              <a:t>Lecture: 11</a:t>
            </a:r>
            <a:endParaRPr lang="en-AU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1143000"/>
            <a:ext cx="3657600" cy="275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066800" y="4419600"/>
            <a:ext cx="7162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A system such as (1) of </a:t>
            </a:r>
            <a:r>
              <a:rPr lang="en-US" i="1" dirty="0" smtClean="0"/>
              <a:t>n first-order equations is called a </a:t>
            </a:r>
            <a:r>
              <a:rPr lang="en-US" b="1" dirty="0" smtClean="0"/>
              <a:t>first-order system.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7467600" y="19050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(1)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43000" y="5257800"/>
            <a:ext cx="6553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When each of the functions g</a:t>
            </a:r>
            <a:r>
              <a:rPr lang="en-US" baseline="-25000" dirty="0" smtClean="0"/>
              <a:t>1</a:t>
            </a:r>
            <a:r>
              <a:rPr lang="en-US" dirty="0" smtClean="0"/>
              <a:t>, g</a:t>
            </a:r>
            <a:r>
              <a:rPr lang="en-US" baseline="-25000" dirty="0" smtClean="0"/>
              <a:t>2</a:t>
            </a:r>
            <a:r>
              <a:rPr lang="en-US" dirty="0" smtClean="0"/>
              <a:t>, . . . , </a:t>
            </a:r>
            <a:r>
              <a:rPr lang="en-US" dirty="0" err="1" smtClean="0"/>
              <a:t>g</a:t>
            </a:r>
            <a:r>
              <a:rPr lang="en-US" baseline="-25000" dirty="0" err="1" smtClean="0"/>
              <a:t>n</a:t>
            </a:r>
            <a:r>
              <a:rPr lang="en-US" dirty="0" smtClean="0"/>
              <a:t> in (1) is linear</a:t>
            </a:r>
          </a:p>
          <a:p>
            <a:r>
              <a:rPr lang="en-US" dirty="0" smtClean="0"/>
              <a:t>in the dependent variables x</a:t>
            </a:r>
            <a:r>
              <a:rPr lang="en-US" baseline="-25000" dirty="0" smtClean="0"/>
              <a:t>1</a:t>
            </a:r>
            <a:r>
              <a:rPr lang="en-US" dirty="0" smtClean="0"/>
              <a:t>, x</a:t>
            </a:r>
            <a:r>
              <a:rPr lang="en-US" baseline="-25000" dirty="0" smtClean="0"/>
              <a:t>2</a:t>
            </a:r>
            <a:r>
              <a:rPr lang="en-US" dirty="0" smtClean="0"/>
              <a:t>, . . . , </a:t>
            </a:r>
            <a:r>
              <a:rPr lang="en-US" dirty="0" err="1" smtClean="0"/>
              <a:t>x</a:t>
            </a:r>
            <a:r>
              <a:rPr lang="en-US" baseline="-25000" dirty="0" err="1" smtClean="0"/>
              <a:t>n</a:t>
            </a:r>
            <a:r>
              <a:rPr lang="en-US" dirty="0" smtClean="0"/>
              <a:t>, we get the normal form of a </a:t>
            </a:r>
            <a:r>
              <a:rPr lang="en-US" b="1" dirty="0" smtClean="0"/>
              <a:t>first-order system of linear equations</a:t>
            </a:r>
            <a:r>
              <a:rPr lang="en-US" dirty="0" smtClean="0"/>
              <a:t>: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lum bright="-18000" contrast="24000"/>
          </a:blip>
          <a:srcRect/>
          <a:stretch>
            <a:fillRect/>
          </a:stretch>
        </p:blipFill>
        <p:spPr bwMode="auto">
          <a:xfrm>
            <a:off x="1828800" y="1025394"/>
            <a:ext cx="5029200" cy="24418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914400" y="3657600"/>
            <a:ext cx="7239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We refer to a system of the form given in (2) simply as a </a:t>
            </a:r>
            <a:r>
              <a:rPr lang="en-US" b="1" dirty="0" smtClean="0"/>
              <a:t>linear system. We </a:t>
            </a:r>
            <a:r>
              <a:rPr lang="en-US" dirty="0" smtClean="0"/>
              <a:t>assume that the coefficients </a:t>
            </a:r>
            <a:r>
              <a:rPr lang="en-US" dirty="0" err="1" smtClean="0"/>
              <a:t>a</a:t>
            </a:r>
            <a:r>
              <a:rPr lang="en-US" baseline="-25000" dirty="0" err="1" smtClean="0"/>
              <a:t>ij</a:t>
            </a:r>
            <a:r>
              <a:rPr lang="en-US" dirty="0" smtClean="0"/>
              <a:t> as well as the functions </a:t>
            </a:r>
            <a:r>
              <a:rPr lang="en-US" i="1" dirty="0" err="1" smtClean="0"/>
              <a:t>f</a:t>
            </a:r>
            <a:r>
              <a:rPr lang="en-US" baseline="-25000" dirty="0" err="1" smtClean="0"/>
              <a:t>i</a:t>
            </a:r>
            <a:r>
              <a:rPr lang="en-US" dirty="0" smtClean="0"/>
              <a:t> are continuous on a common interval I. </a:t>
            </a:r>
          </a:p>
          <a:p>
            <a:endParaRPr lang="en-US" dirty="0" smtClean="0"/>
          </a:p>
          <a:p>
            <a:r>
              <a:rPr lang="en-US" dirty="0" smtClean="0"/>
              <a:t>When </a:t>
            </a:r>
            <a:r>
              <a:rPr lang="en-US" i="1" dirty="0" err="1" smtClean="0"/>
              <a:t>f</a:t>
            </a:r>
            <a:r>
              <a:rPr lang="en-US" baseline="-25000" dirty="0" err="1" smtClean="0"/>
              <a:t>i</a:t>
            </a:r>
            <a:r>
              <a:rPr lang="en-US" dirty="0" smtClean="0"/>
              <a:t>(t)= 0, for </a:t>
            </a:r>
            <a:r>
              <a:rPr lang="en-US" dirty="0" err="1" smtClean="0"/>
              <a:t>i</a:t>
            </a:r>
            <a:r>
              <a:rPr lang="en-US" dirty="0" smtClean="0"/>
              <a:t>= 1, 2, . . . , n, the linear system (2) is said to be </a:t>
            </a:r>
            <a:r>
              <a:rPr lang="en-US" b="1" dirty="0" smtClean="0"/>
              <a:t>homogeneous; otherwise, it is </a:t>
            </a:r>
            <a:r>
              <a:rPr lang="en-US" b="1" dirty="0" err="1" smtClean="0"/>
              <a:t>nonhomogeneous</a:t>
            </a:r>
            <a:r>
              <a:rPr lang="en-US" b="1" dirty="0" smtClean="0"/>
              <a:t>.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772400" y="14478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(2)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lum bright="-16000" contrast="28000"/>
          </a:blip>
          <a:srcRect/>
          <a:stretch>
            <a:fillRect/>
          </a:stretch>
        </p:blipFill>
        <p:spPr bwMode="auto">
          <a:xfrm>
            <a:off x="609600" y="228600"/>
            <a:ext cx="7701419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>
            <a:lum bright="-18000" contrast="20000"/>
          </a:blip>
          <a:srcRect/>
          <a:stretch>
            <a:fillRect/>
          </a:stretch>
        </p:blipFill>
        <p:spPr bwMode="auto">
          <a:xfrm>
            <a:off x="1219201" y="3429000"/>
            <a:ext cx="6629399" cy="3200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533400" y="2895600"/>
            <a:ext cx="800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Then the system of linear first-order differential equations (2) can be written as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858000" y="54864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(4)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010400" y="62484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(5)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001000" y="15240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(3)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lum bright="-11000" contrast="18000"/>
          </a:blip>
          <a:srcRect/>
          <a:stretch>
            <a:fillRect/>
          </a:stretch>
        </p:blipFill>
        <p:spPr bwMode="auto">
          <a:xfrm>
            <a:off x="1142999" y="838200"/>
            <a:ext cx="6882735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lum bright="-11000" contrast="18000"/>
          </a:blip>
          <a:srcRect/>
          <a:stretch>
            <a:fillRect/>
          </a:stretch>
        </p:blipFill>
        <p:spPr bwMode="auto">
          <a:xfrm>
            <a:off x="1143000" y="3657600"/>
            <a:ext cx="6858000" cy="2897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lum bright="-12000" contrast="17000"/>
          </a:blip>
          <a:srcRect/>
          <a:stretch>
            <a:fillRect/>
          </a:stretch>
        </p:blipFill>
        <p:spPr bwMode="auto">
          <a:xfrm>
            <a:off x="990600" y="685799"/>
            <a:ext cx="7391400" cy="35304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066800" y="4953000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Note: </a:t>
            </a:r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solution X is a vector. Hence, important properties applied to vectors, such as superposition principle, linear combination, linear independence/ dependence, etc., are also applicable here for X.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lum bright="-10000" contrast="14000"/>
          </a:blip>
          <a:srcRect/>
          <a:stretch>
            <a:fillRect/>
          </a:stretch>
        </p:blipFill>
        <p:spPr bwMode="auto">
          <a:xfrm>
            <a:off x="381000" y="609601"/>
            <a:ext cx="7696200" cy="4269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lum bright="-12000" contrast="22000"/>
          </a:blip>
          <a:srcRect/>
          <a:stretch>
            <a:fillRect/>
          </a:stretch>
        </p:blipFill>
        <p:spPr bwMode="auto">
          <a:xfrm>
            <a:off x="762000" y="457200"/>
            <a:ext cx="7585788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lum bright="-19000" contrast="33000"/>
          </a:blip>
          <a:srcRect/>
          <a:stretch>
            <a:fillRect/>
          </a:stretch>
        </p:blipFill>
        <p:spPr bwMode="auto">
          <a:xfrm>
            <a:off x="1066799" y="4572000"/>
            <a:ext cx="7170057" cy="1524000"/>
          </a:xfrm>
          <a:prstGeom prst="rect">
            <a:avLst/>
          </a:prstGeom>
          <a:noFill/>
          <a:ln w="28575">
            <a:solidFill>
              <a:srgbClr val="00B050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lum bright="-15000" contrast="28000"/>
          </a:blip>
          <a:srcRect/>
          <a:stretch>
            <a:fillRect/>
          </a:stretch>
        </p:blipFill>
        <p:spPr bwMode="auto">
          <a:xfrm>
            <a:off x="762000" y="685800"/>
            <a:ext cx="7235092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lum bright="-17000" contrast="21000"/>
          </a:blip>
          <a:srcRect/>
          <a:stretch>
            <a:fillRect/>
          </a:stretch>
        </p:blipFill>
        <p:spPr bwMode="auto">
          <a:xfrm>
            <a:off x="914399" y="457200"/>
            <a:ext cx="7741887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lum bright="-9000" contrast="19000"/>
          </a:blip>
          <a:srcRect/>
          <a:stretch>
            <a:fillRect/>
          </a:stretch>
        </p:blipFill>
        <p:spPr bwMode="auto">
          <a:xfrm>
            <a:off x="609600" y="1981200"/>
            <a:ext cx="7507402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533400"/>
            <a:ext cx="3876675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0" y="1447800"/>
            <a:ext cx="257556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352800" y="2057400"/>
            <a:ext cx="2390692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429000" y="4038600"/>
            <a:ext cx="2971800" cy="3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6172200" y="144780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(1)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1447800" y="19812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where,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6781800" y="274320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(2)</a:t>
            </a:r>
            <a:endParaRPr lang="en-AU" dirty="0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447800" y="4953000"/>
            <a:ext cx="5883729" cy="391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410200" y="5562600"/>
            <a:ext cx="2035969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32" name="Object 8"/>
          <p:cNvGraphicFramePr>
            <a:graphicFrameLocks noChangeAspect="1"/>
          </p:cNvGraphicFramePr>
          <p:nvPr/>
        </p:nvGraphicFramePr>
        <p:xfrm>
          <a:off x="5943600" y="5562600"/>
          <a:ext cx="457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Equation" r:id="rId9" imgW="139680" imgH="177480" progId="">
                  <p:embed/>
                </p:oleObj>
              </mc:Choice>
              <mc:Fallback>
                <p:oleObj name="Equation" r:id="rId9" imgW="139680" imgH="17748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5562600"/>
                        <a:ext cx="4572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447800" y="5867400"/>
            <a:ext cx="20814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34" name="Object 10"/>
          <p:cNvGraphicFramePr>
            <a:graphicFrameLocks noChangeAspect="1"/>
          </p:cNvGraphicFramePr>
          <p:nvPr/>
        </p:nvGraphicFramePr>
        <p:xfrm>
          <a:off x="2362200" y="5892800"/>
          <a:ext cx="457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Equation" r:id="rId12" imgW="139680" imgH="177480" progId="">
                  <p:embed/>
                </p:oleObj>
              </mc:Choice>
              <mc:Fallback>
                <p:oleObj name="Equation" r:id="rId12" imgW="139680" imgH="17748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892800"/>
                        <a:ext cx="4572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048000" y="6324600"/>
            <a:ext cx="3352800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457200"/>
            <a:ext cx="8033311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4514850" y="3352800"/>
          <a:ext cx="114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2" name="Equation" r:id="rId4" imgW="114120" imgH="152280" progId="">
                  <p:embed/>
                </p:oleObj>
              </mc:Choice>
              <mc:Fallback>
                <p:oleObj name="Equation" r:id="rId4" imgW="114120" imgH="15228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52800"/>
                        <a:ext cx="114300" cy="152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Object 4"/>
          <p:cNvGraphicFramePr>
            <a:graphicFrameLocks noChangeAspect="1"/>
          </p:cNvGraphicFramePr>
          <p:nvPr/>
        </p:nvGraphicFramePr>
        <p:xfrm>
          <a:off x="1905000" y="3810000"/>
          <a:ext cx="4381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3" name="Equation" r:id="rId6" imgW="114120" imgH="152280" progId="">
                  <p:embed/>
                </p:oleObj>
              </mc:Choice>
              <mc:Fallback>
                <p:oleObj name="Equation" r:id="rId6" imgW="114120" imgH="15228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810000"/>
                        <a:ext cx="4381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/>
        </p:nvGraphicFramePr>
        <p:xfrm>
          <a:off x="3124200" y="3657600"/>
          <a:ext cx="4381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4" name="Equation" r:id="rId8" imgW="114120" imgH="152280" progId="">
                  <p:embed/>
                </p:oleObj>
              </mc:Choice>
              <mc:Fallback>
                <p:oleObj name="Equation" r:id="rId8" imgW="114120" imgH="15228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657600"/>
                        <a:ext cx="4381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7"/>
          <p:cNvGraphicFramePr>
            <a:graphicFrameLocks noChangeAspect="1"/>
          </p:cNvGraphicFramePr>
          <p:nvPr/>
        </p:nvGraphicFramePr>
        <p:xfrm>
          <a:off x="3894408" y="3990536"/>
          <a:ext cx="4381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5" name="Equation" r:id="rId9" imgW="114120" imgH="152280" progId="">
                  <p:embed/>
                </p:oleObj>
              </mc:Choice>
              <mc:Fallback>
                <p:oleObj name="Equation" r:id="rId9" imgW="114120" imgH="152280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4408" y="3990536"/>
                        <a:ext cx="4381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/>
        </p:nvGraphicFramePr>
        <p:xfrm>
          <a:off x="4461804" y="3858064"/>
          <a:ext cx="4381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6" name="Equation" r:id="rId10" imgW="114120" imgH="152280" progId="">
                  <p:embed/>
                </p:oleObj>
              </mc:Choice>
              <mc:Fallback>
                <p:oleObj name="Equation" r:id="rId10" imgW="114120" imgH="15228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1804" y="3858064"/>
                        <a:ext cx="4381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/>
        </p:nvGraphicFramePr>
        <p:xfrm>
          <a:off x="5130310" y="3829928"/>
          <a:ext cx="4381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7" name="Equation" r:id="rId11" imgW="114120" imgH="152280" progId="">
                  <p:embed/>
                </p:oleObj>
              </mc:Choice>
              <mc:Fallback>
                <p:oleObj name="Equation" r:id="rId11" imgW="114120" imgH="152280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0310" y="3829928"/>
                        <a:ext cx="4381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/>
        </p:nvGraphicFramePr>
        <p:xfrm>
          <a:off x="6076072" y="3810000"/>
          <a:ext cx="4381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8" name="Equation" r:id="rId12" imgW="114120" imgH="152280" progId="">
                  <p:embed/>
                </p:oleObj>
              </mc:Choice>
              <mc:Fallback>
                <p:oleObj name="Equation" r:id="rId12" imgW="114120" imgH="15228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6072" y="3810000"/>
                        <a:ext cx="4381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1" name="Object 11"/>
          <p:cNvGraphicFramePr>
            <a:graphicFrameLocks noChangeAspect="1"/>
          </p:cNvGraphicFramePr>
          <p:nvPr/>
        </p:nvGraphicFramePr>
        <p:xfrm>
          <a:off x="6838072" y="3824068"/>
          <a:ext cx="4381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9" name="Equation" r:id="rId13" imgW="114120" imgH="152280" progId="">
                  <p:embed/>
                </p:oleObj>
              </mc:Choice>
              <mc:Fallback>
                <p:oleObj name="Equation" r:id="rId13" imgW="114120" imgH="152280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8072" y="3824068"/>
                        <a:ext cx="4381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613" name="Picture 13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143000" y="4456386"/>
            <a:ext cx="6019800" cy="1660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5410200" y="624840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Continue-...........</a:t>
            </a:r>
            <a:endParaRPr lang="en-A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219200"/>
            <a:ext cx="7422988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5334000" y="525780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Continue-...........</a:t>
            </a:r>
            <a:endParaRPr lang="en-A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609600"/>
            <a:ext cx="8150055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533400"/>
            <a:ext cx="824374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0" y="3962400"/>
            <a:ext cx="7697164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1729446" y="4876800"/>
          <a:ext cx="4381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3" name="Equation" r:id="rId5" imgW="114120" imgH="152280" progId="">
                  <p:embed/>
                </p:oleObj>
              </mc:Choice>
              <mc:Fallback>
                <p:oleObj name="Equation" r:id="rId5" imgW="114120" imgH="15228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9446" y="4876800"/>
                        <a:ext cx="4381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/>
          <p:cNvGraphicFramePr>
            <a:graphicFrameLocks noChangeAspect="1"/>
          </p:cNvGraphicFramePr>
          <p:nvPr/>
        </p:nvGraphicFramePr>
        <p:xfrm>
          <a:off x="3048000" y="4572000"/>
          <a:ext cx="4381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4" name="Equation" r:id="rId7" imgW="114120" imgH="152280" progId="">
                  <p:embed/>
                </p:oleObj>
              </mc:Choice>
              <mc:Fallback>
                <p:oleObj name="Equation" r:id="rId7" imgW="114120" imgH="15228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572000"/>
                        <a:ext cx="4381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6"/>
          <p:cNvGraphicFramePr>
            <a:graphicFrameLocks noChangeAspect="1"/>
          </p:cNvGraphicFramePr>
          <p:nvPr/>
        </p:nvGraphicFramePr>
        <p:xfrm>
          <a:off x="3790072" y="4876800"/>
          <a:ext cx="4381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5" name="Equation" r:id="rId8" imgW="114120" imgH="152280" progId="">
                  <p:embed/>
                </p:oleObj>
              </mc:Choice>
              <mc:Fallback>
                <p:oleObj name="Equation" r:id="rId8" imgW="114120" imgH="15228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0072" y="4876800"/>
                        <a:ext cx="4381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7"/>
          <p:cNvGraphicFramePr>
            <a:graphicFrameLocks noChangeAspect="1"/>
          </p:cNvGraphicFramePr>
          <p:nvPr/>
        </p:nvGraphicFramePr>
        <p:xfrm>
          <a:off x="4754884" y="5215596"/>
          <a:ext cx="4381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6" name="Equation" r:id="rId9" imgW="114120" imgH="152280" progId="">
                  <p:embed/>
                </p:oleObj>
              </mc:Choice>
              <mc:Fallback>
                <p:oleObj name="Equation" r:id="rId9" imgW="114120" imgH="152280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4884" y="5215596"/>
                        <a:ext cx="4381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8"/>
          <p:cNvGraphicFramePr>
            <a:graphicFrameLocks noChangeAspect="1"/>
          </p:cNvGraphicFramePr>
          <p:nvPr/>
        </p:nvGraphicFramePr>
        <p:xfrm>
          <a:off x="5686864" y="4868592"/>
          <a:ext cx="4381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7" name="Equation" r:id="rId10" imgW="114120" imgH="152280" progId="">
                  <p:embed/>
                </p:oleObj>
              </mc:Choice>
              <mc:Fallback>
                <p:oleObj name="Equation" r:id="rId10" imgW="114120" imgH="15228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6864" y="4868592"/>
                        <a:ext cx="4381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1" name="Object 9"/>
          <p:cNvGraphicFramePr>
            <a:graphicFrameLocks noChangeAspect="1"/>
          </p:cNvGraphicFramePr>
          <p:nvPr/>
        </p:nvGraphicFramePr>
        <p:xfrm>
          <a:off x="7080740" y="4876800"/>
          <a:ext cx="4381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8" name="Equation" r:id="rId11" imgW="114120" imgH="152280" progId="">
                  <p:embed/>
                </p:oleObj>
              </mc:Choice>
              <mc:Fallback>
                <p:oleObj name="Equation" r:id="rId11" imgW="114120" imgH="152280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0740" y="4876800"/>
                        <a:ext cx="4381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2" name="Object 10"/>
          <p:cNvGraphicFramePr>
            <a:graphicFrameLocks noChangeAspect="1"/>
          </p:cNvGraphicFramePr>
          <p:nvPr/>
        </p:nvGraphicFramePr>
        <p:xfrm>
          <a:off x="6400800" y="4876800"/>
          <a:ext cx="4381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9" name="Equation" r:id="rId12" imgW="114120" imgH="152280" progId="">
                  <p:embed/>
                </p:oleObj>
              </mc:Choice>
              <mc:Fallback>
                <p:oleObj name="Equation" r:id="rId12" imgW="114120" imgH="15228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876800"/>
                        <a:ext cx="4381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990600"/>
            <a:ext cx="7920404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143000"/>
            <a:ext cx="8190134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685800"/>
            <a:ext cx="7849683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3" cstate="print">
            <a:lum bright="-12000" contrast="28000"/>
          </a:blip>
          <a:srcRect/>
          <a:stretch>
            <a:fillRect/>
          </a:stretch>
        </p:blipFill>
        <p:spPr bwMode="auto">
          <a:xfrm>
            <a:off x="196952" y="3886200"/>
            <a:ext cx="8550443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 cstate="print">
            <a:lum bright="-11000" contrast="31000"/>
          </a:blip>
          <a:srcRect/>
          <a:stretch>
            <a:fillRect/>
          </a:stretch>
        </p:blipFill>
        <p:spPr bwMode="auto">
          <a:xfrm>
            <a:off x="1295401" y="1447800"/>
            <a:ext cx="4191000" cy="1744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066800" y="45720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Homework</a:t>
            </a:r>
            <a:endParaRPr lang="en-A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228600"/>
            <a:ext cx="25622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4" cstate="print">
            <a:lum bright="-14000" contrast="6000"/>
          </a:blip>
          <a:srcRect/>
          <a:stretch>
            <a:fillRect/>
          </a:stretch>
        </p:blipFill>
        <p:spPr bwMode="auto">
          <a:xfrm>
            <a:off x="457200" y="609600"/>
            <a:ext cx="7620000" cy="572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3798" name="Object 6"/>
          <p:cNvGraphicFramePr>
            <a:graphicFrameLocks noChangeAspect="1"/>
          </p:cNvGraphicFramePr>
          <p:nvPr/>
        </p:nvGraphicFramePr>
        <p:xfrm>
          <a:off x="3505200" y="2802984"/>
          <a:ext cx="214532" cy="214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7" name="Equation" r:id="rId5" imgW="114120" imgH="152280" progId="">
                  <p:embed/>
                </p:oleObj>
              </mc:Choice>
              <mc:Fallback>
                <p:oleObj name="Equation" r:id="rId5" imgW="114120" imgH="15228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802984"/>
                        <a:ext cx="214532" cy="2145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9" name="Object 7"/>
          <p:cNvGraphicFramePr>
            <a:graphicFrameLocks noChangeAspect="1"/>
          </p:cNvGraphicFramePr>
          <p:nvPr/>
        </p:nvGraphicFramePr>
        <p:xfrm>
          <a:off x="3657600" y="2955925"/>
          <a:ext cx="2143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8" name="Equation" r:id="rId7" imgW="114120" imgH="152280" progId="">
                  <p:embed/>
                </p:oleObj>
              </mc:Choice>
              <mc:Fallback>
                <p:oleObj name="Equation" r:id="rId7" imgW="114120" imgH="152280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955925"/>
                        <a:ext cx="2143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0" name="Object 8"/>
          <p:cNvGraphicFramePr>
            <a:graphicFrameLocks noChangeAspect="1"/>
          </p:cNvGraphicFramePr>
          <p:nvPr/>
        </p:nvGraphicFramePr>
        <p:xfrm>
          <a:off x="4453815" y="2791264"/>
          <a:ext cx="2143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9" name="Equation" r:id="rId8" imgW="114120" imgH="152280" progId="">
                  <p:embed/>
                </p:oleObj>
              </mc:Choice>
              <mc:Fallback>
                <p:oleObj name="Equation" r:id="rId8" imgW="114120" imgH="15228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3815" y="2791264"/>
                        <a:ext cx="2143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1" name="Object 9"/>
          <p:cNvGraphicFramePr>
            <a:graphicFrameLocks noChangeAspect="1"/>
          </p:cNvGraphicFramePr>
          <p:nvPr/>
        </p:nvGraphicFramePr>
        <p:xfrm>
          <a:off x="1475936" y="2029264"/>
          <a:ext cx="2143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0" name="Equation" r:id="rId9" imgW="114120" imgH="152280" progId="">
                  <p:embed/>
                </p:oleObj>
              </mc:Choice>
              <mc:Fallback>
                <p:oleObj name="Equation" r:id="rId9" imgW="114120" imgH="152280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936" y="2029264"/>
                        <a:ext cx="2143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4" name="Object 12"/>
          <p:cNvGraphicFramePr>
            <a:graphicFrameLocks noChangeAspect="1"/>
          </p:cNvGraphicFramePr>
          <p:nvPr/>
        </p:nvGraphicFramePr>
        <p:xfrm>
          <a:off x="3242604" y="2057400"/>
          <a:ext cx="289166" cy="249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1" name="Equation" r:id="rId10" imgW="114120" imgH="126720" progId="">
                  <p:embed/>
                </p:oleObj>
              </mc:Choice>
              <mc:Fallback>
                <p:oleObj name="Equation" r:id="rId10" imgW="114120" imgH="12672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2604" y="2057400"/>
                        <a:ext cx="289166" cy="2498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6" name="Object 14"/>
          <p:cNvGraphicFramePr>
            <a:graphicFrameLocks noChangeAspect="1"/>
          </p:cNvGraphicFramePr>
          <p:nvPr/>
        </p:nvGraphicFramePr>
        <p:xfrm>
          <a:off x="6152272" y="2791264"/>
          <a:ext cx="2143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2" name="Equation" r:id="rId12" imgW="114120" imgH="152280" progId="">
                  <p:embed/>
                </p:oleObj>
              </mc:Choice>
              <mc:Fallback>
                <p:oleObj name="Equation" r:id="rId12" imgW="114120" imgH="15228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2272" y="2791264"/>
                        <a:ext cx="2143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408</TotalTime>
  <Words>248</Words>
  <Application>Microsoft Office PowerPoint</Application>
  <PresentationFormat>On-screen Show (4:3)</PresentationFormat>
  <Paragraphs>25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Berlin Sans FB</vt:lpstr>
      <vt:lpstr>Calibri</vt:lpstr>
      <vt:lpstr>Constantia</vt:lpstr>
      <vt:lpstr>Wingdings</vt:lpstr>
      <vt:lpstr>Wingdings 2</vt:lpstr>
      <vt:lpstr>Flow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masud</dc:creator>
  <cp:lastModifiedBy>NSU</cp:lastModifiedBy>
  <cp:revision>44</cp:revision>
  <dcterms:created xsi:type="dcterms:W3CDTF">2015-11-14T06:14:24Z</dcterms:created>
  <dcterms:modified xsi:type="dcterms:W3CDTF">2018-07-24T04:08:10Z</dcterms:modified>
</cp:coreProperties>
</file>