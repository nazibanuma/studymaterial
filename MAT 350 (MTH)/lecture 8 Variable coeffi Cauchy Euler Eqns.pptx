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0BD6A-5823-43D9-AD1E-657EA9064EBC}" type="datetimeFigureOut">
              <a:rPr lang="en-US" smtClean="0"/>
              <a:pPr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F8ABD-D759-45E3-B585-39A503D50159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7/10/2018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7/10/2018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Engineering mathematics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Associate Professor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00298" y="3071810"/>
            <a:ext cx="528641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Higher Order ODEs with</a:t>
            </a:r>
          </a:p>
          <a:p>
            <a:r>
              <a:rPr lang="en-AU" b="1" dirty="0" smtClean="0">
                <a:solidFill>
                  <a:srgbClr val="FF0000"/>
                </a:solidFill>
              </a:rPr>
              <a:t>Variable Coefficient: </a:t>
            </a:r>
          </a:p>
          <a:p>
            <a:r>
              <a:rPr lang="en-AU" sz="2000" dirty="0" smtClean="0"/>
              <a:t>Cauchy-Euler Equation</a:t>
            </a:r>
            <a:endParaRPr lang="en-AU" sz="2000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43174" y="4286256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FFFF00"/>
                </a:solidFill>
              </a:rPr>
              <a:t>Lecture: 8</a:t>
            </a:r>
            <a:endParaRPr lang="en-AU" sz="2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476672"/>
            <a:ext cx="3262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 smtClean="0">
                <a:solidFill>
                  <a:srgbClr val="C00000"/>
                </a:solidFill>
              </a:rPr>
              <a:t>Cauchy-Euler Equation</a:t>
            </a:r>
            <a:endParaRPr lang="en-AU" sz="24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28662" y="1071546"/>
            <a:ext cx="4533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A linear differential equation of the form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1000100" y="2857496"/>
            <a:ext cx="64294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 is known as a </a:t>
            </a:r>
            <a:r>
              <a:rPr lang="en-AU" b="1" dirty="0" smtClean="0"/>
              <a:t>Cauchy-Euler  equation.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928662" y="4286256"/>
            <a:ext cx="7143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differential equation is named in honor of two of the most prolife mathematicians of all time. </a:t>
            </a:r>
            <a:r>
              <a:rPr lang="en-AU" b="1" dirty="0" err="1" smtClean="0"/>
              <a:t>Augustin</a:t>
            </a:r>
            <a:r>
              <a:rPr lang="en-AU" b="1" dirty="0" smtClean="0"/>
              <a:t>-Louis Cauchy (French, 1789–1857) and Leonhard Euler (Swiss, 1707–1783).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33000"/>
          </a:blip>
          <a:srcRect/>
          <a:stretch>
            <a:fillRect/>
          </a:stretch>
        </p:blipFill>
        <p:spPr bwMode="auto">
          <a:xfrm>
            <a:off x="1643042" y="1643050"/>
            <a:ext cx="6000792" cy="686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4000" contrast="33000"/>
          </a:blip>
          <a:srcRect/>
          <a:stretch>
            <a:fillRect/>
          </a:stretch>
        </p:blipFill>
        <p:spPr bwMode="auto">
          <a:xfrm>
            <a:off x="1071537" y="2571744"/>
            <a:ext cx="5143537" cy="34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500166" y="5500702"/>
            <a:ext cx="6357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above equation (1) is also know as </a:t>
            </a:r>
            <a:r>
              <a:rPr lang="en-AU" b="1" dirty="0" smtClean="0">
                <a:solidFill>
                  <a:srgbClr val="0070C0"/>
                </a:solidFill>
              </a:rPr>
              <a:t>differential equation of variable coefficients.</a:t>
            </a:r>
            <a:endParaRPr lang="en-AU" b="1" dirty="0">
              <a:solidFill>
                <a:srgbClr val="0070C0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>
            <a:lum bright="-23000" contrast="26000"/>
          </a:blip>
          <a:srcRect/>
          <a:stretch>
            <a:fillRect/>
          </a:stretch>
        </p:blipFill>
        <p:spPr bwMode="auto">
          <a:xfrm>
            <a:off x="1142976" y="3429000"/>
            <a:ext cx="5643602" cy="64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929586" y="178592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(1)</a:t>
            </a:r>
            <a:endParaRPr lang="en-AU" dirty="0"/>
          </a:p>
        </p:txBody>
      </p:sp>
      <p:sp>
        <p:nvSpPr>
          <p:cNvPr id="12" name="Oval Callout 11"/>
          <p:cNvSpPr/>
          <p:nvPr/>
        </p:nvSpPr>
        <p:spPr>
          <a:xfrm>
            <a:off x="6786578" y="2857496"/>
            <a:ext cx="1785950" cy="857256"/>
          </a:xfrm>
          <a:prstGeom prst="wedgeEllipseCallout">
            <a:avLst>
              <a:gd name="adj1" fmla="val -45607"/>
              <a:gd name="adj2" fmla="val 7079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Higher Order ODE</a:t>
            </a:r>
            <a:endParaRPr lang="en-AU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9000" contrast="40000"/>
          </a:blip>
          <a:srcRect/>
          <a:stretch>
            <a:fillRect/>
          </a:stretch>
        </p:blipFill>
        <p:spPr bwMode="auto">
          <a:xfrm>
            <a:off x="2786050" y="2643181"/>
            <a:ext cx="3357586" cy="7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9000" contrast="40000"/>
          </a:blip>
          <a:srcRect/>
          <a:stretch>
            <a:fillRect/>
          </a:stretch>
        </p:blipFill>
        <p:spPr bwMode="auto">
          <a:xfrm>
            <a:off x="1857356" y="642918"/>
            <a:ext cx="4796899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357290" y="2214554"/>
            <a:ext cx="4701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Consider the 2</a:t>
            </a:r>
            <a:r>
              <a:rPr lang="en-AU" baseline="30000" dirty="0" smtClean="0"/>
              <a:t>nd</a:t>
            </a:r>
            <a:r>
              <a:rPr lang="en-AU" dirty="0" smtClean="0"/>
              <a:t> order form for simplicity,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000100" y="3429000"/>
            <a:ext cx="59293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/>
              <a:t>Method of Solution</a:t>
            </a:r>
            <a:r>
              <a:rPr lang="en-AU" dirty="0" smtClean="0"/>
              <a:t>: We try a solution of the form</a:t>
            </a:r>
            <a:endParaRPr lang="en-A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lum bright="-19000" contrast="40000"/>
          </a:blip>
          <a:srcRect/>
          <a:stretch>
            <a:fillRect/>
          </a:stretch>
        </p:blipFill>
        <p:spPr bwMode="auto">
          <a:xfrm>
            <a:off x="3571868" y="4000503"/>
            <a:ext cx="857256" cy="290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lum bright="-19000" contrast="40000"/>
          </a:blip>
          <a:srcRect/>
          <a:stretch>
            <a:fillRect/>
          </a:stretch>
        </p:blipFill>
        <p:spPr bwMode="auto">
          <a:xfrm>
            <a:off x="1214414" y="4286256"/>
            <a:ext cx="5507870" cy="6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>
            <a:lum bright="-19000" contrast="40000"/>
          </a:blip>
          <a:srcRect/>
          <a:stretch>
            <a:fillRect/>
          </a:stretch>
        </p:blipFill>
        <p:spPr bwMode="auto">
          <a:xfrm>
            <a:off x="2071670" y="4929198"/>
            <a:ext cx="4000528" cy="587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 cstate="print">
            <a:lum bright="-19000" contrast="40000"/>
          </a:blip>
          <a:srcRect/>
          <a:stretch>
            <a:fillRect/>
          </a:stretch>
        </p:blipFill>
        <p:spPr bwMode="auto">
          <a:xfrm>
            <a:off x="642910" y="5715016"/>
            <a:ext cx="7448562" cy="657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 cstate="print">
            <a:lum bright="-19000" contrast="40000"/>
          </a:blip>
          <a:srcRect/>
          <a:stretch>
            <a:fillRect/>
          </a:stretch>
        </p:blipFill>
        <p:spPr bwMode="auto">
          <a:xfrm>
            <a:off x="714348" y="5429264"/>
            <a:ext cx="6715172" cy="389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5857884" y="2928934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                       (2)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76672"/>
            <a:ext cx="3643338" cy="806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28" y="1285860"/>
            <a:ext cx="3122034" cy="500066"/>
          </a:xfrm>
          <a:prstGeom prst="rect">
            <a:avLst/>
          </a:prstGeom>
          <a:noFill/>
          <a:ln w="25400">
            <a:solidFill>
              <a:srgbClr val="FFC000"/>
            </a:solidFill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000100" y="2000240"/>
            <a:ext cx="72152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There are three different cases to be considered, depending on whether the roots of this quadratic equation are real and distinct, real and equal, or complex.</a:t>
            </a:r>
            <a:endParaRPr lang="en-AU" dirty="0"/>
          </a:p>
        </p:txBody>
      </p:sp>
      <p:sp>
        <p:nvSpPr>
          <p:cNvPr id="5" name="Oval Callout 4"/>
          <p:cNvSpPr/>
          <p:nvPr/>
        </p:nvSpPr>
        <p:spPr>
          <a:xfrm>
            <a:off x="5715008" y="714356"/>
            <a:ext cx="1643074" cy="785818"/>
          </a:xfrm>
          <a:prstGeom prst="wedgeEllipseCallout">
            <a:avLst>
              <a:gd name="adj1" fmla="val -117223"/>
              <a:gd name="adj2" fmla="val 55339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Auxiliary equation</a:t>
            </a:r>
            <a:endParaRPr lang="en-AU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85852" y="4071942"/>
            <a:ext cx="67866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Let </a:t>
            </a:r>
            <a:r>
              <a:rPr lang="en-AU" i="1" dirty="0" smtClean="0"/>
              <a:t>m</a:t>
            </a:r>
            <a:r>
              <a:rPr lang="en-AU" i="1" baseline="-25000" dirty="0" smtClean="0"/>
              <a:t>1 </a:t>
            </a:r>
            <a:r>
              <a:rPr lang="en-AU" i="1" dirty="0" smtClean="0"/>
              <a:t>and m</a:t>
            </a:r>
            <a:r>
              <a:rPr lang="en-AU" i="1" baseline="-25000" dirty="0" smtClean="0"/>
              <a:t>2</a:t>
            </a:r>
            <a:r>
              <a:rPr lang="en-AU" i="1" dirty="0" smtClean="0"/>
              <a:t> denote the real roots of (2) such </a:t>
            </a:r>
            <a:r>
              <a:rPr lang="en-AU" dirty="0" smtClean="0"/>
              <a:t>that </a:t>
            </a:r>
            <a:r>
              <a:rPr lang="en-AU" i="1" dirty="0" smtClean="0"/>
              <a:t>m</a:t>
            </a:r>
            <a:r>
              <a:rPr lang="en-AU" i="1" baseline="-25000" dirty="0" smtClean="0"/>
              <a:t>1</a:t>
            </a:r>
            <a:r>
              <a:rPr lang="en-AU" i="1" dirty="0" smtClean="0"/>
              <a:t>  ≠ m</a:t>
            </a:r>
            <a:r>
              <a:rPr lang="en-AU" i="1" baseline="-25000" dirty="0" smtClean="0"/>
              <a:t>2</a:t>
            </a:r>
            <a:r>
              <a:rPr lang="en-AU" i="1" dirty="0" smtClean="0"/>
              <a:t>.</a:t>
            </a:r>
            <a:endParaRPr lang="en-A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357290" y="4572008"/>
            <a:ext cx="5715040" cy="30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25000" contrast="21000"/>
          </a:blip>
          <a:srcRect/>
          <a:stretch>
            <a:fillRect/>
          </a:stretch>
        </p:blipFill>
        <p:spPr bwMode="auto">
          <a:xfrm>
            <a:off x="4143372" y="5072074"/>
            <a:ext cx="2454869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285852" y="5072074"/>
            <a:ext cx="268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general solution is:</a:t>
            </a:r>
            <a:endParaRPr lang="en-AU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57290" y="3643314"/>
            <a:ext cx="27146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357166"/>
            <a:ext cx="31242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142976" y="1142984"/>
            <a:ext cx="72866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If the roots of (2) are repeated (that is, </a:t>
            </a:r>
            <a:r>
              <a:rPr lang="en-AU" i="1" dirty="0" smtClean="0"/>
              <a:t>m</a:t>
            </a:r>
            <a:r>
              <a:rPr lang="en-AU" i="1" baseline="-25000" dirty="0" smtClean="0"/>
              <a:t>1</a:t>
            </a:r>
            <a:r>
              <a:rPr lang="en-AU" i="1" dirty="0" smtClean="0"/>
              <a:t>=  m</a:t>
            </a:r>
            <a:r>
              <a:rPr lang="en-AU" i="1" baseline="-25000" dirty="0" smtClean="0"/>
              <a:t>2</a:t>
            </a:r>
            <a:r>
              <a:rPr lang="en-AU" i="1" dirty="0" smtClean="0"/>
              <a:t>), then we obtain only one solution —namely </a:t>
            </a:r>
            <a:endParaRPr lang="en-A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0" y="1928802"/>
            <a:ext cx="10382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71736" y="2786058"/>
            <a:ext cx="3143272" cy="4233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000100" y="2357430"/>
            <a:ext cx="268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general solution is:</a:t>
            </a:r>
            <a:endParaRPr lang="en-AU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4348" y="3444204"/>
            <a:ext cx="4079975" cy="341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1537" y="3929067"/>
            <a:ext cx="4857785" cy="340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71736" y="4429132"/>
            <a:ext cx="2971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print">
            <a:lum bright="-5000" contrast="9000"/>
          </a:blip>
          <a:srcRect/>
          <a:stretch>
            <a:fillRect/>
          </a:stretch>
        </p:blipFill>
        <p:spPr bwMode="auto">
          <a:xfrm>
            <a:off x="2071670" y="5072074"/>
            <a:ext cx="4614245" cy="5000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476672"/>
            <a:ext cx="3473776" cy="408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57224" y="928670"/>
            <a:ext cx="5572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 methods:</a:t>
            </a:r>
          </a:p>
          <a:p>
            <a:pPr marL="342900" indent="-342900">
              <a:buAutoNum type="alphaLcParenBoth"/>
            </a:pPr>
            <a:r>
              <a:rPr lang="en-AU" dirty="0" smtClean="0"/>
              <a:t>Variation of parameters</a:t>
            </a:r>
          </a:p>
          <a:p>
            <a:pPr marL="342900" indent="-342900"/>
            <a:r>
              <a:rPr lang="en-AU" dirty="0" smtClean="0"/>
              <a:t>(b) Changing to constant coefficients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27000" contrast="34000"/>
          </a:blip>
          <a:srcRect/>
          <a:stretch>
            <a:fillRect/>
          </a:stretch>
        </p:blipFill>
        <p:spPr bwMode="auto">
          <a:xfrm>
            <a:off x="2051720" y="2060848"/>
            <a:ext cx="3168352" cy="423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827584" y="2708920"/>
            <a:ext cx="3781749" cy="500066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85786" y="3286124"/>
            <a:ext cx="414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Solution: First solve </a:t>
            </a:r>
            <a:endParaRPr lang="en-AU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20000" contrast="33000"/>
          </a:blip>
          <a:srcRect/>
          <a:stretch>
            <a:fillRect/>
          </a:stretch>
        </p:blipFill>
        <p:spPr bwMode="auto">
          <a:xfrm>
            <a:off x="2071670" y="3786190"/>
            <a:ext cx="1928826" cy="407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929058" y="3786190"/>
            <a:ext cx="442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0 for the Auxiliary equation. 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785786" y="4143380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substitute </a:t>
            </a:r>
            <a:endParaRPr lang="en-AU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lum bright="-20000" contrast="33000"/>
          </a:blip>
          <a:srcRect/>
          <a:stretch>
            <a:fillRect/>
          </a:stretch>
        </p:blipFill>
        <p:spPr bwMode="auto">
          <a:xfrm>
            <a:off x="2857488" y="4286257"/>
            <a:ext cx="721183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>
            <a:lum bright="-20000" contrast="33000"/>
          </a:blip>
          <a:srcRect/>
          <a:stretch>
            <a:fillRect/>
          </a:stretch>
        </p:blipFill>
        <p:spPr bwMode="auto">
          <a:xfrm>
            <a:off x="2571736" y="4755637"/>
            <a:ext cx="4286280" cy="31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857224" y="4714884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Hence, we have</a:t>
            </a:r>
            <a:endParaRPr lang="en-AU" dirty="0"/>
          </a:p>
        </p:txBody>
      </p: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 cstate="print">
            <a:lum bright="-14000" contrast="43000"/>
          </a:blip>
          <a:srcRect/>
          <a:stretch>
            <a:fillRect/>
          </a:stretch>
        </p:blipFill>
        <p:spPr bwMode="auto">
          <a:xfrm>
            <a:off x="2500298" y="5072074"/>
            <a:ext cx="500066" cy="410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 cstate="print">
            <a:lum bright="-20000" contrast="33000"/>
          </a:blip>
          <a:srcRect/>
          <a:stretch>
            <a:fillRect/>
          </a:stretch>
        </p:blipFill>
        <p:spPr bwMode="auto">
          <a:xfrm>
            <a:off x="2928926" y="5072074"/>
            <a:ext cx="1841234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0" cstate="print">
            <a:lum bright="-20000" contrast="33000"/>
          </a:blip>
          <a:srcRect/>
          <a:stretch>
            <a:fillRect/>
          </a:stretch>
        </p:blipFill>
        <p:spPr bwMode="auto">
          <a:xfrm>
            <a:off x="642911" y="5500702"/>
            <a:ext cx="7000924" cy="34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1" cstate="print">
            <a:lum bright="-20000" contrast="33000"/>
          </a:blip>
          <a:srcRect/>
          <a:stretch>
            <a:fillRect/>
          </a:stretch>
        </p:blipFill>
        <p:spPr bwMode="auto">
          <a:xfrm>
            <a:off x="2643174" y="5929330"/>
            <a:ext cx="2000264" cy="301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2" cstate="print">
            <a:lum bright="-20000" contrast="33000"/>
          </a:blip>
          <a:srcRect/>
          <a:stretch>
            <a:fillRect/>
          </a:stretch>
        </p:blipFill>
        <p:spPr bwMode="auto">
          <a:xfrm>
            <a:off x="1214414" y="6357958"/>
            <a:ext cx="4929222" cy="25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428596" y="1857364"/>
            <a:ext cx="8001056" cy="174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2285984" y="857232"/>
            <a:ext cx="1500198" cy="36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785786" y="857232"/>
            <a:ext cx="1500198" cy="28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785786" y="1428736"/>
            <a:ext cx="5342320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1357290" y="3714752"/>
            <a:ext cx="6099166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1643042" y="4714883"/>
            <a:ext cx="5715040" cy="322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785786" y="5214950"/>
            <a:ext cx="2000264" cy="30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1785918" y="5572140"/>
            <a:ext cx="5286412" cy="472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0" cstate="print">
            <a:lum bright="-21000" contrast="35000"/>
          </a:blip>
          <a:srcRect/>
          <a:stretch>
            <a:fillRect/>
          </a:stretch>
        </p:blipFill>
        <p:spPr bwMode="auto">
          <a:xfrm>
            <a:off x="1000100" y="6072206"/>
            <a:ext cx="5214974" cy="445936"/>
          </a:xfrm>
          <a:prstGeom prst="rect">
            <a:avLst/>
          </a:prstGeom>
          <a:noFill/>
          <a:ln w="22225">
            <a:solidFill>
              <a:srgbClr val="0070C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1010134"/>
            <a:ext cx="4000528" cy="561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547664" y="620688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>
                <a:solidFill>
                  <a:srgbClr val="FF0000"/>
                </a:solidFill>
              </a:rPr>
              <a:t>Exercise 4.7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285852" y="1500174"/>
            <a:ext cx="5600701" cy="4705381"/>
            <a:chOff x="1285852" y="1500174"/>
            <a:chExt cx="5600701" cy="4705381"/>
          </a:xfrm>
        </p:grpSpPr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00562" y="5000636"/>
              <a:ext cx="1571625" cy="333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16" name="Group 15"/>
            <p:cNvGrpSpPr/>
            <p:nvPr/>
          </p:nvGrpSpPr>
          <p:grpSpPr>
            <a:xfrm>
              <a:off x="1285852" y="1500174"/>
              <a:ext cx="5600701" cy="4705381"/>
              <a:chOff x="1214414" y="1571612"/>
              <a:chExt cx="5600701" cy="4705381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428728" y="1571612"/>
                <a:ext cx="2647950" cy="361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500298" y="2143116"/>
                <a:ext cx="3600450" cy="361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29" name="Picture 5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2643174" y="2643182"/>
                <a:ext cx="3264167" cy="4286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30" name="Picture 6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000364" y="3143248"/>
                <a:ext cx="2724150" cy="800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31" name="Picture 7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1500166" y="3929066"/>
                <a:ext cx="2505075" cy="314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32" name="Picture 8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2500298" y="4286256"/>
                <a:ext cx="3895725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33" name="Picture 9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1214414" y="4929198"/>
                <a:ext cx="2676525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36" name="Picture 12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1357290" y="5572140"/>
                <a:ext cx="5457825" cy="314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37" name="Picture 13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1571604" y="6000768"/>
                <a:ext cx="2790825" cy="276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TextBox 14"/>
              <p:cNvSpPr txBox="1"/>
              <p:nvPr/>
            </p:nvSpPr>
            <p:spPr>
              <a:xfrm>
                <a:off x="4429124" y="5029154"/>
                <a:ext cx="5715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000" b="1" dirty="0" smtClean="0"/>
                  <a:t>u</a:t>
                </a:r>
                <a:r>
                  <a:rPr lang="de-DE" sz="2000" b="1" baseline="-25000" dirty="0" smtClean="0"/>
                  <a:t>2</a:t>
                </a:r>
                <a:endParaRPr lang="en-US" sz="2000" b="1" baseline="-250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285728"/>
            <a:ext cx="3639918" cy="362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14000" contrast="25000"/>
          </a:blip>
          <a:srcRect/>
          <a:stretch>
            <a:fillRect/>
          </a:stretch>
        </p:blipFill>
        <p:spPr bwMode="auto">
          <a:xfrm>
            <a:off x="571472" y="857232"/>
            <a:ext cx="3214710" cy="434054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lum bright="-13000" contrast="33000"/>
          </a:blip>
          <a:srcRect/>
          <a:stretch>
            <a:fillRect/>
          </a:stretch>
        </p:blipFill>
        <p:spPr bwMode="auto">
          <a:xfrm>
            <a:off x="857224" y="1714488"/>
            <a:ext cx="7072362" cy="2910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>
            <a:lum bright="-15000" contrast="24000"/>
          </a:blip>
          <a:srcRect/>
          <a:stretch>
            <a:fillRect/>
          </a:stretch>
        </p:blipFill>
        <p:spPr bwMode="auto">
          <a:xfrm>
            <a:off x="857224" y="4786322"/>
            <a:ext cx="6215106" cy="1031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836" y="1525780"/>
            <a:ext cx="8075600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6275" y="1954408"/>
            <a:ext cx="7652114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4836" y="2811664"/>
            <a:ext cx="7929618" cy="121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4836" y="4168986"/>
            <a:ext cx="8429652" cy="772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143372" y="3286124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err="1" smtClean="0"/>
              <a:t>inf</a:t>
            </a:r>
            <a:endParaRPr lang="en-AU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761294"/>
            <a:ext cx="381445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3" name="Group 12"/>
          <p:cNvGrpSpPr/>
          <p:nvPr/>
        </p:nvGrpSpPr>
        <p:grpSpPr>
          <a:xfrm>
            <a:off x="785786" y="1500174"/>
            <a:ext cx="7369332" cy="4824442"/>
            <a:chOff x="500034" y="1428736"/>
            <a:chExt cx="7369332" cy="4824442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2910" y="1428736"/>
              <a:ext cx="7226456" cy="1214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00034" y="2928934"/>
              <a:ext cx="724852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500166" y="3500438"/>
              <a:ext cx="2981325" cy="419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TextBox 8"/>
            <p:cNvSpPr txBox="1"/>
            <p:nvPr/>
          </p:nvSpPr>
          <p:spPr>
            <a:xfrm>
              <a:off x="642910" y="4214818"/>
              <a:ext cx="3714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Using Superposition principle</a:t>
              </a:r>
              <a:endParaRPr lang="en-US" dirty="0"/>
            </a:p>
          </p:txBody>
        </p:sp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85786" y="4643446"/>
              <a:ext cx="7072362" cy="319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6" name="Picture 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857356" y="5143512"/>
              <a:ext cx="2692663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000100" y="5612769"/>
              <a:ext cx="5643602" cy="640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243</TotalTime>
  <Words>247</Words>
  <Application>Microsoft Office PowerPoint</Application>
  <PresentationFormat>On-screen Show (4:3)</PresentationFormat>
  <Paragraphs>35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NSU</cp:lastModifiedBy>
  <cp:revision>30</cp:revision>
  <dcterms:created xsi:type="dcterms:W3CDTF">2015-10-18T10:09:15Z</dcterms:created>
  <dcterms:modified xsi:type="dcterms:W3CDTF">2018-07-10T03:31:43Z</dcterms:modified>
</cp:coreProperties>
</file>