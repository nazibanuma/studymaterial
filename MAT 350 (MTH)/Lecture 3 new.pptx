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5"/>
  </p:notesMasterIdLst>
  <p:handoutMasterIdLst>
    <p:handoutMasterId r:id="rId26"/>
  </p:handoutMasterIdLst>
  <p:sldIdLst>
    <p:sldId id="303" r:id="rId2"/>
    <p:sldId id="263" r:id="rId3"/>
    <p:sldId id="268" r:id="rId4"/>
    <p:sldId id="275" r:id="rId5"/>
    <p:sldId id="260" r:id="rId6"/>
    <p:sldId id="259" r:id="rId7"/>
    <p:sldId id="261" r:id="rId8"/>
    <p:sldId id="300" r:id="rId9"/>
    <p:sldId id="299" r:id="rId10"/>
    <p:sldId id="301" r:id="rId11"/>
    <p:sldId id="302" r:id="rId12"/>
    <p:sldId id="262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</p:sldIdLst>
  <p:sldSz cx="9144000" cy="6858000" type="screen4x3"/>
  <p:notesSz cx="9874250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97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2027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8A57B2-240B-4318-A720-3513B5B2570E}" type="datetimeFigureOut">
              <a:rPr lang="en-US" smtClean="0"/>
              <a:pPr/>
              <a:t>6/5/2018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2027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0170DC-8E60-4F2E-A8A5-62FC9941967F}" type="slidenum">
              <a:rPr lang="en-AU" smtClean="0"/>
              <a:pPr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93125" y="0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AAA0C7-1BE7-45AB-85C8-84722B574AED}" type="datetimeFigureOut">
              <a:rPr lang="en-US" smtClean="0"/>
              <a:pPr/>
              <a:t>6/5/2018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36913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7426" y="3228896"/>
            <a:ext cx="7899400" cy="3058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93125" y="6456612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04A8FE-5F9E-4169-81BE-A8B43C89FC2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04A8FE-5F9E-4169-81BE-A8B43C89FC29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04A8FE-5F9E-4169-81BE-A8B43C89FC29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04A8FE-5F9E-4169-81BE-A8B43C89FC29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AA1BA-A7AC-4DC8-9851-9AC33BB255B8}" type="datetime1">
              <a:rPr lang="en-US" smtClean="0"/>
              <a:pPr/>
              <a:t>6/5/2018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1176-8343-49E0-9BD0-E485A48ED0E1}" type="datetime1">
              <a:rPr lang="en-US" smtClean="0"/>
              <a:pPr/>
              <a:t>6/5/2018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0B38B-CD21-490C-8CB4-011D0907CCD7}" type="datetime1">
              <a:rPr lang="en-US" smtClean="0"/>
              <a:pPr/>
              <a:t>6/5/2018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29360-B916-4EF0-B3AD-A9F7BA3ACE63}" type="datetime1">
              <a:rPr lang="en-US" smtClean="0"/>
              <a:pPr/>
              <a:t>6/5/2018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80802-E299-48C5-B0BB-7726CEA5E4FC}" type="datetime1">
              <a:rPr lang="en-US" smtClean="0"/>
              <a:pPr/>
              <a:t>6/5/2018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E5DAA-47B3-4740-B6D8-90C6FB569516}" type="datetime1">
              <a:rPr lang="en-US" smtClean="0"/>
              <a:pPr/>
              <a:t>6/5/2018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C24A-BED7-40EF-AE5C-551D4F996B32}" type="datetime1">
              <a:rPr lang="en-US" smtClean="0"/>
              <a:pPr/>
              <a:t>6/5/2018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3D8B4-277E-453F-A450-9A1B8FD505FD}" type="datetime1">
              <a:rPr lang="en-US" smtClean="0"/>
              <a:pPr/>
              <a:t>6/5/2018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3C5B-012E-4055-9C70-4E1DFF2FB676}" type="datetime1">
              <a:rPr lang="en-US" smtClean="0"/>
              <a:pPr/>
              <a:t>6/5/2018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AC4475C-CE3C-48E3-A11F-893D32F7E4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4274E-F08B-4131-A55B-65DB5877ADA3}" type="datetime1">
              <a:rPr lang="en-US" smtClean="0"/>
              <a:pPr/>
              <a:t>6/5/2018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13968-A167-458E-98F5-0084FE99E91C}" type="datetime1">
              <a:rPr lang="en-US" smtClean="0"/>
              <a:pPr/>
              <a:t>6/5/2018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D4AC61D-D796-4070-9B91-A3A866BF3112}" type="datetime1">
              <a:rPr lang="en-US" smtClean="0"/>
              <a:pPr/>
              <a:t>6/5/2018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AC4475C-CE3C-48E3-A11F-893D32F7E4E6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5.bin"/><Relationship Id="rId4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10" Type="http://schemas.openxmlformats.org/officeDocument/2006/relationships/image" Target="../media/image10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MAT 350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solidFill>
                  <a:srgbClr val="FFFF00"/>
                </a:solidFill>
              </a:rPr>
              <a:t>Engineering mathematics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590800" y="2895600"/>
            <a:ext cx="5791200" cy="10772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76200" dist="50800" dir="5400000" sx="102000" sy="102000" algn="ctr" rotWithShape="0">
              <a:schemeClr val="bg2">
                <a:alpha val="96000"/>
              </a:schemeClr>
            </a:outerShdw>
          </a:effectLst>
        </p:spPr>
        <p:txBody>
          <a:bodyPr wrap="square" rtlCol="0">
            <a:spAutoFit/>
          </a:bodyPr>
          <a:lstStyle/>
          <a:p>
            <a:r>
              <a:rPr lang="de-DE" sz="2400" b="1" dirty="0" smtClean="0"/>
              <a:t>Lecture -3</a:t>
            </a:r>
          </a:p>
          <a:p>
            <a:pPr>
              <a:buFont typeface="Arial" charset="0"/>
              <a:buChar char="•"/>
            </a:pPr>
            <a:r>
              <a:rPr lang="en-AU" sz="2000" dirty="0" smtClean="0"/>
              <a:t>First order Linear ODE</a:t>
            </a:r>
          </a:p>
          <a:p>
            <a:pPr>
              <a:buFont typeface="Arial" charset="0"/>
              <a:buChar char="•"/>
            </a:pPr>
            <a:r>
              <a:rPr lang="en-AU" sz="2000" dirty="0" smtClean="0"/>
              <a:t>Homogeneous ODE, Bernoulli’s Equations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62200" y="5181600"/>
            <a:ext cx="6170984" cy="1368152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200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Mohammad </a:t>
            </a:r>
            <a:r>
              <a:rPr lang="en-AU" sz="2000" dirty="0" err="1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Sahadet</a:t>
            </a:r>
            <a:r>
              <a:rPr lang="en-AU" sz="200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Hossain, PhD</a:t>
            </a:r>
          </a:p>
          <a:p>
            <a:r>
              <a:rPr lang="en-AU" sz="1400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Associate </a:t>
            </a:r>
            <a:r>
              <a:rPr lang="en-AU" sz="140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Professor, Department of Mathematics and </a:t>
            </a:r>
            <a:r>
              <a:rPr lang="en-AU" sz="1400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Physics</a:t>
            </a:r>
          </a:p>
          <a:p>
            <a:r>
              <a:rPr lang="en-AU" sz="1400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Additional Director, IQAC</a:t>
            </a:r>
          </a:p>
          <a:p>
            <a:r>
              <a:rPr lang="en-AU" sz="1400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North </a:t>
            </a:r>
            <a:r>
              <a:rPr lang="en-AU" sz="140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South University</a:t>
            </a:r>
          </a:p>
          <a:p>
            <a:r>
              <a:rPr lang="en-AU" sz="1400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mohammad.hossain@northsouth.edu</a:t>
            </a:r>
            <a:endParaRPr lang="en-AU" sz="1400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6553200" cy="563562"/>
          </a:xfrm>
        </p:spPr>
        <p:txBody>
          <a:bodyPr>
            <a:normAutofit fontScale="90000"/>
          </a:bodyPr>
          <a:lstStyle/>
          <a:p>
            <a:r>
              <a:rPr lang="en-US" sz="1800" b="1" dirty="0" smtClean="0">
                <a:solidFill>
                  <a:srgbClr val="FF0000"/>
                </a:solidFill>
              </a:rPr>
              <a:t>First-order differential equation:  (Chapter 2.3)</a:t>
            </a:r>
            <a:r>
              <a:rPr lang="en-US" sz="1800" dirty="0" smtClean="0">
                <a:solidFill>
                  <a:schemeClr val="accent3"/>
                </a:solidFill>
              </a:rPr>
              <a:t/>
            </a:r>
            <a:br>
              <a:rPr lang="en-US" sz="1800" dirty="0" smtClean="0">
                <a:solidFill>
                  <a:schemeClr val="accent3"/>
                </a:solidFill>
              </a:rPr>
            </a:br>
            <a:r>
              <a:rPr lang="en-US" sz="2000" b="1" dirty="0" smtClean="0">
                <a:solidFill>
                  <a:srgbClr val="C00000"/>
                </a:solidFill>
              </a:rPr>
              <a:t>Linear</a:t>
            </a:r>
            <a:r>
              <a:rPr lang="en-US" sz="2000" b="1" dirty="0" smtClean="0">
                <a:solidFill>
                  <a:schemeClr val="tx1"/>
                </a:solidFill>
              </a:rPr>
              <a:t> </a:t>
            </a:r>
            <a:r>
              <a:rPr lang="en-US" sz="2000" b="1" dirty="0" smtClean="0">
                <a:solidFill>
                  <a:srgbClr val="C00000"/>
                </a:solidFill>
              </a:rPr>
              <a:t>differential equations: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85800" y="914400"/>
            <a:ext cx="7620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Arial" pitchFamily="34" charset="0"/>
                <a:cs typeface="Arial" pitchFamily="34" charset="0"/>
              </a:rPr>
              <a:t>A first-order differential equation of the form</a:t>
            </a: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                                                                                     </a:t>
            </a:r>
            <a:endParaRPr lang="en-US" sz="1600" dirty="0">
              <a:latin typeface="Arial" pitchFamily="34" charset="0"/>
              <a:cs typeface="Arial" pitchFamily="34" charset="0"/>
            </a:endParaRP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                                                                                                                          (1)</a:t>
            </a:r>
          </a:p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is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said to be a 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linear equation in the dependent variable </a:t>
            </a:r>
            <a:r>
              <a:rPr lang="en-US" sz="1600" b="1" i="1" dirty="0">
                <a:latin typeface="Arial" pitchFamily="34" charset="0"/>
                <a:cs typeface="Arial" pitchFamily="34" charset="0"/>
              </a:rPr>
              <a:t>y.</a:t>
            </a: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2438400"/>
            <a:ext cx="7467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Arial" pitchFamily="34" charset="0"/>
                <a:cs typeface="Arial" pitchFamily="34" charset="0"/>
              </a:rPr>
              <a:t>When g(x)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= 0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, the linear equation (1) is said to be 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homogeneous; otherwise, </a:t>
            </a:r>
            <a:r>
              <a:rPr lang="en-US" sz="1600" b="1" dirty="0" smtClean="0">
                <a:latin typeface="Arial" pitchFamily="34" charset="0"/>
                <a:cs typeface="Arial" pitchFamily="34" charset="0"/>
              </a:rPr>
              <a:t>it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is 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nonhomogeneous</a:t>
            </a:r>
            <a:r>
              <a:rPr lang="en-US" sz="1600" b="1" dirty="0" smtClean="0">
                <a:latin typeface="Arial" pitchFamily="34" charset="0"/>
                <a:cs typeface="Arial" pitchFamily="34" charset="0"/>
              </a:rPr>
              <a:t>.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T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he </a:t>
            </a:r>
            <a:r>
              <a:rPr lang="en-US" sz="1600" b="1" dirty="0" smtClean="0">
                <a:latin typeface="Arial" pitchFamily="34" charset="0"/>
                <a:cs typeface="Arial" pitchFamily="34" charset="0"/>
              </a:rPr>
              <a:t>standard form, of the above linear equation</a:t>
            </a:r>
          </a:p>
          <a:p>
            <a:r>
              <a:rPr lang="en-US" sz="1600" b="1" dirty="0" smtClean="0">
                <a:latin typeface="Arial" pitchFamily="34" charset="0"/>
                <a:cs typeface="Arial" pitchFamily="34" charset="0"/>
              </a:rPr>
              <a:t>is</a:t>
            </a: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90600" y="4724400"/>
            <a:ext cx="7010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We seek a solution of (2) on an interval I for which both coefficient functions P </a:t>
            </a:r>
            <a:r>
              <a:rPr lang="en-US" b="1" dirty="0" smtClean="0">
                <a:solidFill>
                  <a:srgbClr val="002060"/>
                </a:solidFill>
              </a:rPr>
              <a:t>and f </a:t>
            </a:r>
            <a:r>
              <a:rPr lang="en-US" b="1" dirty="0">
                <a:solidFill>
                  <a:srgbClr val="002060"/>
                </a:solidFill>
              </a:rPr>
              <a:t>are continuous</a:t>
            </a:r>
            <a:r>
              <a:rPr lang="en-US" b="1" dirty="0" smtClean="0">
                <a:solidFill>
                  <a:srgbClr val="002060"/>
                </a:solidFill>
              </a:rPr>
              <a:t>.</a:t>
            </a:r>
          </a:p>
          <a:p>
            <a:r>
              <a:rPr lang="en-US" b="1" dirty="0" smtClean="0">
                <a:solidFill>
                  <a:srgbClr val="002060"/>
                </a:solidFill>
              </a:rPr>
              <a:t>If f(x)=0, one can solve (2) by variable separable method.</a:t>
            </a:r>
            <a:endParaRPr lang="en-US" b="1" dirty="0">
              <a:solidFill>
                <a:srgbClr val="002060"/>
              </a:solidFill>
            </a:endParaRPr>
          </a:p>
        </p:txBody>
      </p:sp>
      <p:graphicFrame>
        <p:nvGraphicFramePr>
          <p:cNvPr id="1029" name="Object 5"/>
          <p:cNvGraphicFramePr>
            <a:graphicFrameLocks noChangeAspect="1"/>
          </p:cNvGraphicFramePr>
          <p:nvPr/>
        </p:nvGraphicFramePr>
        <p:xfrm>
          <a:off x="2438400" y="1219200"/>
          <a:ext cx="2667000" cy="704490"/>
        </p:xfrm>
        <a:graphic>
          <a:graphicData uri="http://schemas.openxmlformats.org/presentationml/2006/ole">
            <p:oleObj spid="_x0000_s3075" name="Equation" r:id="rId3" imgW="1346040" imgH="355320" progId="">
              <p:embed/>
            </p:oleObj>
          </a:graphicData>
        </a:graphic>
      </p:graphicFrame>
      <p:graphicFrame>
        <p:nvGraphicFramePr>
          <p:cNvPr id="1030" name="Object 6"/>
          <p:cNvGraphicFramePr>
            <a:graphicFrameLocks noChangeAspect="1"/>
          </p:cNvGraphicFramePr>
          <p:nvPr/>
        </p:nvGraphicFramePr>
        <p:xfrm>
          <a:off x="1752600" y="3124200"/>
          <a:ext cx="2590800" cy="763604"/>
        </p:xfrm>
        <a:graphic>
          <a:graphicData uri="http://schemas.openxmlformats.org/presentationml/2006/ole">
            <p:oleObj spid="_x0000_s3076" name="Equation" r:id="rId4" imgW="1206360" imgH="355320" progId="">
              <p:embed/>
            </p:oleObj>
          </a:graphicData>
        </a:graphic>
      </p:graphicFrame>
      <p:graphicFrame>
        <p:nvGraphicFramePr>
          <p:cNvPr id="1031" name="Object 7"/>
          <p:cNvGraphicFramePr>
            <a:graphicFrameLocks noChangeAspect="1"/>
          </p:cNvGraphicFramePr>
          <p:nvPr/>
        </p:nvGraphicFramePr>
        <p:xfrm>
          <a:off x="1524000" y="3882684"/>
          <a:ext cx="4085727" cy="756616"/>
        </p:xfrm>
        <a:graphic>
          <a:graphicData uri="http://schemas.openxmlformats.org/presentationml/2006/ole">
            <p:oleObj spid="_x0000_s3077" name="Equation" r:id="rId5" imgW="2057400" imgH="380880" progId="">
              <p:embed/>
            </p:oleObj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010400" y="327660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(2)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533400" y="914400"/>
            <a:ext cx="7924800" cy="1447800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ounded Rectangle 11"/>
          <p:cNvSpPr/>
          <p:nvPr/>
        </p:nvSpPr>
        <p:spPr>
          <a:xfrm>
            <a:off x="1524000" y="3124200"/>
            <a:ext cx="2895600" cy="762000"/>
          </a:xfrm>
          <a:prstGeom prst="round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4873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Linear</a:t>
            </a:r>
            <a:r>
              <a:rPr lang="en-US" sz="2400" b="1" dirty="0" smtClean="0">
                <a:solidFill>
                  <a:schemeClr val="tx1"/>
                </a:solidFill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</a:rPr>
              <a:t>differential equations: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23553" name="Object 6"/>
          <p:cNvGraphicFramePr>
            <a:graphicFrameLocks noChangeAspect="1"/>
          </p:cNvGraphicFramePr>
          <p:nvPr/>
        </p:nvGraphicFramePr>
        <p:xfrm>
          <a:off x="3124200" y="838200"/>
          <a:ext cx="2667001" cy="786047"/>
        </p:xfrm>
        <a:graphic>
          <a:graphicData uri="http://schemas.openxmlformats.org/presentationml/2006/ole">
            <p:oleObj spid="_x0000_s23553" name="Equation" r:id="rId4" imgW="1206360" imgH="355320" progId="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162800" y="99060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(2)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1600200"/>
            <a:ext cx="777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When (2) is multiplied by a function </a:t>
            </a:r>
            <a:r>
              <a:rPr lang="el-GR" i="1" dirty="0" smtClean="0"/>
              <a:t>μ</a:t>
            </a:r>
            <a:r>
              <a:rPr lang="en-AU" dirty="0" smtClean="0"/>
              <a:t> (x)</a:t>
            </a:r>
            <a:r>
              <a:rPr lang="en-US" dirty="0" smtClean="0"/>
              <a:t>,  it becomes an exact differential equation. This function, </a:t>
            </a:r>
            <a:r>
              <a:rPr lang="el-GR" i="1" dirty="0" smtClean="0"/>
              <a:t>μ</a:t>
            </a:r>
            <a:r>
              <a:rPr lang="en-AU" dirty="0" smtClean="0"/>
              <a:t> (x)</a:t>
            </a:r>
            <a:r>
              <a:rPr lang="en-US" dirty="0" smtClean="0"/>
              <a:t>  is known as </a:t>
            </a:r>
            <a:r>
              <a:rPr lang="en-US" b="1" dirty="0" smtClean="0"/>
              <a:t>integrating factor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33400" y="2590800"/>
            <a:ext cx="670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a linear ODE (2) ; the integrating factor is given by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162800" y="320040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(3)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04800" y="3962400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Multiply both sides of (2)</a:t>
            </a:r>
            <a:endParaRPr lang="en-AU" dirty="0"/>
          </a:p>
        </p:txBody>
      </p:sp>
      <p:graphicFrame>
        <p:nvGraphicFramePr>
          <p:cNvPr id="23572" name="Object 20"/>
          <p:cNvGraphicFramePr>
            <a:graphicFrameLocks noChangeAspect="1"/>
          </p:cNvGraphicFramePr>
          <p:nvPr/>
        </p:nvGraphicFramePr>
        <p:xfrm>
          <a:off x="2133600" y="3124200"/>
          <a:ext cx="5298968" cy="2393950"/>
        </p:xfrm>
        <a:graphic>
          <a:graphicData uri="http://schemas.openxmlformats.org/presentationml/2006/ole">
            <p:oleObj spid="_x0000_s23572" name="Equation" r:id="rId5" imgW="2501640" imgH="113004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07" name="Object 3"/>
          <p:cNvGraphicFramePr>
            <a:graphicFrameLocks noChangeAspect="1"/>
          </p:cNvGraphicFramePr>
          <p:nvPr/>
        </p:nvGraphicFramePr>
        <p:xfrm>
          <a:off x="1508125" y="2147888"/>
          <a:ext cx="6156325" cy="1419225"/>
        </p:xfrm>
        <a:graphic>
          <a:graphicData uri="http://schemas.openxmlformats.org/presentationml/2006/ole">
            <p:oleObj spid="_x0000_s47107" name="Equation" r:id="rId3" imgW="2425680" imgH="558720" progId="">
              <p:embed/>
            </p:oleObj>
          </a:graphicData>
        </a:graphic>
      </p:graphicFrame>
      <p:graphicFrame>
        <p:nvGraphicFramePr>
          <p:cNvPr id="47108" name="Object 4"/>
          <p:cNvGraphicFramePr>
            <a:graphicFrameLocks noChangeAspect="1"/>
          </p:cNvGraphicFramePr>
          <p:nvPr/>
        </p:nvGraphicFramePr>
        <p:xfrm>
          <a:off x="1524000" y="1219200"/>
          <a:ext cx="5694363" cy="736600"/>
        </p:xfrm>
        <a:graphic>
          <a:graphicData uri="http://schemas.openxmlformats.org/presentationml/2006/ole">
            <p:oleObj spid="_x0000_s47108" name="Equation" r:id="rId4" imgW="2552400" imgH="330120" progId="">
              <p:embed/>
            </p:oleObj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219200" y="4038600"/>
            <a:ext cx="6629400" cy="1323439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sz="1600" b="1" dirty="0" smtClean="0">
                <a:latin typeface="Arial" pitchFamily="34" charset="0"/>
                <a:cs typeface="Arial" pitchFamily="34" charset="0"/>
              </a:rPr>
              <a:t>Steps:</a:t>
            </a:r>
          </a:p>
          <a:p>
            <a:r>
              <a:rPr lang="en-AU" sz="1600" b="1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AU" sz="1600" b="1" dirty="0" err="1" smtClean="0">
                <a:latin typeface="Arial" pitchFamily="34" charset="0"/>
                <a:cs typeface="Arial" pitchFamily="34" charset="0"/>
              </a:rPr>
              <a:t>i</a:t>
            </a:r>
            <a:r>
              <a:rPr lang="en-AU" sz="1600" b="1" dirty="0" smtClean="0">
                <a:latin typeface="Arial" pitchFamily="34" charset="0"/>
                <a:cs typeface="Arial" pitchFamily="34" charset="0"/>
              </a:rPr>
              <a:t>) Identify P(x) from the standard form (2)</a:t>
            </a:r>
          </a:p>
          <a:p>
            <a:r>
              <a:rPr lang="en-AU" sz="1600" b="1" dirty="0" smtClean="0">
                <a:latin typeface="Arial" pitchFamily="34" charset="0"/>
                <a:cs typeface="Arial" pitchFamily="34" charset="0"/>
              </a:rPr>
              <a:t>(ii) Compute I.F. </a:t>
            </a:r>
            <a:r>
              <a:rPr lang="el-GR" sz="1600" b="1" dirty="0" smtClean="0">
                <a:latin typeface="Arial" pitchFamily="34" charset="0"/>
                <a:cs typeface="Arial" pitchFamily="34" charset="0"/>
              </a:rPr>
              <a:t>μ</a:t>
            </a:r>
            <a:r>
              <a:rPr lang="en-AU" sz="1600" b="1" dirty="0" smtClean="0">
                <a:latin typeface="Arial" pitchFamily="34" charset="0"/>
                <a:cs typeface="Arial" pitchFamily="34" charset="0"/>
              </a:rPr>
              <a:t>(x)</a:t>
            </a:r>
          </a:p>
          <a:p>
            <a:r>
              <a:rPr lang="en-AU" sz="1600" b="1" dirty="0" smtClean="0">
                <a:latin typeface="Arial" pitchFamily="34" charset="0"/>
                <a:cs typeface="Arial" pitchFamily="34" charset="0"/>
              </a:rPr>
              <a:t>(iii) Multiply equation (2) with I.F and reduce to exact differential.</a:t>
            </a:r>
          </a:p>
          <a:p>
            <a:r>
              <a:rPr lang="en-AU" sz="1600" b="1" dirty="0" smtClean="0">
                <a:latin typeface="Arial" pitchFamily="34" charset="0"/>
                <a:cs typeface="Arial" pitchFamily="34" charset="0"/>
              </a:rPr>
              <a:t>(iv) Solve for y  </a:t>
            </a:r>
            <a:endParaRPr lang="en-AU" sz="1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295400" y="838200"/>
            <a:ext cx="541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Integrating both sides </a:t>
            </a:r>
            <a:r>
              <a:rPr lang="en-AU" dirty="0" err="1" smtClean="0"/>
              <a:t>w.r.t</a:t>
            </a:r>
            <a:r>
              <a:rPr lang="en-AU" dirty="0" smtClean="0"/>
              <a:t>. </a:t>
            </a:r>
            <a:r>
              <a:rPr lang="en-AU" i="1" dirty="0" smtClean="0"/>
              <a:t>x</a:t>
            </a:r>
            <a:endParaRPr lang="en-AU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4873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Linear</a:t>
            </a:r>
            <a:r>
              <a:rPr lang="en-US" sz="2400" b="1" dirty="0" smtClean="0">
                <a:solidFill>
                  <a:schemeClr val="tx1"/>
                </a:solidFill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</a:rPr>
              <a:t>differential equations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685800"/>
            <a:ext cx="2463282" cy="6858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33400" y="1600200"/>
            <a:ext cx="746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Solution</a:t>
            </a:r>
            <a:r>
              <a:rPr lang="en-US" dirty="0" smtClean="0"/>
              <a:t>: Comparing to the standard form (2), we see that P(x)= -3, and the integrating factor is</a:t>
            </a:r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3" cstate="print">
            <a:lum bright="-14000" contrast="25000"/>
          </a:blip>
          <a:srcRect/>
          <a:stretch>
            <a:fillRect/>
          </a:stretch>
        </p:blipFill>
        <p:spPr bwMode="auto">
          <a:xfrm>
            <a:off x="3200400" y="2286000"/>
            <a:ext cx="214884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762000" y="2743200"/>
            <a:ext cx="6705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Then multiplying the given equation by this factor gives</a:t>
            </a:r>
            <a:endParaRPr lang="en-US" dirty="0"/>
          </a:p>
        </p:txBody>
      </p:sp>
      <p:pic>
        <p:nvPicPr>
          <p:cNvPr id="26630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38400" y="3124200"/>
            <a:ext cx="3789776" cy="919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31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971800" y="4038600"/>
            <a:ext cx="2590800" cy="854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32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048000" y="5029200"/>
            <a:ext cx="30562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33" name="Picture 9"/>
          <p:cNvPicPr>
            <a:picLocks noChangeAspect="1" noChangeArrowheads="1"/>
          </p:cNvPicPr>
          <p:nvPr/>
        </p:nvPicPr>
        <p:blipFill>
          <a:blip r:embed="rId7" cstate="print">
            <a:lum bright="-14000" contrast="19000"/>
          </a:blip>
          <a:srcRect/>
          <a:stretch>
            <a:fillRect/>
          </a:stretch>
        </p:blipFill>
        <p:spPr bwMode="auto">
          <a:xfrm>
            <a:off x="2819399" y="5720219"/>
            <a:ext cx="4819649" cy="528181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533400" y="4876800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Integrating both sides,</a:t>
            </a:r>
            <a:endParaRPr lang="en-US" dirty="0"/>
          </a:p>
        </p:txBody>
      </p:sp>
      <p:sp>
        <p:nvSpPr>
          <p:cNvPr id="14" name="Rounded Rectangle 13"/>
          <p:cNvSpPr/>
          <p:nvPr/>
        </p:nvSpPr>
        <p:spPr>
          <a:xfrm>
            <a:off x="381000" y="685800"/>
            <a:ext cx="2743200" cy="685800"/>
          </a:xfrm>
          <a:prstGeom prst="roundRect">
            <a:avLst/>
          </a:prstGeom>
          <a:solidFill>
            <a:srgbClr val="FF0000">
              <a:alpha val="1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 cstate="print">
            <a:lum bright="-18000" contrast="19000"/>
          </a:blip>
          <a:srcRect/>
          <a:stretch>
            <a:fillRect/>
          </a:stretch>
        </p:blipFill>
        <p:spPr bwMode="auto">
          <a:xfrm>
            <a:off x="3276600" y="1524000"/>
            <a:ext cx="4648200" cy="335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4" cstate="print">
            <a:lum bright="-15000" contrast="33000"/>
          </a:blip>
          <a:srcRect/>
          <a:stretch>
            <a:fillRect/>
          </a:stretch>
        </p:blipFill>
        <p:spPr bwMode="auto">
          <a:xfrm>
            <a:off x="4114800" y="4953000"/>
            <a:ext cx="3319272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381000" y="1752600"/>
            <a:ext cx="2590800" cy="3477875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en-US" sz="1600" i="1" dirty="0" smtClean="0">
                <a:latin typeface="Arial" pitchFamily="34" charset="0"/>
                <a:cs typeface="Arial" pitchFamily="34" charset="0"/>
              </a:rPr>
              <a:t>y = y</a:t>
            </a:r>
            <a:r>
              <a:rPr lang="en-US" sz="1600" i="1" baseline="-25000" dirty="0" smtClean="0">
                <a:latin typeface="Arial" pitchFamily="34" charset="0"/>
                <a:cs typeface="Arial" pitchFamily="34" charset="0"/>
              </a:rPr>
              <a:t>c</a:t>
            </a:r>
            <a:r>
              <a:rPr lang="en-US" sz="1600" i="1" dirty="0" smtClean="0">
                <a:latin typeface="Arial" pitchFamily="34" charset="0"/>
                <a:cs typeface="Arial" pitchFamily="34" charset="0"/>
              </a:rPr>
              <a:t> + y</a:t>
            </a:r>
            <a:r>
              <a:rPr lang="en-US" sz="1600" i="1" baseline="-25000" dirty="0" smtClean="0">
                <a:latin typeface="Arial" pitchFamily="34" charset="0"/>
                <a:cs typeface="Arial" pitchFamily="34" charset="0"/>
              </a:rPr>
              <a:t>p</a:t>
            </a:r>
            <a:r>
              <a:rPr lang="en-US" sz="1600" i="1" dirty="0" smtClean="0">
                <a:latin typeface="Arial" pitchFamily="34" charset="0"/>
                <a:cs typeface="Arial" pitchFamily="34" charset="0"/>
              </a:rPr>
              <a:t>, where</a:t>
            </a:r>
          </a:p>
          <a:p>
            <a:r>
              <a:rPr lang="en-US" sz="1600" i="1" dirty="0" smtClean="0">
                <a:latin typeface="Arial" pitchFamily="34" charset="0"/>
                <a:cs typeface="Arial" pitchFamily="34" charset="0"/>
              </a:rPr>
              <a:t>y</a:t>
            </a:r>
            <a:r>
              <a:rPr lang="en-US" sz="1600" i="1" baseline="-25000" dirty="0" smtClean="0">
                <a:latin typeface="Arial" pitchFamily="34" charset="0"/>
                <a:cs typeface="Arial" pitchFamily="34" charset="0"/>
              </a:rPr>
              <a:t>c</a:t>
            </a:r>
            <a:r>
              <a:rPr lang="en-US" sz="1600" i="1" dirty="0" smtClean="0">
                <a:latin typeface="Arial" pitchFamily="34" charset="0"/>
                <a:cs typeface="Arial" pitchFamily="34" charset="0"/>
              </a:rPr>
              <a:t>  =ce</a:t>
            </a:r>
            <a:r>
              <a:rPr lang="en-US" sz="1600" i="1" baseline="30000" dirty="0" smtClean="0">
                <a:latin typeface="Arial" pitchFamily="34" charset="0"/>
                <a:cs typeface="Arial" pitchFamily="34" charset="0"/>
              </a:rPr>
              <a:t>3x</a:t>
            </a:r>
            <a:r>
              <a:rPr lang="en-US" sz="1600" i="1" dirty="0" smtClean="0">
                <a:latin typeface="Arial" pitchFamily="34" charset="0"/>
                <a:cs typeface="Arial" pitchFamily="34" charset="0"/>
              </a:rPr>
              <a:t> is the solution of the corresponding homogeneous eqn.,</a:t>
            </a:r>
          </a:p>
          <a:p>
            <a:r>
              <a:rPr lang="en-US" i="1" dirty="0" smtClean="0"/>
              <a:t>                 </a:t>
            </a:r>
          </a:p>
          <a:p>
            <a:endParaRPr lang="en-US" sz="1600" i="1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1600" i="1" dirty="0" smtClean="0">
                <a:latin typeface="Arial" pitchFamily="34" charset="0"/>
                <a:cs typeface="Arial" pitchFamily="34" charset="0"/>
              </a:rPr>
              <a:t>And, y</a:t>
            </a:r>
            <a:r>
              <a:rPr lang="en-US" sz="1600" i="1" baseline="-25000" dirty="0" smtClean="0">
                <a:latin typeface="Arial" pitchFamily="34" charset="0"/>
                <a:cs typeface="Arial" pitchFamily="34" charset="0"/>
              </a:rPr>
              <a:t>p</a:t>
            </a:r>
            <a:r>
              <a:rPr lang="en-US" sz="1600" i="1" dirty="0" smtClean="0">
                <a:latin typeface="Arial" pitchFamily="34" charset="0"/>
                <a:cs typeface="Arial" pitchFamily="34" charset="0"/>
              </a:rPr>
              <a:t>= -2 is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a particular solution of the nonhomogeneous equation </a:t>
            </a:r>
          </a:p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pic>
        <p:nvPicPr>
          <p:cNvPr id="2765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38201" y="4343400"/>
            <a:ext cx="1752600" cy="34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5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33400" y="2819400"/>
            <a:ext cx="1295401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1828800" y="2819400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33400" y="838200"/>
            <a:ext cx="7467600" cy="4873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Linear</a:t>
            </a:r>
            <a:r>
              <a:rPr lang="en-US" sz="2400" b="1" dirty="0" smtClean="0">
                <a:solidFill>
                  <a:schemeClr val="tx1"/>
                </a:solidFill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</a:rPr>
              <a:t>differential equations: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609600"/>
            <a:ext cx="5624945" cy="762000"/>
          </a:xfrm>
          <a:prstGeom prst="rect">
            <a:avLst/>
          </a:prstGeom>
          <a:noFill/>
          <a:ln w="31750">
            <a:noFill/>
            <a:miter lim="800000"/>
            <a:headEnd/>
            <a:tailEnd/>
          </a:ln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524000"/>
            <a:ext cx="6629400" cy="1222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90600" y="2743200"/>
            <a:ext cx="329762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66800" y="3124200"/>
            <a:ext cx="5486401" cy="428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8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53201" y="3166404"/>
            <a:ext cx="914400" cy="362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9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990600" y="3505200"/>
            <a:ext cx="647337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80" name="Picture 8"/>
          <p:cNvPicPr>
            <a:picLocks noChangeAspect="1" noChangeArrowheads="1"/>
          </p:cNvPicPr>
          <p:nvPr/>
        </p:nvPicPr>
        <p:blipFill>
          <a:blip r:embed="rId8" cstate="print">
            <a:lum bright="-20000" contrast="36000"/>
          </a:blip>
          <a:srcRect/>
          <a:stretch>
            <a:fillRect/>
          </a:stretch>
        </p:blipFill>
        <p:spPr bwMode="auto">
          <a:xfrm>
            <a:off x="762000" y="3810000"/>
            <a:ext cx="7315200" cy="70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81" name="Picture 9"/>
          <p:cNvPicPr>
            <a:picLocks noChangeAspect="1" noChangeArrowheads="1"/>
          </p:cNvPicPr>
          <p:nvPr/>
        </p:nvPicPr>
        <p:blipFill>
          <a:blip r:embed="rId9" cstate="print">
            <a:lum bright="-7000" contrast="14000"/>
          </a:blip>
          <a:srcRect/>
          <a:stretch>
            <a:fillRect/>
          </a:stretch>
        </p:blipFill>
        <p:spPr bwMode="auto">
          <a:xfrm>
            <a:off x="3733800" y="4419600"/>
            <a:ext cx="2599841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82" name="Picture 10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838199" y="5334000"/>
            <a:ext cx="764931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1066800" y="464820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Multiplying by I.F gives</a:t>
            </a:r>
            <a:endParaRPr lang="en-US" dirty="0"/>
          </a:p>
        </p:txBody>
      </p:sp>
      <p:pic>
        <p:nvPicPr>
          <p:cNvPr id="28683" name="Picture 11"/>
          <p:cNvPicPr>
            <a:picLocks noChangeAspect="1" noChangeArrowheads="1"/>
          </p:cNvPicPr>
          <p:nvPr/>
        </p:nvPicPr>
        <p:blipFill>
          <a:blip r:embed="rId11" cstate="print">
            <a:lum bright="-16000" contrast="24000"/>
          </a:blip>
          <a:srcRect/>
          <a:stretch>
            <a:fillRect/>
          </a:stretch>
        </p:blipFill>
        <p:spPr bwMode="auto">
          <a:xfrm>
            <a:off x="3352800" y="5774434"/>
            <a:ext cx="2057400" cy="73114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rgbClr val="00B050"/>
            </a:solidFill>
            <a:miter lim="800000"/>
            <a:headEnd/>
            <a:tailEnd/>
          </a:ln>
        </p:spPr>
      </p:pic>
      <p:sp>
        <p:nvSpPr>
          <p:cNvPr id="14" name="Oval Callout 13"/>
          <p:cNvSpPr/>
          <p:nvPr/>
        </p:nvSpPr>
        <p:spPr>
          <a:xfrm>
            <a:off x="6553200" y="5867400"/>
            <a:ext cx="1524000" cy="917448"/>
          </a:xfrm>
          <a:prstGeom prst="wedgeEllipseCallout">
            <a:avLst>
              <a:gd name="adj1" fmla="val -121141"/>
              <a:gd name="adj2" fmla="val -10949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?</a:t>
            </a:r>
          </a:p>
          <a:p>
            <a:pPr algn="ctr"/>
            <a:r>
              <a:rPr lang="en-US" sz="1600" dirty="0" smtClean="0"/>
              <a:t>(-3,3) ignored</a:t>
            </a:r>
            <a:endParaRPr lang="en-US" sz="1600" dirty="0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7467600" cy="4873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Linear</a:t>
            </a:r>
            <a:r>
              <a:rPr lang="en-US" sz="2400" b="1" dirty="0" smtClean="0">
                <a:solidFill>
                  <a:schemeClr val="tx1"/>
                </a:solidFill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</a:rPr>
              <a:t>differential equations: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304800" y="609600"/>
            <a:ext cx="6096000" cy="914400"/>
          </a:xfrm>
          <a:prstGeom prst="roundRect">
            <a:avLst/>
          </a:prstGeom>
          <a:solidFill>
            <a:srgbClr val="FF0000">
              <a:alpha val="1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 cstate="print">
            <a:lum bright="-15000" contrast="30000"/>
          </a:blip>
          <a:srcRect/>
          <a:stretch>
            <a:fillRect/>
          </a:stretch>
        </p:blipFill>
        <p:spPr bwMode="auto">
          <a:xfrm>
            <a:off x="228601" y="457200"/>
            <a:ext cx="8001000" cy="2813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155" name="Picture 3"/>
          <p:cNvPicPr>
            <a:picLocks noChangeAspect="1" noChangeArrowheads="1"/>
          </p:cNvPicPr>
          <p:nvPr/>
        </p:nvPicPr>
        <p:blipFill>
          <a:blip r:embed="rId3" cstate="print">
            <a:lum bright="-6000" contrast="15000"/>
          </a:blip>
          <a:srcRect/>
          <a:stretch>
            <a:fillRect/>
          </a:stretch>
        </p:blipFill>
        <p:spPr bwMode="auto">
          <a:xfrm>
            <a:off x="2590800" y="3810000"/>
            <a:ext cx="3419412" cy="21336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3200400" y="1905000"/>
            <a:ext cx="2743200" cy="685800"/>
          </a:xfrm>
          <a:prstGeom prst="roundRect">
            <a:avLst/>
          </a:prstGeom>
          <a:solidFill>
            <a:schemeClr val="accent1">
              <a:alpha val="1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 cstate="print">
            <a:lum bright="-10000" contrast="19000"/>
          </a:blip>
          <a:srcRect/>
          <a:stretch>
            <a:fillRect/>
          </a:stretch>
        </p:blipFill>
        <p:spPr bwMode="auto">
          <a:xfrm>
            <a:off x="685800" y="304800"/>
            <a:ext cx="5654524" cy="838200"/>
          </a:xfrm>
          <a:prstGeom prst="rect">
            <a:avLst/>
          </a:prstGeom>
          <a:noFill/>
          <a:ln w="9525" cmpd="sng">
            <a:noFill/>
            <a:miter lim="800000"/>
            <a:headEnd/>
            <a:tailEnd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</p:pic>
      <p:pic>
        <p:nvPicPr>
          <p:cNvPr id="67587" name="Picture 3"/>
          <p:cNvPicPr>
            <a:picLocks noChangeAspect="1" noChangeArrowheads="1"/>
          </p:cNvPicPr>
          <p:nvPr/>
        </p:nvPicPr>
        <p:blipFill>
          <a:blip r:embed="rId3" cstate="print">
            <a:lum bright="-10000" contrast="19000"/>
          </a:blip>
          <a:srcRect/>
          <a:stretch>
            <a:fillRect/>
          </a:stretch>
        </p:blipFill>
        <p:spPr bwMode="auto">
          <a:xfrm>
            <a:off x="1676400" y="1524000"/>
            <a:ext cx="2209800" cy="692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7588" name="Picture 4"/>
          <p:cNvPicPr>
            <a:picLocks noChangeAspect="1" noChangeArrowheads="1"/>
          </p:cNvPicPr>
          <p:nvPr/>
        </p:nvPicPr>
        <p:blipFill>
          <a:blip r:embed="rId4" cstate="print">
            <a:lum bright="-10000" contrast="19000"/>
          </a:blip>
          <a:srcRect/>
          <a:stretch>
            <a:fillRect/>
          </a:stretch>
        </p:blipFill>
        <p:spPr bwMode="auto">
          <a:xfrm>
            <a:off x="1600200" y="2362200"/>
            <a:ext cx="499353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7589" name="Picture 5"/>
          <p:cNvPicPr>
            <a:picLocks noChangeAspect="1" noChangeArrowheads="1"/>
          </p:cNvPicPr>
          <p:nvPr/>
        </p:nvPicPr>
        <p:blipFill>
          <a:blip r:embed="rId5" cstate="print">
            <a:lum bright="-10000" contrast="19000"/>
          </a:blip>
          <a:srcRect/>
          <a:stretch>
            <a:fillRect/>
          </a:stretch>
        </p:blipFill>
        <p:spPr bwMode="auto">
          <a:xfrm>
            <a:off x="1600200" y="3048000"/>
            <a:ext cx="3608882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7590" name="Picture 6"/>
          <p:cNvPicPr>
            <a:picLocks noChangeAspect="1" noChangeArrowheads="1"/>
          </p:cNvPicPr>
          <p:nvPr/>
        </p:nvPicPr>
        <p:blipFill>
          <a:blip r:embed="rId6" cstate="print">
            <a:lum bright="-10000" contrast="19000"/>
          </a:blip>
          <a:srcRect/>
          <a:stretch>
            <a:fillRect/>
          </a:stretch>
        </p:blipFill>
        <p:spPr bwMode="auto">
          <a:xfrm>
            <a:off x="1752600" y="3810000"/>
            <a:ext cx="4191000" cy="797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066800" y="36576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or,</a:t>
            </a:r>
            <a:endParaRPr lang="en-AU" dirty="0"/>
          </a:p>
        </p:txBody>
      </p:sp>
      <p:pic>
        <p:nvPicPr>
          <p:cNvPr id="67591" name="Picture 7"/>
          <p:cNvPicPr>
            <a:picLocks noChangeAspect="1" noChangeArrowheads="1"/>
          </p:cNvPicPr>
          <p:nvPr/>
        </p:nvPicPr>
        <p:blipFill>
          <a:blip r:embed="rId7" cstate="print">
            <a:lum bright="-10000" contrast="19000"/>
          </a:blip>
          <a:srcRect/>
          <a:stretch>
            <a:fillRect/>
          </a:stretch>
        </p:blipFill>
        <p:spPr bwMode="auto">
          <a:xfrm>
            <a:off x="1066799" y="4800600"/>
            <a:ext cx="3887893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7592" name="Picture 8"/>
          <p:cNvPicPr>
            <a:picLocks noChangeAspect="1" noChangeArrowheads="1"/>
          </p:cNvPicPr>
          <p:nvPr/>
        </p:nvPicPr>
        <p:blipFill>
          <a:blip r:embed="rId8" cstate="print">
            <a:lum bright="-10000" contrast="19000"/>
          </a:blip>
          <a:srcRect/>
          <a:stretch>
            <a:fillRect/>
          </a:stretch>
        </p:blipFill>
        <p:spPr bwMode="auto">
          <a:xfrm>
            <a:off x="2286000" y="5410200"/>
            <a:ext cx="3733800" cy="913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7593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063196" y="5558715"/>
            <a:ext cx="914400" cy="560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457200" y="1219200"/>
            <a:ext cx="1981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C00000"/>
                </a:solidFill>
              </a:rPr>
              <a:t>Solution: Hints</a:t>
            </a:r>
            <a:endParaRPr lang="en-AU" dirty="0">
              <a:solidFill>
                <a:srgbClr val="C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2000" y="533400"/>
            <a:ext cx="3810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7" name="Rounded Rectangle 16"/>
          <p:cNvSpPr/>
          <p:nvPr/>
        </p:nvSpPr>
        <p:spPr>
          <a:xfrm>
            <a:off x="609600" y="228600"/>
            <a:ext cx="5867400" cy="990600"/>
          </a:xfrm>
          <a:prstGeom prst="roundRect">
            <a:avLst/>
          </a:prstGeom>
          <a:solidFill>
            <a:srgbClr val="FF0000">
              <a:alpha val="1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7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7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7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6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304800"/>
            <a:ext cx="35147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0179" name="Picture 3"/>
          <p:cNvPicPr>
            <a:picLocks noChangeAspect="1" noChangeArrowheads="1"/>
          </p:cNvPicPr>
          <p:nvPr/>
        </p:nvPicPr>
        <p:blipFill>
          <a:blip r:embed="rId3" cstate="print">
            <a:lum bright="-12000" contrast="29000"/>
          </a:blip>
          <a:srcRect/>
          <a:stretch>
            <a:fillRect/>
          </a:stretch>
        </p:blipFill>
        <p:spPr bwMode="auto">
          <a:xfrm>
            <a:off x="533400" y="914399"/>
            <a:ext cx="7391399" cy="548913"/>
          </a:xfrm>
          <a:prstGeom prst="rect">
            <a:avLst/>
          </a:prstGeom>
          <a:noFill/>
          <a:ln w="9525" cmpd="sng">
            <a:noFill/>
            <a:miter lim="800000"/>
            <a:headEnd/>
            <a:tailEnd/>
          </a:ln>
          <a:effectLst/>
        </p:spPr>
      </p:pic>
      <p:pic>
        <p:nvPicPr>
          <p:cNvPr id="50180" name="Picture 4"/>
          <p:cNvPicPr>
            <a:picLocks noChangeAspect="1" noChangeArrowheads="1"/>
          </p:cNvPicPr>
          <p:nvPr/>
        </p:nvPicPr>
        <p:blipFill>
          <a:blip r:embed="rId4" cstate="print">
            <a:lum bright="-15000" contrast="26000"/>
          </a:blip>
          <a:srcRect/>
          <a:stretch>
            <a:fillRect/>
          </a:stretch>
        </p:blipFill>
        <p:spPr bwMode="auto">
          <a:xfrm>
            <a:off x="2590800" y="1828800"/>
            <a:ext cx="31403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0181" name="Picture 5"/>
          <p:cNvPicPr>
            <a:picLocks noChangeAspect="1" noChangeArrowheads="1"/>
          </p:cNvPicPr>
          <p:nvPr/>
        </p:nvPicPr>
        <p:blipFill>
          <a:blip r:embed="rId5" cstate="print">
            <a:lum bright="-15000" contrast="26000"/>
          </a:blip>
          <a:srcRect/>
          <a:stretch>
            <a:fillRect/>
          </a:stretch>
        </p:blipFill>
        <p:spPr bwMode="auto">
          <a:xfrm>
            <a:off x="685800" y="3352800"/>
            <a:ext cx="4114800" cy="338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0182" name="Picture 6"/>
          <p:cNvPicPr>
            <a:picLocks noChangeAspect="1" noChangeArrowheads="1"/>
          </p:cNvPicPr>
          <p:nvPr/>
        </p:nvPicPr>
        <p:blipFill>
          <a:blip r:embed="rId6" cstate="print">
            <a:lum bright="-15000" contrast="26000"/>
          </a:blip>
          <a:srcRect/>
          <a:stretch>
            <a:fillRect/>
          </a:stretch>
        </p:blipFill>
        <p:spPr bwMode="auto">
          <a:xfrm>
            <a:off x="762000" y="3733800"/>
            <a:ext cx="3962400" cy="313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0184" name="Picture 8"/>
          <p:cNvPicPr>
            <a:picLocks noChangeAspect="1" noChangeArrowheads="1"/>
          </p:cNvPicPr>
          <p:nvPr/>
        </p:nvPicPr>
        <p:blipFill>
          <a:blip r:embed="rId7" cstate="print">
            <a:lum bright="-15000" contrast="26000"/>
          </a:blip>
          <a:srcRect/>
          <a:stretch>
            <a:fillRect/>
          </a:stretch>
        </p:blipFill>
        <p:spPr bwMode="auto">
          <a:xfrm>
            <a:off x="685799" y="4114800"/>
            <a:ext cx="444909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0185" name="Picture 9"/>
          <p:cNvPicPr>
            <a:picLocks noChangeAspect="1" noChangeArrowheads="1"/>
          </p:cNvPicPr>
          <p:nvPr/>
        </p:nvPicPr>
        <p:blipFill>
          <a:blip r:embed="rId8" cstate="print">
            <a:lum bright="-15000" contrast="26000"/>
          </a:blip>
          <a:srcRect/>
          <a:stretch>
            <a:fillRect/>
          </a:stretch>
        </p:blipFill>
        <p:spPr bwMode="auto">
          <a:xfrm>
            <a:off x="3429000" y="4648200"/>
            <a:ext cx="2362200" cy="78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0186" name="Picture 10"/>
          <p:cNvPicPr>
            <a:picLocks noChangeAspect="1" noChangeArrowheads="1"/>
          </p:cNvPicPr>
          <p:nvPr/>
        </p:nvPicPr>
        <p:blipFill>
          <a:blip r:embed="rId9" cstate="print">
            <a:lum bright="-15000" contrast="26000"/>
          </a:blip>
          <a:srcRect/>
          <a:stretch>
            <a:fillRect/>
          </a:stretch>
        </p:blipFill>
        <p:spPr bwMode="auto">
          <a:xfrm>
            <a:off x="685800" y="5410200"/>
            <a:ext cx="6858000" cy="323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0187" name="Picture 11"/>
          <p:cNvPicPr>
            <a:picLocks noChangeAspect="1" noChangeArrowheads="1"/>
          </p:cNvPicPr>
          <p:nvPr/>
        </p:nvPicPr>
        <p:blipFill>
          <a:blip r:embed="rId10" cstate="print">
            <a:lum bright="-12000" contrast="17000"/>
          </a:blip>
          <a:srcRect/>
          <a:stretch>
            <a:fillRect/>
          </a:stretch>
        </p:blipFill>
        <p:spPr bwMode="auto">
          <a:xfrm>
            <a:off x="3048000" y="5867400"/>
            <a:ext cx="2438400" cy="501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533400" y="16764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Solution:</a:t>
            </a:r>
            <a:endParaRPr lang="en-AU" dirty="0"/>
          </a:p>
        </p:txBody>
      </p:sp>
      <p:sp>
        <p:nvSpPr>
          <p:cNvPr id="13" name="Rounded Rectangle 12"/>
          <p:cNvSpPr/>
          <p:nvPr/>
        </p:nvSpPr>
        <p:spPr>
          <a:xfrm>
            <a:off x="457200" y="914400"/>
            <a:ext cx="7696200" cy="609600"/>
          </a:xfrm>
          <a:prstGeom prst="roundRect">
            <a:avLst/>
          </a:prstGeom>
          <a:solidFill>
            <a:srgbClr val="FF0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5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50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685800"/>
            <a:ext cx="5715000" cy="343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0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1066800"/>
            <a:ext cx="3200400" cy="3616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0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09800" y="1828800"/>
            <a:ext cx="2514600" cy="459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05" name="Picture 5"/>
          <p:cNvPicPr>
            <a:picLocks noChangeAspect="1" noChangeArrowheads="1"/>
          </p:cNvPicPr>
          <p:nvPr/>
        </p:nvPicPr>
        <p:blipFill>
          <a:blip r:embed="rId5" cstate="print">
            <a:lum bright="-12000" contrast="22000"/>
          </a:blip>
          <a:srcRect/>
          <a:stretch>
            <a:fillRect/>
          </a:stretch>
        </p:blipFill>
        <p:spPr bwMode="auto">
          <a:xfrm>
            <a:off x="1600200" y="2623884"/>
            <a:ext cx="5486400" cy="3934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1752600" y="2514600"/>
            <a:ext cx="228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 smtClean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4267200" y="2895600"/>
            <a:ext cx="1981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Model graph, not the exact one from the problem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304800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Exercises: 2.3</a:t>
            </a:r>
            <a:endParaRPr lang="en-AU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6321" name="Picture 1"/>
          <p:cNvPicPr>
            <a:picLocks noChangeAspect="1" noChangeArrowheads="1"/>
          </p:cNvPicPr>
          <p:nvPr/>
        </p:nvPicPr>
        <p:blipFill>
          <a:blip r:embed="rId2" cstate="print">
            <a:lum bright="-13000" contrast="24000"/>
          </a:blip>
          <a:srcRect/>
          <a:stretch>
            <a:fillRect/>
          </a:stretch>
        </p:blipFill>
        <p:spPr bwMode="auto">
          <a:xfrm>
            <a:off x="838200" y="990600"/>
            <a:ext cx="2895600" cy="660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3" cstate="print">
            <a:lum bright="-13000" contrast="24000"/>
          </a:blip>
          <a:srcRect/>
          <a:stretch>
            <a:fillRect/>
          </a:stretch>
        </p:blipFill>
        <p:spPr bwMode="auto">
          <a:xfrm>
            <a:off x="914400" y="1981200"/>
            <a:ext cx="2733675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6323" name="Picture 3"/>
          <p:cNvPicPr>
            <a:picLocks noChangeAspect="1" noChangeArrowheads="1"/>
          </p:cNvPicPr>
          <p:nvPr/>
        </p:nvPicPr>
        <p:blipFill>
          <a:blip r:embed="rId4" cstate="print">
            <a:lum bright="-13000" contrast="24000"/>
          </a:blip>
          <a:srcRect/>
          <a:stretch>
            <a:fillRect/>
          </a:stretch>
        </p:blipFill>
        <p:spPr bwMode="auto">
          <a:xfrm>
            <a:off x="990600" y="2743199"/>
            <a:ext cx="2743200" cy="368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6324" name="Picture 4"/>
          <p:cNvPicPr>
            <a:picLocks noChangeAspect="1" noChangeArrowheads="1"/>
          </p:cNvPicPr>
          <p:nvPr/>
        </p:nvPicPr>
        <p:blipFill>
          <a:blip r:embed="rId5" cstate="print">
            <a:lum bright="-13000" contrast="24000"/>
          </a:blip>
          <a:srcRect/>
          <a:stretch>
            <a:fillRect/>
          </a:stretch>
        </p:blipFill>
        <p:spPr bwMode="auto">
          <a:xfrm>
            <a:off x="990600" y="3429000"/>
            <a:ext cx="3383131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6325" name="Picture 5"/>
          <p:cNvPicPr>
            <a:picLocks noChangeAspect="1" noChangeArrowheads="1"/>
          </p:cNvPicPr>
          <p:nvPr/>
        </p:nvPicPr>
        <p:blipFill>
          <a:blip r:embed="rId6" cstate="print">
            <a:lum bright="-13000" contrast="24000"/>
          </a:blip>
          <a:srcRect/>
          <a:stretch>
            <a:fillRect/>
          </a:stretch>
        </p:blipFill>
        <p:spPr bwMode="auto">
          <a:xfrm>
            <a:off x="914400" y="4876799"/>
            <a:ext cx="4800600" cy="1721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8200" y="457200"/>
            <a:ext cx="701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C00000"/>
                </a:solidFill>
              </a:rPr>
              <a:t>Solving Homogeneous First Order ODEs</a:t>
            </a:r>
          </a:p>
          <a:p>
            <a:r>
              <a:rPr lang="en-AU" sz="2400" dirty="0" smtClean="0">
                <a:solidFill>
                  <a:srgbClr val="C00000"/>
                </a:solidFill>
              </a:rPr>
              <a:t>(Chapter 2.5)</a:t>
            </a:r>
            <a:endParaRPr lang="en-AU" sz="2400" dirty="0">
              <a:solidFill>
                <a:srgbClr val="C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00" y="2209800"/>
            <a:ext cx="533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charset="0"/>
              <a:buChar char="•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Homogeneous first order ODE</a:t>
            </a:r>
          </a:p>
          <a:p>
            <a:endParaRPr lang="en-AU" b="1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Arial" charset="0"/>
              <a:buChar char="•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Bernoulli’s Equations</a:t>
            </a:r>
            <a:endParaRPr lang="en-AU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371600" y="1981200"/>
            <a:ext cx="5791200" cy="1600200"/>
          </a:xfrm>
          <a:prstGeom prst="roundRect">
            <a:avLst/>
          </a:prstGeom>
          <a:solidFill>
            <a:schemeClr val="accent1">
              <a:alpha val="2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7D99-3909-43FD-B901-00E004558AFD}" type="slidenum">
              <a:rPr lang="en-AU" smtClean="0"/>
              <a:pPr/>
              <a:t>14</a:t>
            </a:fld>
            <a:endParaRPr lang="en-AU"/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428604"/>
            <a:ext cx="3990975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1000100" y="1214422"/>
            <a:ext cx="40046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/>
              <a:t>If a function </a:t>
            </a:r>
            <a:r>
              <a:rPr lang="en-AU" i="1" dirty="0" smtClean="0"/>
              <a:t>f possesses the property</a:t>
            </a:r>
            <a:endParaRPr lang="en-AU" dirty="0"/>
          </a:p>
        </p:txBody>
      </p:sp>
      <p:pic>
        <p:nvPicPr>
          <p:cNvPr id="48132" name="Picture 4"/>
          <p:cNvPicPr>
            <a:picLocks noChangeAspect="1" noChangeArrowheads="1"/>
          </p:cNvPicPr>
          <p:nvPr/>
        </p:nvPicPr>
        <p:blipFill>
          <a:blip r:embed="rId3" cstate="print">
            <a:lum bright="-9000" contrast="21000"/>
          </a:blip>
          <a:srcRect/>
          <a:stretch>
            <a:fillRect/>
          </a:stretch>
        </p:blipFill>
        <p:spPr bwMode="auto">
          <a:xfrm>
            <a:off x="2357422" y="1857364"/>
            <a:ext cx="1143008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8133" name="Picture 5"/>
          <p:cNvPicPr>
            <a:picLocks noChangeAspect="1" noChangeArrowheads="1"/>
          </p:cNvPicPr>
          <p:nvPr/>
        </p:nvPicPr>
        <p:blipFill>
          <a:blip r:embed="rId4" cstate="print">
            <a:lum bright="-9000" contrast="21000"/>
          </a:blip>
          <a:srcRect/>
          <a:stretch>
            <a:fillRect/>
          </a:stretch>
        </p:blipFill>
        <p:spPr bwMode="auto">
          <a:xfrm>
            <a:off x="3500430" y="1785926"/>
            <a:ext cx="1014420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1285852" y="2285992"/>
            <a:ext cx="70009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for some real number </a:t>
            </a:r>
            <a:r>
              <a:rPr lang="el-GR" dirty="0" smtClean="0"/>
              <a:t>α</a:t>
            </a:r>
            <a:r>
              <a:rPr lang="en-AU" dirty="0" smtClean="0"/>
              <a:t> , then </a:t>
            </a:r>
            <a:r>
              <a:rPr lang="en-AU" i="1" dirty="0" smtClean="0"/>
              <a:t>f is said to be a </a:t>
            </a:r>
            <a:r>
              <a:rPr lang="en-AU" b="1" i="1" dirty="0" smtClean="0"/>
              <a:t>homogeneous function of </a:t>
            </a:r>
            <a:r>
              <a:rPr lang="en-AU" dirty="0" smtClean="0"/>
              <a:t>degree </a:t>
            </a:r>
            <a:r>
              <a:rPr lang="el-GR" dirty="0" smtClean="0"/>
              <a:t>α</a:t>
            </a:r>
            <a:r>
              <a:rPr lang="en-AU" dirty="0" smtClean="0"/>
              <a:t> .</a:t>
            </a:r>
            <a:endParaRPr lang="en-AU" dirty="0"/>
          </a:p>
        </p:txBody>
      </p:sp>
      <p:pic>
        <p:nvPicPr>
          <p:cNvPr id="48134" name="Picture 6"/>
          <p:cNvPicPr>
            <a:picLocks noChangeAspect="1" noChangeArrowheads="1"/>
          </p:cNvPicPr>
          <p:nvPr/>
        </p:nvPicPr>
        <p:blipFill>
          <a:blip r:embed="rId5" cstate="print">
            <a:lum bright="-9000" contrast="21000"/>
          </a:blip>
          <a:srcRect/>
          <a:stretch>
            <a:fillRect/>
          </a:stretch>
        </p:blipFill>
        <p:spPr bwMode="auto">
          <a:xfrm>
            <a:off x="1357290" y="3286123"/>
            <a:ext cx="3143272" cy="294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8135" name="Picture 7"/>
          <p:cNvPicPr>
            <a:picLocks noChangeAspect="1" noChangeArrowheads="1"/>
          </p:cNvPicPr>
          <p:nvPr/>
        </p:nvPicPr>
        <p:blipFill>
          <a:blip r:embed="rId6" cstate="print">
            <a:lum bright="-9000" contrast="21000"/>
          </a:blip>
          <a:srcRect/>
          <a:stretch>
            <a:fillRect/>
          </a:stretch>
        </p:blipFill>
        <p:spPr bwMode="auto">
          <a:xfrm>
            <a:off x="1785918" y="3714752"/>
            <a:ext cx="5220469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8136" name="Picture 8"/>
          <p:cNvPicPr>
            <a:picLocks noChangeAspect="1" noChangeArrowheads="1"/>
          </p:cNvPicPr>
          <p:nvPr/>
        </p:nvPicPr>
        <p:blipFill>
          <a:blip r:embed="rId7" cstate="print">
            <a:lum bright="-9000" contrast="21000"/>
          </a:blip>
          <a:srcRect/>
          <a:stretch>
            <a:fillRect/>
          </a:stretch>
        </p:blipFill>
        <p:spPr bwMode="auto">
          <a:xfrm>
            <a:off x="2571736" y="4214818"/>
            <a:ext cx="3929090" cy="293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8137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928794" y="4786322"/>
            <a:ext cx="5308393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ounded Rectangle 11"/>
          <p:cNvSpPr/>
          <p:nvPr/>
        </p:nvSpPr>
        <p:spPr>
          <a:xfrm>
            <a:off x="990600" y="1066800"/>
            <a:ext cx="7162800" cy="1981200"/>
          </a:xfrm>
          <a:prstGeom prst="roundRect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7D99-3909-43FD-B901-00E004558AFD}" type="slidenum">
              <a:rPr lang="en-AU" smtClean="0"/>
              <a:pPr/>
              <a:t>15</a:t>
            </a:fld>
            <a:endParaRPr lang="en-AU"/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5984" y="1643050"/>
            <a:ext cx="3836221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1428728" y="1142984"/>
            <a:ext cx="56845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/>
              <a:t>A first-order DE in differential equation of the form</a:t>
            </a:r>
            <a:endParaRPr lang="en-AU" dirty="0"/>
          </a:p>
        </p:txBody>
      </p:sp>
      <p:sp>
        <p:nvSpPr>
          <p:cNvPr id="6" name="Rectangle 5"/>
          <p:cNvSpPr/>
          <p:nvPr/>
        </p:nvSpPr>
        <p:spPr>
          <a:xfrm>
            <a:off x="1500166" y="2071678"/>
            <a:ext cx="64294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is said to be </a:t>
            </a:r>
            <a:r>
              <a:rPr lang="en-AU" b="1" dirty="0" smtClean="0"/>
              <a:t>homogeneous if both coefficient functions </a:t>
            </a:r>
            <a:r>
              <a:rPr lang="en-AU" b="1" i="1" dirty="0" smtClean="0"/>
              <a:t>M and N are homogeneous </a:t>
            </a:r>
            <a:r>
              <a:rPr lang="en-AU" dirty="0" smtClean="0"/>
              <a:t>functions of the </a:t>
            </a:r>
            <a:r>
              <a:rPr lang="en-AU" i="1" dirty="0" smtClean="0"/>
              <a:t>same degree.</a:t>
            </a:r>
            <a:endParaRPr lang="en-AU" dirty="0"/>
          </a:p>
        </p:txBody>
      </p:sp>
      <p:sp>
        <p:nvSpPr>
          <p:cNvPr id="7" name="Rectangle 6"/>
          <p:cNvSpPr/>
          <p:nvPr/>
        </p:nvSpPr>
        <p:spPr>
          <a:xfrm>
            <a:off x="1643042" y="3143248"/>
            <a:ext cx="43107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/>
              <a:t>In other words, (H1) is homogeneous if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7000892" y="1643050"/>
            <a:ext cx="157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(H1)</a:t>
            </a:r>
            <a:endParaRPr lang="en-AU" dirty="0"/>
          </a:p>
        </p:txBody>
      </p:sp>
      <p:pic>
        <p:nvPicPr>
          <p:cNvPr id="49155" name="Picture 3"/>
          <p:cNvPicPr>
            <a:picLocks noChangeAspect="1" noChangeArrowheads="1"/>
          </p:cNvPicPr>
          <p:nvPr/>
        </p:nvPicPr>
        <p:blipFill>
          <a:blip r:embed="rId3" cstate="print">
            <a:lum bright="-16000" contrast="29000"/>
          </a:blip>
          <a:srcRect/>
          <a:stretch>
            <a:fillRect/>
          </a:stretch>
        </p:blipFill>
        <p:spPr bwMode="auto">
          <a:xfrm>
            <a:off x="1857355" y="3714752"/>
            <a:ext cx="6186863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1428728" y="4643446"/>
            <a:ext cx="6858048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1" dirty="0" smtClean="0">
                <a:solidFill>
                  <a:srgbClr val="FF0000"/>
                </a:solidFill>
              </a:rPr>
              <a:t>How to Solve</a:t>
            </a:r>
            <a:r>
              <a:rPr lang="en-AU" i="1" dirty="0" smtClean="0"/>
              <a:t>: </a:t>
            </a:r>
            <a:r>
              <a:rPr lang="en-AU" sz="1600" dirty="0" smtClean="0">
                <a:latin typeface="Arial" pitchFamily="34" charset="0"/>
                <a:cs typeface="Arial" pitchFamily="34" charset="0"/>
              </a:rPr>
              <a:t>Either of the substitutions </a:t>
            </a:r>
            <a:r>
              <a:rPr lang="en-AU" sz="1600" b="1" dirty="0" smtClean="0">
                <a:latin typeface="Arial" pitchFamily="34" charset="0"/>
                <a:cs typeface="Arial" pitchFamily="34" charset="0"/>
              </a:rPr>
              <a:t>y= </a:t>
            </a:r>
            <a:r>
              <a:rPr lang="en-AU" sz="1600" b="1" dirty="0" err="1" smtClean="0">
                <a:latin typeface="Arial" pitchFamily="34" charset="0"/>
                <a:cs typeface="Arial" pitchFamily="34" charset="0"/>
              </a:rPr>
              <a:t>ux</a:t>
            </a:r>
            <a:r>
              <a:rPr lang="en-AU" sz="16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sz="1600" dirty="0" smtClean="0">
                <a:latin typeface="Arial" pitchFamily="34" charset="0"/>
                <a:cs typeface="Arial" pitchFamily="34" charset="0"/>
              </a:rPr>
              <a:t>or </a:t>
            </a:r>
            <a:r>
              <a:rPr lang="en-AU" sz="1600" b="1" dirty="0" smtClean="0">
                <a:latin typeface="Arial" pitchFamily="34" charset="0"/>
                <a:cs typeface="Arial" pitchFamily="34" charset="0"/>
              </a:rPr>
              <a:t>x= </a:t>
            </a:r>
            <a:r>
              <a:rPr lang="en-AU" sz="1600" b="1" dirty="0" err="1" smtClean="0">
                <a:latin typeface="Arial" pitchFamily="34" charset="0"/>
                <a:cs typeface="Arial" pitchFamily="34" charset="0"/>
              </a:rPr>
              <a:t>vy</a:t>
            </a:r>
            <a:r>
              <a:rPr lang="en-AU" sz="1600" dirty="0" smtClean="0">
                <a:latin typeface="Arial" pitchFamily="34" charset="0"/>
                <a:cs typeface="Arial" pitchFamily="34" charset="0"/>
              </a:rPr>
              <a:t>, where u and v are new dependent variables, will reduce a homogeneous equation to a </a:t>
            </a:r>
            <a:r>
              <a:rPr lang="en-AU" sz="1600" b="1" dirty="0" smtClean="0">
                <a:latin typeface="Arial" pitchFamily="34" charset="0"/>
                <a:cs typeface="Arial" pitchFamily="34" charset="0"/>
              </a:rPr>
              <a:t>separable first-order differential equation</a:t>
            </a:r>
            <a:r>
              <a:rPr lang="en-AU" sz="1600" dirty="0" smtClean="0">
                <a:latin typeface="Arial" pitchFamily="34" charset="0"/>
                <a:cs typeface="Arial" pitchFamily="34" charset="0"/>
              </a:rPr>
              <a:t>.</a:t>
            </a:r>
            <a:endParaRPr lang="en-AU" sz="16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7D99-3909-43FD-B901-00E004558AFD}" type="slidenum">
              <a:rPr lang="en-AU" smtClean="0"/>
              <a:pPr/>
              <a:t>16</a:t>
            </a:fld>
            <a:endParaRPr lang="en-AU"/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 cstate="print">
            <a:lum bright="-7000" contrast="10000"/>
          </a:blip>
          <a:srcRect/>
          <a:stretch>
            <a:fillRect/>
          </a:stretch>
        </p:blipFill>
        <p:spPr bwMode="auto">
          <a:xfrm>
            <a:off x="838200" y="762000"/>
            <a:ext cx="5021071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0179" name="Picture 3"/>
          <p:cNvPicPr>
            <a:picLocks noChangeAspect="1" noChangeArrowheads="1"/>
          </p:cNvPicPr>
          <p:nvPr/>
        </p:nvPicPr>
        <p:blipFill>
          <a:blip r:embed="rId3" cstate="print">
            <a:lum bright="-13000" contrast="21000"/>
          </a:blip>
          <a:srcRect/>
          <a:stretch>
            <a:fillRect/>
          </a:stretch>
        </p:blipFill>
        <p:spPr bwMode="auto">
          <a:xfrm>
            <a:off x="1428728" y="1643050"/>
            <a:ext cx="4451137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018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1472" y="1428736"/>
            <a:ext cx="109537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0181" name="Picture 5"/>
          <p:cNvPicPr>
            <a:picLocks noChangeAspect="1" noChangeArrowheads="1"/>
          </p:cNvPicPr>
          <p:nvPr/>
        </p:nvPicPr>
        <p:blipFill>
          <a:blip r:embed="rId5" cstate="print">
            <a:lum bright="-13000" contrast="21000"/>
          </a:blip>
          <a:srcRect/>
          <a:stretch>
            <a:fillRect/>
          </a:stretch>
        </p:blipFill>
        <p:spPr bwMode="auto">
          <a:xfrm>
            <a:off x="714347" y="2214554"/>
            <a:ext cx="7322395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0182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85786" y="2714620"/>
            <a:ext cx="5905538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0183" name="Picture 7"/>
          <p:cNvPicPr>
            <a:picLocks noChangeAspect="1" noChangeArrowheads="1"/>
          </p:cNvPicPr>
          <p:nvPr/>
        </p:nvPicPr>
        <p:blipFill>
          <a:blip r:embed="rId7" cstate="print">
            <a:lum bright="-13000" contrast="21000"/>
          </a:blip>
          <a:srcRect/>
          <a:stretch>
            <a:fillRect/>
          </a:stretch>
        </p:blipFill>
        <p:spPr bwMode="auto">
          <a:xfrm>
            <a:off x="928662" y="3571876"/>
            <a:ext cx="1857388" cy="318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0185" name="Picture 9"/>
          <p:cNvPicPr>
            <a:picLocks noChangeAspect="1" noChangeArrowheads="1"/>
          </p:cNvPicPr>
          <p:nvPr/>
        </p:nvPicPr>
        <p:blipFill>
          <a:blip r:embed="rId8" cstate="print">
            <a:lum bright="-13000" contrast="21000"/>
          </a:blip>
          <a:srcRect/>
          <a:stretch>
            <a:fillRect/>
          </a:stretch>
        </p:blipFill>
        <p:spPr bwMode="auto">
          <a:xfrm>
            <a:off x="1857356" y="3929066"/>
            <a:ext cx="1857388" cy="321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ectangle 11"/>
          <p:cNvSpPr/>
          <p:nvPr/>
        </p:nvSpPr>
        <p:spPr>
          <a:xfrm>
            <a:off x="1071538" y="4429132"/>
            <a:ext cx="60007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After substituting, the given equation becomes</a:t>
            </a:r>
            <a:endParaRPr lang="en-AU" dirty="0"/>
          </a:p>
        </p:txBody>
      </p:sp>
      <p:pic>
        <p:nvPicPr>
          <p:cNvPr id="50187" name="Picture 11"/>
          <p:cNvPicPr>
            <a:picLocks noChangeAspect="1" noChangeArrowheads="1"/>
          </p:cNvPicPr>
          <p:nvPr/>
        </p:nvPicPr>
        <p:blipFill>
          <a:blip r:embed="rId9" cstate="print">
            <a:lum bright="-13000" contrast="21000"/>
          </a:blip>
          <a:srcRect/>
          <a:stretch>
            <a:fillRect/>
          </a:stretch>
        </p:blipFill>
        <p:spPr bwMode="auto">
          <a:xfrm>
            <a:off x="1285852" y="5072074"/>
            <a:ext cx="5574250" cy="985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ounded Rectangle 12"/>
          <p:cNvSpPr/>
          <p:nvPr/>
        </p:nvSpPr>
        <p:spPr>
          <a:xfrm>
            <a:off x="762000" y="609600"/>
            <a:ext cx="5105400" cy="685800"/>
          </a:xfrm>
          <a:prstGeom prst="roundRect">
            <a:avLst/>
          </a:prstGeom>
          <a:solidFill>
            <a:srgbClr val="FF0000">
              <a:alpha val="1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7D99-3909-43FD-B901-00E004558AFD}" type="slidenum">
              <a:rPr lang="en-AU" smtClean="0"/>
              <a:pPr/>
              <a:t>17</a:t>
            </a:fld>
            <a:endParaRPr lang="en-AU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 cstate="print">
            <a:lum bright="-15000" contrast="29000"/>
          </a:blip>
          <a:srcRect/>
          <a:stretch>
            <a:fillRect/>
          </a:stretch>
        </p:blipFill>
        <p:spPr bwMode="auto">
          <a:xfrm>
            <a:off x="2000232" y="785794"/>
            <a:ext cx="3643338" cy="1564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0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0100" y="2571744"/>
            <a:ext cx="3940996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04" name="Picture 4"/>
          <p:cNvPicPr>
            <a:picLocks noChangeAspect="1" noChangeArrowheads="1"/>
          </p:cNvPicPr>
          <p:nvPr/>
        </p:nvPicPr>
        <p:blipFill>
          <a:blip r:embed="rId4" cstate="print">
            <a:lum bright="-15000" contrast="29000"/>
          </a:blip>
          <a:srcRect/>
          <a:stretch>
            <a:fillRect/>
          </a:stretch>
        </p:blipFill>
        <p:spPr bwMode="auto">
          <a:xfrm>
            <a:off x="2143107" y="3214686"/>
            <a:ext cx="4045989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05" name="Picture 5"/>
          <p:cNvPicPr>
            <a:picLocks noChangeAspect="1" noChangeArrowheads="1"/>
          </p:cNvPicPr>
          <p:nvPr/>
        </p:nvPicPr>
        <p:blipFill>
          <a:blip r:embed="rId5" cstate="print">
            <a:lum bright="-11000" contrast="28000"/>
          </a:blip>
          <a:srcRect/>
          <a:stretch>
            <a:fillRect/>
          </a:stretch>
        </p:blipFill>
        <p:spPr bwMode="auto">
          <a:xfrm>
            <a:off x="928662" y="3643314"/>
            <a:ext cx="2571768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06" name="Picture 6"/>
          <p:cNvPicPr>
            <a:picLocks noChangeAspect="1" noChangeArrowheads="1"/>
          </p:cNvPicPr>
          <p:nvPr/>
        </p:nvPicPr>
        <p:blipFill>
          <a:blip r:embed="rId6" cstate="print">
            <a:lum bright="-15000" contrast="29000"/>
          </a:blip>
          <a:srcRect/>
          <a:stretch>
            <a:fillRect/>
          </a:stretch>
        </p:blipFill>
        <p:spPr bwMode="auto">
          <a:xfrm>
            <a:off x="2071670" y="4071942"/>
            <a:ext cx="4113446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07" name="Picture 7"/>
          <p:cNvPicPr>
            <a:picLocks noChangeAspect="1" noChangeArrowheads="1"/>
          </p:cNvPicPr>
          <p:nvPr/>
        </p:nvPicPr>
        <p:blipFill>
          <a:blip r:embed="rId7" cstate="print">
            <a:lum bright="-15000" contrast="29000"/>
          </a:blip>
          <a:srcRect/>
          <a:stretch>
            <a:fillRect/>
          </a:stretch>
        </p:blipFill>
        <p:spPr bwMode="auto">
          <a:xfrm>
            <a:off x="2357422" y="5000636"/>
            <a:ext cx="2286016" cy="801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08" name="Picture 8"/>
          <p:cNvPicPr>
            <a:picLocks noChangeAspect="1" noChangeArrowheads="1"/>
          </p:cNvPicPr>
          <p:nvPr/>
        </p:nvPicPr>
        <p:blipFill>
          <a:blip r:embed="rId8" cstate="print">
            <a:lum bright="-15000" contrast="29000"/>
          </a:blip>
          <a:srcRect/>
          <a:stretch>
            <a:fillRect/>
          </a:stretch>
        </p:blipFill>
        <p:spPr bwMode="auto">
          <a:xfrm>
            <a:off x="2214546" y="5807402"/>
            <a:ext cx="3429024" cy="650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 cstate="print">
            <a:lum bright="-10000" contrast="23000"/>
          </a:blip>
          <a:srcRect/>
          <a:stretch>
            <a:fillRect/>
          </a:stretch>
        </p:blipFill>
        <p:spPr bwMode="auto">
          <a:xfrm>
            <a:off x="914400" y="762000"/>
            <a:ext cx="5774452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2133600"/>
            <a:ext cx="5638800" cy="290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1219200" y="2819400"/>
            <a:ext cx="6477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>
                <a:solidFill>
                  <a:srgbClr val="C00000"/>
                </a:solidFill>
              </a:rPr>
              <a:t>Note that for </a:t>
            </a:r>
            <a:r>
              <a:rPr lang="en-AU" i="1" dirty="0" smtClean="0">
                <a:solidFill>
                  <a:srgbClr val="C00000"/>
                </a:solidFill>
              </a:rPr>
              <a:t>n= 0 and n=1, the above equation is a linear ODE</a:t>
            </a:r>
            <a:endParaRPr lang="en-AU" dirty="0">
              <a:solidFill>
                <a:srgbClr val="C00000"/>
              </a:solidFill>
            </a:endParaRPr>
          </a:p>
        </p:txBody>
      </p:sp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19200" y="3581400"/>
            <a:ext cx="2286000" cy="257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45" name="Picture 5"/>
          <p:cNvPicPr>
            <a:picLocks noChangeAspect="1" noChangeArrowheads="1"/>
          </p:cNvPicPr>
          <p:nvPr/>
        </p:nvPicPr>
        <p:blipFill>
          <a:blip r:embed="rId5" cstate="print">
            <a:lum bright="-10000" contrast="11000"/>
          </a:blip>
          <a:srcRect/>
          <a:stretch>
            <a:fillRect/>
          </a:stretch>
        </p:blipFill>
        <p:spPr bwMode="auto">
          <a:xfrm>
            <a:off x="1524000" y="3962400"/>
            <a:ext cx="352213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1524000" y="4267200"/>
            <a:ext cx="5943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dirty="0" smtClean="0">
                <a:latin typeface="Arial" pitchFamily="34" charset="0"/>
                <a:cs typeface="Arial" pitchFamily="34" charset="0"/>
              </a:rPr>
              <a:t>any equation of form (H2) to a linear equation.</a:t>
            </a:r>
            <a:endParaRPr lang="en-AU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67600" y="1371600"/>
            <a:ext cx="1143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(H2)</a:t>
            </a:r>
            <a:endParaRPr lang="en-AU" dirty="0"/>
          </a:p>
        </p:txBody>
      </p:sp>
      <p:sp>
        <p:nvSpPr>
          <p:cNvPr id="11" name="Rounded Rectangle 10"/>
          <p:cNvSpPr/>
          <p:nvPr/>
        </p:nvSpPr>
        <p:spPr>
          <a:xfrm>
            <a:off x="3657600" y="1219200"/>
            <a:ext cx="3276600" cy="838200"/>
          </a:xfrm>
          <a:prstGeom prst="roundRect">
            <a:avLst/>
          </a:prstGeom>
          <a:solidFill>
            <a:srgbClr val="00B05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81000"/>
            <a:ext cx="297180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24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914400"/>
            <a:ext cx="2933700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246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" y="1752600"/>
            <a:ext cx="59055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246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629400" y="2514600"/>
            <a:ext cx="204787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247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85800" y="3352800"/>
            <a:ext cx="4800600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2471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62000" y="3810000"/>
            <a:ext cx="220980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2472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600200" y="4343400"/>
            <a:ext cx="4991100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2473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62000" y="5257800"/>
            <a:ext cx="3744686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ounded Rectangle 10"/>
          <p:cNvSpPr/>
          <p:nvPr/>
        </p:nvSpPr>
        <p:spPr>
          <a:xfrm>
            <a:off x="457200" y="838200"/>
            <a:ext cx="4419600" cy="762000"/>
          </a:xfrm>
          <a:prstGeom prst="roundRect">
            <a:avLst/>
          </a:prstGeom>
          <a:solidFill>
            <a:srgbClr val="FF0000">
              <a:alpha val="1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685800"/>
            <a:ext cx="157018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34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914400"/>
            <a:ext cx="2057400" cy="90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349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0" y="1905000"/>
            <a:ext cx="4343400" cy="381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349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676400" y="2514600"/>
            <a:ext cx="4519534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3494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38200" y="3124200"/>
            <a:ext cx="13049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3495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286000" y="3581400"/>
            <a:ext cx="22288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3496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371600" y="4495800"/>
            <a:ext cx="47625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3497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85800" y="5105400"/>
            <a:ext cx="3962400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3498" name="Picture 10"/>
          <p:cNvPicPr>
            <a:picLocks noChangeAspect="1" noChangeArrowheads="1"/>
          </p:cNvPicPr>
          <p:nvPr/>
        </p:nvPicPr>
        <p:blipFill>
          <a:blip r:embed="rId10" cstate="print">
            <a:lum bright="-13000" contrast="23000"/>
          </a:blip>
          <a:srcRect/>
          <a:stretch>
            <a:fillRect/>
          </a:stretch>
        </p:blipFill>
        <p:spPr bwMode="auto">
          <a:xfrm>
            <a:off x="3429000" y="5943600"/>
            <a:ext cx="2596441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12"/>
          <p:cNvSpPr/>
          <p:nvPr/>
        </p:nvSpPr>
        <p:spPr>
          <a:xfrm>
            <a:off x="762000" y="5562600"/>
            <a:ext cx="5943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So a solution of the given equation is</a:t>
            </a:r>
            <a:endParaRPr lang="en-A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 cstate="print">
            <a:lum bright="-11000" contrast="30000"/>
          </a:blip>
          <a:srcRect/>
          <a:stretch>
            <a:fillRect/>
          </a:stretch>
        </p:blipFill>
        <p:spPr bwMode="auto">
          <a:xfrm>
            <a:off x="1066800" y="762000"/>
            <a:ext cx="4495800" cy="675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762000" y="304800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FF0000"/>
                </a:solidFill>
              </a:rPr>
              <a:t>Exercise 2.5</a:t>
            </a:r>
            <a:endParaRPr lang="en-AU" b="1" dirty="0">
              <a:solidFill>
                <a:srgbClr val="FF0000"/>
              </a:solidFill>
            </a:endParaRPr>
          </a:p>
        </p:txBody>
      </p:sp>
      <p:pic>
        <p:nvPicPr>
          <p:cNvPr id="645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1676400"/>
            <a:ext cx="2667000" cy="422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4516" name="Picture 4"/>
          <p:cNvPicPr>
            <a:picLocks noChangeAspect="1" noChangeArrowheads="1"/>
          </p:cNvPicPr>
          <p:nvPr/>
        </p:nvPicPr>
        <p:blipFill>
          <a:blip r:embed="rId4" cstate="print">
            <a:lum bright="-11000" contrast="22000"/>
          </a:blip>
          <a:srcRect/>
          <a:stretch>
            <a:fillRect/>
          </a:stretch>
        </p:blipFill>
        <p:spPr bwMode="auto">
          <a:xfrm>
            <a:off x="1905000" y="2286000"/>
            <a:ext cx="5715000" cy="412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5029200" y="23622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+</a:t>
            </a:r>
            <a:endParaRPr lang="en-AU" dirty="0"/>
          </a:p>
        </p:txBody>
      </p:sp>
      <p:sp>
        <p:nvSpPr>
          <p:cNvPr id="9" name="Rounded Rectangle 8"/>
          <p:cNvSpPr/>
          <p:nvPr/>
        </p:nvSpPr>
        <p:spPr>
          <a:xfrm>
            <a:off x="990600" y="762000"/>
            <a:ext cx="5562600" cy="838200"/>
          </a:xfrm>
          <a:prstGeom prst="roundRect">
            <a:avLst/>
          </a:prstGeom>
          <a:solidFill>
            <a:srgbClr val="FF0000">
              <a:alpha val="1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609600"/>
            <a:ext cx="406790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55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1219200"/>
            <a:ext cx="7162800" cy="571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554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" y="2057399"/>
            <a:ext cx="4876800" cy="789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5541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38200" y="3124200"/>
            <a:ext cx="5181600" cy="660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5542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657600" y="3962400"/>
            <a:ext cx="2057400" cy="701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5543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057400" y="4953000"/>
            <a:ext cx="3124200" cy="4110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5544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209800" y="5410199"/>
            <a:ext cx="2286000" cy="580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ounded Rectangle 9"/>
          <p:cNvSpPr/>
          <p:nvPr/>
        </p:nvSpPr>
        <p:spPr>
          <a:xfrm>
            <a:off x="381000" y="2057400"/>
            <a:ext cx="5562600" cy="838200"/>
          </a:xfrm>
          <a:prstGeom prst="roundRect">
            <a:avLst/>
          </a:prstGeom>
          <a:solidFill>
            <a:srgbClr val="FF0000">
              <a:alpha val="1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4475C-CE3C-48E3-A11F-893D32F7E4E6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762000"/>
            <a:ext cx="3502212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5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0" y="1600200"/>
            <a:ext cx="2647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56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09800" y="2362200"/>
            <a:ext cx="3352800" cy="467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Cloud 5"/>
          <p:cNvSpPr/>
          <p:nvPr/>
        </p:nvSpPr>
        <p:spPr>
          <a:xfrm>
            <a:off x="4495800" y="3657600"/>
            <a:ext cx="1295400" cy="6096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End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1354</TotalTime>
  <Words>568</Words>
  <Application>Microsoft Office PowerPoint</Application>
  <PresentationFormat>On-screen Show (4:3)</PresentationFormat>
  <Paragraphs>107</Paragraphs>
  <Slides>23</Slides>
  <Notes>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Flow</vt:lpstr>
      <vt:lpstr>Equation</vt:lpstr>
      <vt:lpstr> MAT 350 Engineering mathematics </vt:lpstr>
      <vt:lpstr>First-order differential equation:  (Chapter 2.3) Linear differential equations:</vt:lpstr>
      <vt:lpstr>Linear differential equations:</vt:lpstr>
      <vt:lpstr>Slide 4</vt:lpstr>
      <vt:lpstr>Linear differential equations</vt:lpstr>
      <vt:lpstr>Linear differential equations:</vt:lpstr>
      <vt:lpstr>Linear differential equations: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 350 Engineering mathematics</dc:title>
  <dc:creator>masud</dc:creator>
  <cp:lastModifiedBy>NSU</cp:lastModifiedBy>
  <cp:revision>87</cp:revision>
  <dcterms:created xsi:type="dcterms:W3CDTF">2015-09-01T17:01:04Z</dcterms:created>
  <dcterms:modified xsi:type="dcterms:W3CDTF">2018-06-05T03:25:27Z</dcterms:modified>
</cp:coreProperties>
</file>