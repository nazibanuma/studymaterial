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handoutMasterIdLst>
    <p:handoutMasterId r:id="rId32"/>
  </p:handoutMasterIdLst>
  <p:sldIdLst>
    <p:sldId id="256" r:id="rId2"/>
    <p:sldId id="257" r:id="rId3"/>
    <p:sldId id="282" r:id="rId4"/>
    <p:sldId id="283" r:id="rId5"/>
    <p:sldId id="284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  <p:sldId id="285" r:id="rId24"/>
    <p:sldId id="286" r:id="rId25"/>
    <p:sldId id="288" r:id="rId26"/>
    <p:sldId id="290" r:id="rId27"/>
    <p:sldId id="287" r:id="rId28"/>
    <p:sldId id="279" r:id="rId29"/>
    <p:sldId id="280" r:id="rId30"/>
    <p:sldId id="281" r:id="rId31"/>
  </p:sldIdLst>
  <p:sldSz cx="9144000" cy="6858000" type="screen4x3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CE992-C663-4A86-B039-D421E31A2397}" type="datetimeFigureOut">
              <a:rPr lang="en-US" smtClean="0"/>
              <a:pPr/>
              <a:t>8/5/2018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A0080-83F8-45DC-9C78-161D0239936A}" type="slidenum">
              <a:rPr lang="en-AU" smtClean="0"/>
              <a:pPr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8/5/2018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E6F9B8CD-342D-4579-98EC-A8FD6B7370E1}" type="datetimeFigureOut">
              <a:rPr lang="en-US" smtClean="0"/>
              <a:pPr/>
              <a:t>8/5/2018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8/5/2018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691680" y="404664"/>
            <a:ext cx="6172200" cy="1368152"/>
          </a:xfrm>
          <a:prstGeom prst="rect">
            <a:avLst/>
          </a:prstGeom>
        </p:spPr>
        <p:txBody>
          <a:bodyPr vert="horz" anchor="b">
            <a:normAutofit fontScale="8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MAT </a:t>
            </a: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350</a:t>
            </a: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lang="en-US" sz="3000" b="1" cap="small" dirty="0" smtClean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Engineering Mathematics</a:t>
            </a:r>
            <a: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000" b="1" i="0" u="none" strike="noStrike" kern="1200" cap="small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sz="3000" b="1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86000" y="5334000"/>
            <a:ext cx="6172200" cy="109267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Dr. M.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Sahadet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Hossain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Mth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Associate Professor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Berlin Sans FB" pitchFamily="34" charset="0"/>
                <a:ea typeface="+mn-ea"/>
                <a:cs typeface="+mn-cs"/>
              </a:rPr>
              <a:t>Department of Mathematics and Physics, NSU.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Berlin Sans FB" pitchFamily="34" charset="0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763688" y="1700808"/>
            <a:ext cx="52864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Fourier Series </a:t>
            </a:r>
          </a:p>
          <a:p>
            <a:r>
              <a:rPr lang="en-AU" b="1" dirty="0" smtClean="0">
                <a:solidFill>
                  <a:srgbClr val="FF0000"/>
                </a:solidFill>
              </a:rPr>
              <a:t>and Fourier Transformation</a:t>
            </a:r>
            <a:endParaRPr lang="en-AU" sz="2000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11760" y="4869160"/>
            <a:ext cx="3786214" cy="400110"/>
          </a:xfrm>
          <a:prstGeom prst="rect">
            <a:avLst/>
          </a:prstGeom>
          <a:solidFill>
            <a:srgbClr val="00B0F0">
              <a:alpha val="94000"/>
            </a:srgbClr>
          </a:solidFill>
        </p:spPr>
        <p:txBody>
          <a:bodyPr wrap="square" rtlCol="0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Lecture: 10</a:t>
            </a:r>
            <a:endParaRPr lang="en-AU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2" descr="Image result for fourier seri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1720" y="2528789"/>
            <a:ext cx="4896544" cy="18363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619672" y="404664"/>
            <a:ext cx="60007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Introduction: </a:t>
            </a:r>
          </a:p>
          <a:p>
            <a:endParaRPr lang="en-AU" b="1" dirty="0" smtClean="0">
              <a:solidFill>
                <a:srgbClr val="FF0000"/>
              </a:solidFill>
            </a:endParaRPr>
          </a:p>
          <a:p>
            <a:pPr algn="just"/>
            <a:r>
              <a:rPr lang="en-AU" dirty="0" smtClean="0"/>
              <a:t>The central starting point of Fourier analysis is </a:t>
            </a:r>
            <a:r>
              <a:rPr lang="en-AU" b="1" dirty="0" smtClean="0"/>
              <a:t>Fourier series. They are infinite series </a:t>
            </a:r>
            <a:r>
              <a:rPr lang="en-AU" dirty="0" smtClean="0"/>
              <a:t>designed to represent general periodic functions in terms of simple ones, namely, cosines and sines.</a:t>
            </a:r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1691680" y="2204864"/>
            <a:ext cx="57606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AU" dirty="0" smtClean="0"/>
              <a:t>In a digital age, the </a:t>
            </a:r>
            <a:r>
              <a:rPr lang="en-AU" i="1" dirty="0" smtClean="0"/>
              <a:t>discrete Fourier transform plays an important role. Signals, such </a:t>
            </a:r>
            <a:r>
              <a:rPr lang="en-AU" dirty="0" smtClean="0"/>
              <a:t>as voice or music, are sampled and </a:t>
            </a:r>
            <a:r>
              <a:rPr lang="en-AU" dirty="0" err="1" smtClean="0"/>
              <a:t>analyzed</a:t>
            </a:r>
            <a:r>
              <a:rPr lang="en-AU" dirty="0" smtClean="0"/>
              <a:t> for frequencies. An important algorithm, in</a:t>
            </a:r>
          </a:p>
          <a:p>
            <a:pPr algn="just"/>
            <a:r>
              <a:rPr lang="en-AU" dirty="0" smtClean="0"/>
              <a:t>this context, is the </a:t>
            </a:r>
            <a:r>
              <a:rPr lang="en-AU" i="1" dirty="0" smtClean="0"/>
              <a:t>fast Fourier transform.</a:t>
            </a:r>
            <a:endParaRPr lang="en-AU" dirty="0"/>
          </a:p>
        </p:txBody>
      </p:sp>
      <p:pic>
        <p:nvPicPr>
          <p:cNvPr id="37892" name="Picture 4" descr="Image result for fourier series"/>
          <p:cNvPicPr>
            <a:picLocks noChangeAspect="1" noChangeArrowheads="1"/>
          </p:cNvPicPr>
          <p:nvPr/>
        </p:nvPicPr>
        <p:blipFill>
          <a:blip r:embed="rId2" cstate="print">
            <a:lum bright="-16000" contrast="36000"/>
          </a:blip>
          <a:srcRect/>
          <a:stretch>
            <a:fillRect/>
          </a:stretch>
        </p:blipFill>
        <p:spPr bwMode="auto">
          <a:xfrm>
            <a:off x="1763688" y="3645024"/>
            <a:ext cx="6048672" cy="2387336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2483768" y="6021288"/>
            <a:ext cx="56166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https://www.intmath.com/blog/mathematics/math-of-ecgs-fourier-series-4281</a:t>
            </a:r>
            <a:endParaRPr lang="en-AU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ECG I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760" y="2132856"/>
            <a:ext cx="5237910" cy="1152128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1979712" y="3429000"/>
            <a:ext cx="5544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Apparently (according to the doctor), this ECG indicates my heart is quite healthy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403648" y="404664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err="1" smtClean="0">
                <a:solidFill>
                  <a:srgbClr val="FF0000"/>
                </a:solidFill>
              </a:rPr>
              <a:t>Modeling</a:t>
            </a:r>
            <a:r>
              <a:rPr lang="en-AU" b="1" dirty="0" smtClean="0">
                <a:solidFill>
                  <a:srgbClr val="FF0000"/>
                </a:solidFill>
              </a:rPr>
              <a:t> the Heartbeat Using Fourier Series 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31640" y="1052736"/>
            <a:ext cx="712879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heartbeat is roughly regular (if it isn't, it indicates something is wrong). Mathematically, we say something that repeats regularly is </a:t>
            </a:r>
            <a:r>
              <a:rPr lang="en-AU" b="1" dirty="0" smtClean="0"/>
              <a:t>periodic</a:t>
            </a:r>
            <a:r>
              <a:rPr lang="en-AU" dirty="0" smtClean="0"/>
              <a:t>.</a:t>
            </a:r>
          </a:p>
          <a:p>
            <a:r>
              <a:rPr lang="en-AU" dirty="0" smtClean="0"/>
              <a:t>Such waves can be represented using a Fourier Series.</a:t>
            </a:r>
            <a:endParaRPr lang="en-AU" dirty="0"/>
          </a:p>
        </p:txBody>
      </p:sp>
      <p:pic>
        <p:nvPicPr>
          <p:cNvPr id="52228" name="Picture 4" descr="PQRST waves EC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3688" y="4221088"/>
            <a:ext cx="2971800" cy="2152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9672" y="764704"/>
            <a:ext cx="71287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smtClean="0"/>
              <a:t>Assumptions</a:t>
            </a:r>
          </a:p>
          <a:p>
            <a:r>
              <a:rPr lang="en-AU" dirty="0" smtClean="0"/>
              <a:t>In my case, my heart rate was about 70 beats per minute. For the sake of simplicity, I'll assume 60 beats per minute or 1 per second. So the period = 1 second = 1000 milliseconds.  A sample mathematical model ca be as follows: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3563888" y="2132856"/>
            <a:ext cx="3600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i="1" dirty="0" smtClean="0">
                <a:latin typeface="Book Antiqua" pitchFamily="18" charset="0"/>
              </a:rPr>
              <a:t>f</a:t>
            </a:r>
            <a:r>
              <a:rPr lang="en-AU" b="1" dirty="0" smtClean="0">
                <a:latin typeface="Book Antiqua" pitchFamily="18" charset="0"/>
              </a:rPr>
              <a:t>(</a:t>
            </a:r>
            <a:r>
              <a:rPr lang="en-AU" b="1" i="1" dirty="0" smtClean="0">
                <a:latin typeface="Book Antiqua" pitchFamily="18" charset="0"/>
              </a:rPr>
              <a:t>t</a:t>
            </a:r>
            <a:r>
              <a:rPr lang="en-AU" b="1" dirty="0" smtClean="0">
                <a:latin typeface="Book Antiqua" pitchFamily="18" charset="0"/>
              </a:rPr>
              <a:t>) = - 0.0000156(</a:t>
            </a:r>
            <a:r>
              <a:rPr lang="en-AU" b="1" i="1" dirty="0" smtClean="0">
                <a:latin typeface="Book Antiqua" pitchFamily="18" charset="0"/>
              </a:rPr>
              <a:t>t</a:t>
            </a:r>
            <a:r>
              <a:rPr lang="en-AU" b="1" dirty="0" smtClean="0">
                <a:latin typeface="Book Antiqua" pitchFamily="18" charset="0"/>
              </a:rPr>
              <a:t> − 20)⁴ + 2.5</a:t>
            </a:r>
          </a:p>
          <a:p>
            <a:r>
              <a:rPr lang="en-AU" b="1" i="1" dirty="0" smtClean="0">
                <a:latin typeface="Book Antiqua" pitchFamily="18" charset="0"/>
              </a:rPr>
              <a:t>f</a:t>
            </a:r>
            <a:r>
              <a:rPr lang="en-AU" b="1" dirty="0" smtClean="0">
                <a:latin typeface="Book Antiqua" pitchFamily="18" charset="0"/>
              </a:rPr>
              <a:t>(</a:t>
            </a:r>
            <a:r>
              <a:rPr lang="en-AU" b="1" i="1" dirty="0" smtClean="0">
                <a:latin typeface="Book Antiqua" pitchFamily="18" charset="0"/>
              </a:rPr>
              <a:t>t</a:t>
            </a:r>
            <a:r>
              <a:rPr lang="en-AU" b="1" dirty="0" smtClean="0">
                <a:latin typeface="Book Antiqua" pitchFamily="18" charset="0"/>
              </a:rPr>
              <a:t>) = </a:t>
            </a:r>
            <a:r>
              <a:rPr lang="en-AU" b="1" i="1" dirty="0" smtClean="0">
                <a:latin typeface="Book Antiqua" pitchFamily="18" charset="0"/>
              </a:rPr>
              <a:t>f</a:t>
            </a:r>
            <a:r>
              <a:rPr lang="en-AU" b="1" dirty="0" smtClean="0">
                <a:latin typeface="Book Antiqua" pitchFamily="18" charset="0"/>
              </a:rPr>
              <a:t>(</a:t>
            </a:r>
            <a:r>
              <a:rPr lang="en-AU" b="1" i="1" dirty="0" smtClean="0">
                <a:latin typeface="Book Antiqua" pitchFamily="18" charset="0"/>
              </a:rPr>
              <a:t>t</a:t>
            </a:r>
            <a:r>
              <a:rPr lang="en-AU" b="1" dirty="0" smtClean="0">
                <a:latin typeface="Book Antiqua" pitchFamily="18" charset="0"/>
              </a:rPr>
              <a:t> + 1000)</a:t>
            </a:r>
            <a:endParaRPr lang="en-AU" b="1" dirty="0">
              <a:latin typeface="Book Antiqua" pitchFamily="18" charset="0"/>
            </a:endParaRPr>
          </a:p>
        </p:txBody>
      </p:sp>
      <p:pic>
        <p:nvPicPr>
          <p:cNvPr id="53250" name="Picture 2" descr="ECG model n=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3191481"/>
            <a:ext cx="5904656" cy="3190278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1331640" y="188640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 err="1" smtClean="0">
                <a:solidFill>
                  <a:srgbClr val="FF0000"/>
                </a:solidFill>
              </a:rPr>
              <a:t>Modeling</a:t>
            </a:r>
            <a:r>
              <a:rPr lang="en-AU" b="1" dirty="0" smtClean="0">
                <a:solidFill>
                  <a:srgbClr val="FF0000"/>
                </a:solidFill>
              </a:rPr>
              <a:t> the Heartbeat Using Fourier Series </a:t>
            </a:r>
            <a:endParaRPr lang="en-A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-16000" contrast="37000"/>
          </a:blip>
          <a:srcRect/>
          <a:stretch>
            <a:fillRect/>
          </a:stretch>
        </p:blipFill>
        <p:spPr bwMode="auto">
          <a:xfrm rot="5400000">
            <a:off x="2656849" y="87567"/>
            <a:ext cx="4766406" cy="7560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2483768" y="1052736"/>
            <a:ext cx="44446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Approximation of Primary Commodity Prices</a:t>
            </a:r>
            <a:endParaRPr lang="en-AU" dirty="0"/>
          </a:p>
        </p:txBody>
      </p:sp>
      <p:sp>
        <p:nvSpPr>
          <p:cNvPr id="9" name="Rectangle 8"/>
          <p:cNvSpPr/>
          <p:nvPr/>
        </p:nvSpPr>
        <p:spPr>
          <a:xfrm>
            <a:off x="1871192" y="6237312"/>
            <a:ext cx="72728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200" dirty="0" smtClean="0"/>
              <a:t>Figure:    Commodity Prices, Actual Values and Shifting Means Obtained by Various Methods, 1995–2010</a:t>
            </a:r>
            <a:endParaRPr lang="en-AU" sz="1200" dirty="0"/>
          </a:p>
        </p:txBody>
      </p:sp>
      <p:sp>
        <p:nvSpPr>
          <p:cNvPr id="10" name="Rectangle 9"/>
          <p:cNvSpPr/>
          <p:nvPr/>
        </p:nvSpPr>
        <p:spPr>
          <a:xfrm>
            <a:off x="1475656" y="188640"/>
            <a:ext cx="640871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1" dirty="0" err="1" smtClean="0">
                <a:solidFill>
                  <a:srgbClr val="FF0000"/>
                </a:solidFill>
              </a:rPr>
              <a:t>Modeling</a:t>
            </a:r>
            <a:r>
              <a:rPr lang="en-AU" sz="2400" b="1" dirty="0" smtClean="0">
                <a:solidFill>
                  <a:srgbClr val="FF0000"/>
                </a:solidFill>
              </a:rPr>
              <a:t> </a:t>
            </a:r>
            <a:r>
              <a:rPr lang="en-AU" sz="2400" dirty="0" smtClean="0">
                <a:solidFill>
                  <a:srgbClr val="FF0000"/>
                </a:solidFill>
              </a:rPr>
              <a:t> the </a:t>
            </a:r>
            <a:r>
              <a:rPr lang="en-AU" sz="2400" dirty="0" err="1" smtClean="0">
                <a:solidFill>
                  <a:srgbClr val="FF0000"/>
                </a:solidFill>
              </a:rPr>
              <a:t>behavior</a:t>
            </a:r>
            <a:r>
              <a:rPr lang="en-AU" sz="2400" dirty="0" smtClean="0">
                <a:solidFill>
                  <a:srgbClr val="FF0000"/>
                </a:solidFill>
              </a:rPr>
              <a:t> of real </a:t>
            </a:r>
            <a:r>
              <a:rPr lang="en-AU" sz="2400" b="1" dirty="0" smtClean="0">
                <a:solidFill>
                  <a:srgbClr val="FF0000"/>
                </a:solidFill>
              </a:rPr>
              <a:t>commodity prices </a:t>
            </a:r>
            <a:r>
              <a:rPr lang="en-AU" sz="2400" dirty="0" smtClean="0">
                <a:solidFill>
                  <a:srgbClr val="FF0000"/>
                </a:solidFill>
              </a:rPr>
              <a:t>over a finite period </a:t>
            </a:r>
            <a:r>
              <a:rPr lang="en-AU" sz="2400" b="1" dirty="0" smtClean="0">
                <a:solidFill>
                  <a:srgbClr val="FF0000"/>
                </a:solidFill>
              </a:rPr>
              <a:t>using Fourier Series 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87624" y="1124744"/>
            <a:ext cx="62151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 function f (x) is called a </a:t>
            </a:r>
            <a:r>
              <a:rPr lang="en-AU" b="1" dirty="0" smtClean="0"/>
              <a:t>periodic </a:t>
            </a:r>
            <a:r>
              <a:rPr lang="en-AU" dirty="0" smtClean="0"/>
              <a:t>function if f (x) is defined for all real x, except possibly at some points, and if there is some positive number p, called a period of  f(x), such that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3000" contrast="30000"/>
          </a:blip>
          <a:srcRect/>
          <a:stretch>
            <a:fillRect/>
          </a:stretch>
        </p:blipFill>
        <p:spPr bwMode="auto">
          <a:xfrm>
            <a:off x="3000364" y="2226674"/>
            <a:ext cx="201217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403648" y="2564904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for all x.</a:t>
            </a:r>
            <a:endParaRPr lang="en-A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30000"/>
          </a:blip>
          <a:srcRect/>
          <a:stretch>
            <a:fillRect/>
          </a:stretch>
        </p:blipFill>
        <p:spPr bwMode="auto">
          <a:xfrm>
            <a:off x="2276292" y="3071810"/>
            <a:ext cx="5010351" cy="1749216"/>
          </a:xfrm>
          <a:prstGeom prst="rect">
            <a:avLst/>
          </a:prstGeom>
          <a:noFill/>
          <a:ln w="22225">
            <a:solidFill>
              <a:srgbClr val="00B050"/>
            </a:solidFill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676324" y="221455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(1) </a:t>
            </a:r>
            <a:endParaRPr lang="en-AU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lum bright="-13000" contrast="30000"/>
          </a:blip>
          <a:srcRect/>
          <a:stretch>
            <a:fillRect/>
          </a:stretch>
        </p:blipFill>
        <p:spPr bwMode="auto">
          <a:xfrm>
            <a:off x="1475656" y="5157192"/>
            <a:ext cx="7056784" cy="5550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lum bright="-13000" contrast="30000"/>
          </a:blip>
          <a:srcRect/>
          <a:stretch>
            <a:fillRect/>
          </a:stretch>
        </p:blipFill>
        <p:spPr bwMode="auto">
          <a:xfrm>
            <a:off x="2267744" y="5805264"/>
            <a:ext cx="5072098" cy="394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7452320" y="580526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(2)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187624" y="692696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Preliminaries:</a:t>
            </a:r>
            <a:endParaRPr lang="en-AU" b="1" dirty="0"/>
          </a:p>
        </p:txBody>
      </p:sp>
      <p:sp>
        <p:nvSpPr>
          <p:cNvPr id="12" name="Rectangle 11"/>
          <p:cNvSpPr/>
          <p:nvPr/>
        </p:nvSpPr>
        <p:spPr>
          <a:xfrm>
            <a:off x="1187624" y="188640"/>
            <a:ext cx="439248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FF0000"/>
                </a:solidFill>
              </a:rPr>
              <a:t>Fourier Series </a:t>
            </a:r>
            <a:endParaRPr lang="en-AU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>
            <a:lum bright="-14000" contrast="23000"/>
          </a:blip>
          <a:srcRect/>
          <a:stretch>
            <a:fillRect/>
          </a:stretch>
        </p:blipFill>
        <p:spPr bwMode="auto">
          <a:xfrm>
            <a:off x="1187624" y="764704"/>
            <a:ext cx="6500858" cy="441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187624" y="1628800"/>
            <a:ext cx="67866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All these functions have the period . They form the so-called </a:t>
            </a:r>
            <a:r>
              <a:rPr lang="en-AU" b="1" dirty="0" smtClean="0"/>
              <a:t>trigonometric system.</a:t>
            </a:r>
            <a:endParaRPr lang="en-AU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>
            <a:lum bright="-10000" contrast="28000"/>
          </a:blip>
          <a:srcRect/>
          <a:stretch>
            <a:fillRect/>
          </a:stretch>
        </p:blipFill>
        <p:spPr bwMode="auto">
          <a:xfrm>
            <a:off x="1475656" y="2636912"/>
            <a:ext cx="6931260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884368" y="83671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(2b)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1259632" y="332656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Periodic Function: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37000"/>
          </a:blip>
          <a:srcRect/>
          <a:stretch>
            <a:fillRect/>
          </a:stretch>
        </p:blipFill>
        <p:spPr bwMode="auto">
          <a:xfrm>
            <a:off x="1403648" y="1340768"/>
            <a:ext cx="5978949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331640" y="548680"/>
            <a:ext cx="6715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</a:t>
            </a:r>
            <a:r>
              <a:rPr lang="en-AU" dirty="0" smtClean="0">
                <a:solidFill>
                  <a:srgbClr val="FF0000"/>
                </a:solidFill>
              </a:rPr>
              <a:t>trigonometric series </a:t>
            </a:r>
            <a:r>
              <a:rPr lang="en-AU" dirty="0" smtClean="0"/>
              <a:t>is a combination of constant, sine, and cosine, as follows</a:t>
            </a:r>
            <a:endParaRPr lang="en-AU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>
            <a:lum bright="-14000" contrast="26000"/>
          </a:blip>
          <a:srcRect/>
          <a:stretch>
            <a:fillRect/>
          </a:stretch>
        </p:blipFill>
        <p:spPr bwMode="auto">
          <a:xfrm>
            <a:off x="1187624" y="2924944"/>
            <a:ext cx="656244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123728" y="3789040"/>
            <a:ext cx="58047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We see that each term has the period 2</a:t>
            </a:r>
            <a:r>
              <a:rPr lang="el-GR" dirty="0" smtClean="0"/>
              <a:t>π</a:t>
            </a:r>
            <a:r>
              <a:rPr lang="en-AU" dirty="0" smtClean="0"/>
              <a:t>. Hence </a:t>
            </a:r>
            <a:r>
              <a:rPr lang="en-AU" i="1" dirty="0" smtClean="0"/>
              <a:t>if the coefficients are such that the series converges, its sum will be a function of period  </a:t>
            </a:r>
            <a:r>
              <a:rPr lang="en-AU" dirty="0" smtClean="0"/>
              <a:t>2</a:t>
            </a:r>
            <a:r>
              <a:rPr lang="el-GR" dirty="0" smtClean="0"/>
              <a:t>π</a:t>
            </a:r>
            <a:r>
              <a:rPr lang="en-AU" dirty="0" smtClean="0"/>
              <a:t>.</a:t>
            </a:r>
            <a:endParaRPr lang="en-AU" i="1" dirty="0" smtClean="0"/>
          </a:p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7358082" y="1928802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(3)</a:t>
            </a:r>
            <a:endParaRPr lang="en-A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 cstate="print">
            <a:lum bright="-13000" contrast="29000"/>
          </a:blip>
          <a:srcRect/>
          <a:stretch>
            <a:fillRect/>
          </a:stretch>
        </p:blipFill>
        <p:spPr bwMode="auto">
          <a:xfrm>
            <a:off x="1475656" y="980728"/>
            <a:ext cx="4348889" cy="1000132"/>
          </a:xfrm>
          <a:prstGeom prst="rect">
            <a:avLst/>
          </a:prstGeom>
          <a:noFill/>
          <a:ln w="25400">
            <a:solidFill>
              <a:srgbClr val="00B050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156176" y="1268760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(4) 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142976" y="1928802"/>
            <a:ext cx="50653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    Equation (4) is called the </a:t>
            </a:r>
            <a:r>
              <a:rPr lang="en-AU" b="1" dirty="0" smtClean="0"/>
              <a:t>Fourier series of f(x).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1285852" y="2500306"/>
            <a:ext cx="60722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AU" dirty="0" smtClean="0"/>
          </a:p>
          <a:p>
            <a:r>
              <a:rPr lang="en-AU" dirty="0" smtClean="0"/>
              <a:t>The  coefficients of (4) are the so-called </a:t>
            </a:r>
            <a:r>
              <a:rPr lang="en-AU" b="1" dirty="0" smtClean="0"/>
              <a:t>Fourier coefficients </a:t>
            </a:r>
            <a:r>
              <a:rPr lang="en-AU" dirty="0" smtClean="0"/>
              <a:t>of f(x), given by the </a:t>
            </a:r>
            <a:r>
              <a:rPr lang="en-AU" b="1" dirty="0" smtClean="0"/>
              <a:t>Euler formulas</a:t>
            </a:r>
            <a:endParaRPr lang="en-AU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lum bright="-19000" contrast="33000"/>
          </a:blip>
          <a:srcRect/>
          <a:stretch>
            <a:fillRect/>
          </a:stretch>
        </p:blipFill>
        <p:spPr bwMode="auto">
          <a:xfrm>
            <a:off x="1571604" y="3504820"/>
            <a:ext cx="5357850" cy="280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7500958" y="507207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(5) </a:t>
            </a:r>
            <a:endParaRPr lang="en-AU" dirty="0"/>
          </a:p>
        </p:txBody>
      </p:sp>
      <p:sp>
        <p:nvSpPr>
          <p:cNvPr id="8" name="Rectangle 7"/>
          <p:cNvSpPr/>
          <p:nvPr/>
        </p:nvSpPr>
        <p:spPr>
          <a:xfrm>
            <a:off x="1043608" y="260648"/>
            <a:ext cx="68580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Now suppose that f(x) is a given function of period and is such that it can be </a:t>
            </a:r>
            <a:r>
              <a:rPr lang="en-AU" b="1" dirty="0" smtClean="0"/>
              <a:t>represented by a series  (3)</a:t>
            </a:r>
            <a:endParaRPr lang="en-A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548680"/>
            <a:ext cx="237172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Cloud Callout 4"/>
          <p:cNvSpPr/>
          <p:nvPr/>
        </p:nvSpPr>
        <p:spPr>
          <a:xfrm>
            <a:off x="2786050" y="3071810"/>
            <a:ext cx="2357454" cy="1041276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Class work</a:t>
            </a:r>
            <a:endParaRPr lang="en-AU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lum bright="-18000" contrast="37000"/>
          </a:blip>
          <a:srcRect/>
          <a:stretch>
            <a:fillRect/>
          </a:stretch>
        </p:blipFill>
        <p:spPr bwMode="auto">
          <a:xfrm>
            <a:off x="1357290" y="1928803"/>
            <a:ext cx="4914269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1000100" y="1500174"/>
            <a:ext cx="62865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Find the Fourier coefficients of the periodic function</a:t>
            </a:r>
            <a:endParaRPr lang="en-AU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 cstate="print">
            <a:lum bright="-14000" contrast="28000"/>
          </a:blip>
          <a:srcRect/>
          <a:stretch>
            <a:fillRect/>
          </a:stretch>
        </p:blipFill>
        <p:spPr bwMode="auto">
          <a:xfrm>
            <a:off x="1357290" y="4714884"/>
            <a:ext cx="4981575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187624" y="1052736"/>
            <a:ext cx="417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Periodic Wave Equation:</a:t>
            </a:r>
            <a:endParaRPr lang="en-AU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lum bright="-16000" contrast="34000"/>
          </a:blip>
          <a:srcRect/>
          <a:stretch>
            <a:fillRect/>
          </a:stretch>
        </p:blipFill>
        <p:spPr bwMode="auto">
          <a:xfrm>
            <a:off x="1000100" y="642918"/>
            <a:ext cx="6286544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59632" y="404664"/>
            <a:ext cx="614366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 smtClean="0">
                <a:solidFill>
                  <a:srgbClr val="FF0000"/>
                </a:solidFill>
              </a:rPr>
              <a:t>Derivation of Fourier coefficients by the Euler formulas</a:t>
            </a:r>
            <a:endParaRPr lang="en-AU" sz="2000" b="1" dirty="0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15616" y="1556792"/>
            <a:ext cx="67866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The trigonometric system (2b) is orthogonal on the  interval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071538" y="1214422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Theorem 1 :</a:t>
            </a:r>
            <a:endParaRPr lang="en-AU" b="1" dirty="0">
              <a:solidFill>
                <a:srgbClr val="FF0000"/>
              </a:solidFill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>
            <a:lum bright="-12000" contrast="29000"/>
          </a:blip>
          <a:srcRect/>
          <a:stretch>
            <a:fillRect/>
          </a:stretch>
        </p:blipFill>
        <p:spPr bwMode="auto">
          <a:xfrm>
            <a:off x="6948264" y="1628800"/>
            <a:ext cx="1143008" cy="219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3" cstate="print">
            <a:lum contrast="25000"/>
          </a:blip>
          <a:srcRect/>
          <a:stretch>
            <a:fillRect/>
          </a:stretch>
        </p:blipFill>
        <p:spPr bwMode="auto">
          <a:xfrm>
            <a:off x="1142976" y="2000240"/>
            <a:ext cx="7389464" cy="2341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Box 10"/>
          <p:cNvSpPr txBox="1"/>
          <p:nvPr/>
        </p:nvSpPr>
        <p:spPr>
          <a:xfrm>
            <a:off x="1014112" y="1928802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(</a:t>
            </a:r>
            <a:endParaRPr lang="en-AU" dirty="0"/>
          </a:p>
        </p:txBody>
      </p:sp>
      <p:sp>
        <p:nvSpPr>
          <p:cNvPr id="12" name="Rectangle 11"/>
          <p:cNvSpPr/>
          <p:nvPr/>
        </p:nvSpPr>
        <p:spPr>
          <a:xfrm>
            <a:off x="1115616" y="2204864"/>
            <a:ext cx="68580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that is, the integral of the product of any two functions in (2b) over that interval is 0, so that for any integers n and m,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7929586" y="1857364"/>
            <a:ext cx="214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,</a:t>
            </a:r>
            <a:endParaRPr lang="en-AU" dirty="0"/>
          </a:p>
        </p:txBody>
      </p:sp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4" cstate="print">
            <a:lum bright="-21000" contrast="42000"/>
          </a:blip>
          <a:srcRect/>
          <a:stretch>
            <a:fillRect/>
          </a:stretch>
        </p:blipFill>
        <p:spPr bwMode="auto">
          <a:xfrm>
            <a:off x="1331640" y="3140968"/>
            <a:ext cx="5886332" cy="295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7452320" y="429309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(6) 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5616" y="476672"/>
            <a:ext cx="5786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Application of Theorem 1 to the Fourier Series:</a:t>
            </a:r>
            <a:endParaRPr lang="en-AU" dirty="0">
              <a:solidFill>
                <a:srgbClr val="FF0000"/>
              </a:solidFill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1907704" y="1268760"/>
            <a:ext cx="5100598" cy="657642"/>
            <a:chOff x="1907704" y="1268760"/>
            <a:chExt cx="5100598" cy="657642"/>
          </a:xfrm>
        </p:grpSpPr>
        <p:sp>
          <p:nvSpPr>
            <p:cNvPr id="5" name="Rectangle 4"/>
            <p:cNvSpPr/>
            <p:nvPr/>
          </p:nvSpPr>
          <p:spPr>
            <a:xfrm>
              <a:off x="1907704" y="1268760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AU" dirty="0" smtClean="0"/>
                <a:t>We prove Eqn. 5(0). </a:t>
              </a:r>
            </a:p>
            <a:p>
              <a:r>
                <a:rPr lang="en-AU" dirty="0" smtClean="0"/>
                <a:t>Integrating on both  sides of (4) from </a:t>
              </a:r>
              <a:endParaRPr lang="en-AU" dirty="0"/>
            </a:p>
          </p:txBody>
        </p:sp>
        <p:pic>
          <p:nvPicPr>
            <p:cNvPr id="8194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508104" y="1700808"/>
              <a:ext cx="1500198" cy="225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>
            <a:lum bright="-15000" contrast="28000"/>
          </a:blip>
          <a:srcRect/>
          <a:stretch>
            <a:fillRect/>
          </a:stretch>
        </p:blipFill>
        <p:spPr bwMode="auto">
          <a:xfrm>
            <a:off x="1357290" y="2214554"/>
            <a:ext cx="5643602" cy="932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>
            <a:lum bright="-15000" contrast="25000"/>
          </a:blip>
          <a:srcRect/>
          <a:stretch>
            <a:fillRect/>
          </a:stretch>
        </p:blipFill>
        <p:spPr bwMode="auto">
          <a:xfrm>
            <a:off x="1331640" y="3212976"/>
            <a:ext cx="6767776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 cstate="print">
            <a:lum bright="-14000" contrast="27000"/>
          </a:blip>
          <a:srcRect/>
          <a:stretch>
            <a:fillRect/>
          </a:stretch>
        </p:blipFill>
        <p:spPr bwMode="auto">
          <a:xfrm>
            <a:off x="1547664" y="4365104"/>
            <a:ext cx="3429024" cy="291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6" cstate="print">
            <a:lum bright="-14000" contrast="27000"/>
          </a:blip>
          <a:srcRect/>
          <a:stretch>
            <a:fillRect/>
          </a:stretch>
        </p:blipFill>
        <p:spPr bwMode="auto">
          <a:xfrm>
            <a:off x="1475656" y="4725144"/>
            <a:ext cx="4500594" cy="267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7" cstate="print">
            <a:lum bright="-14000" contrast="27000"/>
          </a:blip>
          <a:srcRect/>
          <a:stretch>
            <a:fillRect/>
          </a:stretch>
        </p:blipFill>
        <p:spPr bwMode="auto">
          <a:xfrm>
            <a:off x="1475656" y="5013176"/>
            <a:ext cx="2357454" cy="235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3851920" y="4941168"/>
            <a:ext cx="5950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5(0)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2204864"/>
            <a:ext cx="7443959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115616" y="404664"/>
            <a:ext cx="63579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dirty="0" smtClean="0">
                <a:solidFill>
                  <a:srgbClr val="002060"/>
                </a:solidFill>
              </a:rPr>
              <a:t>Chapter 11.2  </a:t>
            </a:r>
          </a:p>
          <a:p>
            <a:r>
              <a:rPr lang="en-AU" b="1" dirty="0" smtClean="0">
                <a:solidFill>
                  <a:srgbClr val="FF0000"/>
                </a:solidFill>
              </a:rPr>
              <a:t>Arbitrary Period. Even and Odd Functions.  </a:t>
            </a:r>
          </a:p>
          <a:p>
            <a:r>
              <a:rPr lang="en-AU" b="1" dirty="0" smtClean="0">
                <a:solidFill>
                  <a:srgbClr val="FF0000"/>
                </a:solidFill>
              </a:rPr>
              <a:t> Half-Range Expansions</a:t>
            </a:r>
            <a:endParaRPr lang="en-AU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9672" y="620688"/>
            <a:ext cx="6215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Fourier series for a function f(x), where the period </a:t>
            </a:r>
            <a:r>
              <a:rPr lang="en-AU" dirty="0" smtClean="0">
                <a:solidFill>
                  <a:srgbClr val="FF0000"/>
                </a:solidFill>
              </a:rPr>
              <a:t>is not 2</a:t>
            </a:r>
            <a:r>
              <a:rPr lang="el-GR" dirty="0" smtClean="0">
                <a:solidFill>
                  <a:srgbClr val="FF0000"/>
                </a:solidFill>
              </a:rPr>
              <a:t>π</a:t>
            </a:r>
            <a:r>
              <a:rPr lang="en-AU" dirty="0" smtClean="0"/>
              <a:t> but </a:t>
            </a:r>
            <a:r>
              <a:rPr lang="en-AU" dirty="0" smtClean="0">
                <a:solidFill>
                  <a:srgbClr val="FF0000"/>
                </a:solidFill>
              </a:rPr>
              <a:t>2L 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1412776"/>
            <a:ext cx="4641429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2420888"/>
            <a:ext cx="6589540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23728" y="3140968"/>
            <a:ext cx="4714908" cy="3033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358082" y="3929066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(7) </a:t>
            </a:r>
            <a:endParaRPr lang="en-A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332656"/>
            <a:ext cx="4594483" cy="445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980728"/>
            <a:ext cx="3429023" cy="2891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85852" y="1428736"/>
            <a:ext cx="5726236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43108" y="3286124"/>
            <a:ext cx="4000528" cy="1897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404664"/>
            <a:ext cx="1440160" cy="381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331640" y="908720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Using relation (7), we obtain </a:t>
            </a:r>
            <a:endParaRPr lang="en-A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802" y="1357298"/>
            <a:ext cx="1071570" cy="385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03648" y="1700808"/>
            <a:ext cx="6195534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31640" y="2636912"/>
            <a:ext cx="3228104" cy="449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00232" y="3143248"/>
            <a:ext cx="3643338" cy="453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071670" y="3643314"/>
            <a:ext cx="3857652" cy="4330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571736" y="4786322"/>
            <a:ext cx="2728932" cy="357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1187624" y="4221088"/>
            <a:ext cx="3776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Using relation (7), we also obtain </a:t>
            </a:r>
            <a:endParaRPr lang="en-AU" dirty="0"/>
          </a:p>
        </p:txBody>
      </p:sp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57290" y="5715016"/>
            <a:ext cx="626119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1187624" y="5301208"/>
            <a:ext cx="4286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Hence, the Fourier Series is</a:t>
            </a:r>
            <a:endParaRPr lang="en-A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87624" y="476672"/>
            <a:ext cx="5857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FF0000"/>
                </a:solidFill>
              </a:rPr>
              <a:t>Fourier Even and Odd functions:</a:t>
            </a:r>
            <a:endParaRPr lang="en-AU" sz="2800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1124744"/>
            <a:ext cx="5184576" cy="316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556792"/>
            <a:ext cx="20955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57356" y="2214554"/>
            <a:ext cx="4586852" cy="963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3501008"/>
            <a:ext cx="5572164" cy="426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331640" y="4077072"/>
            <a:ext cx="6671625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5616" y="692696"/>
            <a:ext cx="4864054" cy="318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124745"/>
            <a:ext cx="2088232" cy="29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0232" y="1714488"/>
            <a:ext cx="4286280" cy="11796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59632" y="3068960"/>
            <a:ext cx="1785950" cy="29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28860" y="3357562"/>
            <a:ext cx="3247487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71736" y="4707164"/>
            <a:ext cx="4929222" cy="1712696"/>
          </a:xfrm>
          <a:prstGeom prst="rect">
            <a:avLst/>
          </a:prstGeom>
          <a:noFill/>
          <a:ln w="9525">
            <a:solidFill>
              <a:schemeClr val="accent2">
                <a:lumMod val="50000"/>
                <a:alpha val="9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0" name="Oval Callout 9"/>
          <p:cNvSpPr/>
          <p:nvPr/>
        </p:nvSpPr>
        <p:spPr>
          <a:xfrm>
            <a:off x="1071538" y="4714884"/>
            <a:ext cx="1285884" cy="1000132"/>
          </a:xfrm>
          <a:prstGeom prst="wedgeEllipseCallout">
            <a:avLst>
              <a:gd name="adj1" fmla="val 61218"/>
              <a:gd name="adj2" fmla="val 6953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b="1" dirty="0" smtClean="0"/>
              <a:t>Note</a:t>
            </a:r>
            <a:endParaRPr lang="en-AU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8188" y="752475"/>
            <a:ext cx="7762902" cy="5419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69069" y="1772816"/>
            <a:ext cx="344517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Fourier Integral </a:t>
            </a:r>
          </a:p>
          <a:p>
            <a:pPr algn="ctr"/>
            <a:r>
              <a:rPr lang="en-US" sz="2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1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en-US" sz="2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1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95736" y="1268760"/>
            <a:ext cx="6480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Fourier series are powerful tools for problems involving functions that are periodic or are of interest on a finite interval only. </a:t>
            </a:r>
            <a:endParaRPr lang="en-AU" dirty="0"/>
          </a:p>
        </p:txBody>
      </p:sp>
      <p:sp>
        <p:nvSpPr>
          <p:cNvPr id="5" name="Rectangle 4"/>
          <p:cNvSpPr/>
          <p:nvPr/>
        </p:nvSpPr>
        <p:spPr>
          <a:xfrm>
            <a:off x="2339752" y="2276872"/>
            <a:ext cx="59046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Since, of course, many problems involve functions that are</a:t>
            </a:r>
          </a:p>
          <a:p>
            <a:r>
              <a:rPr lang="en-AU" i="1" dirty="0" smtClean="0"/>
              <a:t>non-periodic and are of interest on the whole x-axis, we ask what can be done to extend the</a:t>
            </a:r>
          </a:p>
          <a:p>
            <a:r>
              <a:rPr lang="en-AU" dirty="0" smtClean="0"/>
              <a:t>method of Fourier series to such functions. This idea will lead to “</a:t>
            </a:r>
            <a:r>
              <a:rPr lang="en-AU" b="1" dirty="0" smtClean="0"/>
              <a:t>Fourier integrals</a:t>
            </a:r>
            <a:r>
              <a:rPr lang="en-AU" dirty="0" smtClean="0"/>
              <a:t>.”</a:t>
            </a:r>
            <a:endParaRPr lang="en-A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2636912"/>
            <a:ext cx="4217184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>
            <a:lum bright="-12000" contrast="23000"/>
          </a:blip>
          <a:srcRect/>
          <a:stretch>
            <a:fillRect/>
          </a:stretch>
        </p:blipFill>
        <p:spPr bwMode="auto">
          <a:xfrm>
            <a:off x="428595" y="3571876"/>
            <a:ext cx="8365893" cy="2357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3608" y="332656"/>
            <a:ext cx="6480720" cy="2133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lum bright="-11000" contrast="24000"/>
          </a:blip>
          <a:srcRect/>
          <a:stretch>
            <a:fillRect/>
          </a:stretch>
        </p:blipFill>
        <p:spPr bwMode="auto">
          <a:xfrm>
            <a:off x="357158" y="871533"/>
            <a:ext cx="8590033" cy="4486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404664"/>
            <a:ext cx="46863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lum bright="-13000" contrast="32000"/>
          </a:blip>
          <a:srcRect/>
          <a:stretch>
            <a:fillRect/>
          </a:stretch>
        </p:blipFill>
        <p:spPr bwMode="auto">
          <a:xfrm>
            <a:off x="2195736" y="1772816"/>
            <a:ext cx="4696174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64288" y="1628800"/>
            <a:ext cx="1321559" cy="936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 cstate="print">
            <a:lum bright="-13000" contrast="32000"/>
          </a:blip>
          <a:srcRect/>
          <a:stretch>
            <a:fillRect/>
          </a:stretch>
        </p:blipFill>
        <p:spPr bwMode="auto">
          <a:xfrm>
            <a:off x="2339752" y="3429000"/>
            <a:ext cx="4913098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 cstate="print">
            <a:lum bright="-13000" contrast="32000"/>
          </a:blip>
          <a:srcRect/>
          <a:stretch>
            <a:fillRect/>
          </a:stretch>
        </p:blipFill>
        <p:spPr bwMode="auto">
          <a:xfrm>
            <a:off x="2411760" y="4725144"/>
            <a:ext cx="2808312" cy="82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 cstate="print">
            <a:lum bright="-13000" contrast="32000"/>
          </a:blip>
          <a:srcRect/>
          <a:stretch>
            <a:fillRect/>
          </a:stretch>
        </p:blipFill>
        <p:spPr bwMode="auto">
          <a:xfrm>
            <a:off x="2411760" y="5589240"/>
            <a:ext cx="2834235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691680" y="1340768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Fourier Series:</a:t>
            </a:r>
            <a:endParaRPr lang="en-A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763688" y="292494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Fourier Integral:</a:t>
            </a:r>
            <a:endParaRPr lang="en-AU" b="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548680"/>
            <a:ext cx="397192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124744"/>
            <a:ext cx="7178415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9632" y="0"/>
            <a:ext cx="6597376" cy="32048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3284984"/>
            <a:ext cx="6696744" cy="319457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548680"/>
            <a:ext cx="58483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1196752"/>
            <a:ext cx="2101567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776" y="1700808"/>
            <a:ext cx="2952328" cy="9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03648" y="2924944"/>
            <a:ext cx="4248472" cy="1032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87624" y="4005064"/>
            <a:ext cx="2088232" cy="298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5736" y="4365104"/>
            <a:ext cx="2736304" cy="1033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043608" y="5517232"/>
            <a:ext cx="3888432" cy="7685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548680"/>
            <a:ext cx="67913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403648" y="1412776"/>
            <a:ext cx="68407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An integral transform is a transformation in the form of an integral that produces from given functions new functions depending on a different variable.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2286000" y="29673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Fourier transforms. can be obtained from the</a:t>
            </a:r>
          </a:p>
          <a:p>
            <a:r>
              <a:rPr lang="en-AU" dirty="0" smtClean="0"/>
              <a:t>Fourier integral.</a:t>
            </a:r>
            <a:endParaRPr lang="en-A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619672" y="620688"/>
            <a:ext cx="29445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 smtClean="0"/>
              <a:t>Fourier Cosine Transform</a:t>
            </a:r>
            <a:endParaRPr lang="en-AU" b="1" dirty="0"/>
          </a:p>
        </p:txBody>
      </p:sp>
      <p:sp>
        <p:nvSpPr>
          <p:cNvPr id="5" name="Rectangle 4"/>
          <p:cNvSpPr/>
          <p:nvPr/>
        </p:nvSpPr>
        <p:spPr>
          <a:xfrm>
            <a:off x="1691680" y="177281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The Fourier cosine transform concerns </a:t>
            </a:r>
            <a:r>
              <a:rPr lang="en-AU" b="1" i="1" dirty="0" smtClean="0"/>
              <a:t>even functions  f(x). We obtain it from the Fourier </a:t>
            </a:r>
            <a:r>
              <a:rPr lang="en-AU" dirty="0" smtClean="0"/>
              <a:t>cosine integral</a:t>
            </a:r>
            <a:endParaRPr lang="en-A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289</TotalTime>
  <Words>763</Words>
  <Application>Microsoft Office PowerPoint</Application>
  <PresentationFormat>On-screen Show (4:3)</PresentationFormat>
  <Paragraphs>81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Solstice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NSU</dc:creator>
  <cp:lastModifiedBy>NSU</cp:lastModifiedBy>
  <cp:revision>25</cp:revision>
  <dcterms:created xsi:type="dcterms:W3CDTF">2015-11-11T08:43:28Z</dcterms:created>
  <dcterms:modified xsi:type="dcterms:W3CDTF">2018-08-05T03:44:04Z</dcterms:modified>
</cp:coreProperties>
</file>