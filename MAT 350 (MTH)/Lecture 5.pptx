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3" r:id="rId3"/>
    <p:sldId id="264" r:id="rId4"/>
    <p:sldId id="265" r:id="rId5"/>
    <p:sldId id="266" r:id="rId6"/>
    <p:sldId id="259" r:id="rId7"/>
    <p:sldId id="260" r:id="rId8"/>
    <p:sldId id="261" r:id="rId9"/>
    <p:sldId id="262" r:id="rId10"/>
    <p:sldId id="258" r:id="rId11"/>
    <p:sldId id="267" r:id="rId12"/>
    <p:sldId id="268" r:id="rId13"/>
    <p:sldId id="269" r:id="rId14"/>
    <p:sldId id="270" r:id="rId15"/>
    <p:sldId id="275" r:id="rId16"/>
    <p:sldId id="277" r:id="rId17"/>
    <p:sldId id="276" r:id="rId18"/>
    <p:sldId id="278" r:id="rId19"/>
    <p:sldId id="279" r:id="rId20"/>
    <p:sldId id="280" r:id="rId21"/>
    <p:sldId id="271" r:id="rId22"/>
    <p:sldId id="272" r:id="rId23"/>
    <p:sldId id="273" r:id="rId24"/>
    <p:sldId id="274" r:id="rId25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E0F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72E4A-B769-47AF-840E-55D89D8CA691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BECE3-A1A9-4339-BEA4-7886277F08B9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B0C51-23F0-4ABA-A302-C9C3878C33CD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AAC60-4C6C-4831-A88F-A36B6375C2CB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4AAC60-4C6C-4831-A88F-A36B6375C2CB}" type="slidenum">
              <a:rPr lang="en-AU" smtClean="0"/>
              <a:pPr/>
              <a:t>6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52AE-2609-4C4A-BC3B-9CA41B00BCF4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14CEB-2E23-4E06-9D88-CB16A1533DDD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CDCA-0069-4F05-A7DE-C9D49EE4A4A0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9C11-11B4-4835-B7BF-EF9D0A3EC328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C6578-94F4-4CA2-8917-85118E95EF27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4255-D530-4450-BD0D-B129E1510F77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3AC5-2704-492F-9D18-4FCD67B946C5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BE570-78C3-4DC0-A84F-1E046329687A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6FA8-54D5-4ECD-811E-996C9E07B499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9779-3CD7-4CED-BE4B-F05B39C61B40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71CF-5D35-42B9-86EF-00B150A5E1C4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32469A3-B51B-4B23-85F0-7B67DE181D90}" type="datetime1">
              <a:rPr lang="en-US" smtClean="0"/>
              <a:pPr/>
              <a:t>6/12/2018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9D4EBAD-2618-4E40-B501-223697A9A4E6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0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051720" y="1196752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5300" dirty="0" smtClean="0">
                <a:solidFill>
                  <a:schemeClr val="tx1"/>
                </a:solidFill>
              </a:rPr>
              <a:t>MAT 350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FF00"/>
                </a:solidFill>
              </a:rPr>
              <a:t>Engineering mathematics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</a:t>
            </a:fld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49520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err="1" smtClean="0"/>
              <a:t>Modeling</a:t>
            </a:r>
            <a:r>
              <a:rPr lang="en-AU" b="1" dirty="0" smtClean="0"/>
              <a:t>  with 2</a:t>
            </a:r>
            <a:r>
              <a:rPr lang="en-AU" b="1" baseline="30000" dirty="0" smtClean="0"/>
              <a:t>nd</a:t>
            </a:r>
            <a:r>
              <a:rPr lang="en-AU" b="1" dirty="0" smtClean="0"/>
              <a:t> order ODE:</a:t>
            </a:r>
          </a:p>
          <a:p>
            <a:r>
              <a:rPr lang="en-AU" b="1" dirty="0" smtClean="0"/>
              <a:t>Mass–Spring System.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555776" y="4005064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Lecture: 5</a:t>
            </a:r>
            <a:endParaRPr lang="en-AU" sz="20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2362200" y="4876800"/>
            <a:ext cx="5181600" cy="1295400"/>
          </a:xfrm>
          <a:prstGeom prst="roundRect">
            <a:avLst/>
          </a:prstGeom>
          <a:solidFill>
            <a:schemeClr val="accent1">
              <a:lumMod val="75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tx1"/>
                </a:solidFill>
                <a:latin typeface="Berlin Sans FB" pitchFamily="34" charset="0"/>
              </a:rPr>
              <a:t>Dr. M. </a:t>
            </a:r>
            <a:r>
              <a:rPr lang="en-US" dirty="0" err="1" smtClean="0">
                <a:solidFill>
                  <a:schemeClr val="tx1"/>
                </a:solidFill>
                <a:latin typeface="Berlin Sans FB" pitchFamily="34" charset="0"/>
              </a:rPr>
              <a:t>Sahadet</a:t>
            </a:r>
            <a:r>
              <a:rPr lang="en-US" dirty="0" smtClean="0">
                <a:solidFill>
                  <a:schemeClr val="tx1"/>
                </a:solidFill>
                <a:latin typeface="Berlin Sans FB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Berlin Sans FB" pitchFamily="34" charset="0"/>
              </a:rPr>
              <a:t>Hossain</a:t>
            </a:r>
            <a:r>
              <a:rPr lang="en-US" dirty="0" smtClean="0">
                <a:solidFill>
                  <a:schemeClr val="tx1"/>
                </a:solidFill>
                <a:latin typeface="Berlin Sans FB" pitchFamily="34" charset="0"/>
              </a:rPr>
              <a:t> (</a:t>
            </a:r>
            <a:r>
              <a:rPr lang="en-US" dirty="0" err="1" smtClean="0">
                <a:solidFill>
                  <a:schemeClr val="tx1"/>
                </a:solidFill>
                <a:latin typeface="Berlin Sans FB" pitchFamily="34" charset="0"/>
              </a:rPr>
              <a:t>MtH</a:t>
            </a:r>
            <a:r>
              <a:rPr lang="en-US" dirty="0" smtClean="0">
                <a:solidFill>
                  <a:schemeClr val="tx1"/>
                </a:solidFill>
                <a:latin typeface="Berlin Sans FB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tx1"/>
                </a:solidFill>
                <a:latin typeface="Berlin Sans FB" pitchFamily="34" charset="0"/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tx1"/>
                </a:solidFill>
                <a:latin typeface="Berlin Sans FB" pitchFamily="34" charset="0"/>
              </a:rPr>
              <a:t>Department of Mathematics and Physics, NSU.</a:t>
            </a:r>
            <a:endParaRPr lang="en-US" dirty="0">
              <a:solidFill>
                <a:schemeClr val="tx1"/>
              </a:solidFill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214290"/>
            <a:ext cx="731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 err="1" smtClean="0">
                <a:solidFill>
                  <a:srgbClr val="FF0000"/>
                </a:solidFill>
              </a:rPr>
              <a:t>Modeling</a:t>
            </a:r>
            <a:r>
              <a:rPr lang="en-AU" sz="2400" b="1" dirty="0" smtClean="0">
                <a:solidFill>
                  <a:srgbClr val="FF0000"/>
                </a:solidFill>
              </a:rPr>
              <a:t> of Free </a:t>
            </a:r>
            <a:r>
              <a:rPr lang="en-AU" sz="2400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Oscillations</a:t>
            </a:r>
            <a:r>
              <a:rPr lang="en-AU" sz="2400" b="1" dirty="0" smtClean="0">
                <a:solidFill>
                  <a:srgbClr val="FF0000"/>
                </a:solidFill>
              </a:rPr>
              <a:t> of a 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Mass–Spring System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7315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Linear ODEs with constant coefficients have important applications in mechanics, and in electrical circuits.</a:t>
            </a:r>
          </a:p>
          <a:p>
            <a:pPr algn="just"/>
            <a:r>
              <a:rPr lang="en-AU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 this section we model and solve a basic mechanical system consisting of a mass on an elastic spring (a so-called “mass–spring system,” Fig. below), which moves up and down.</a:t>
            </a:r>
            <a:endParaRPr lang="en-AU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>
            <a:lum bright="-22000" contrast="15000"/>
          </a:blip>
          <a:srcRect/>
          <a:stretch>
            <a:fillRect/>
          </a:stretch>
        </p:blipFill>
        <p:spPr bwMode="auto">
          <a:xfrm>
            <a:off x="2133600" y="2743200"/>
            <a:ext cx="4953000" cy="363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lum bright="-22000" contrast="15000"/>
          </a:blip>
          <a:srcRect/>
          <a:stretch>
            <a:fillRect/>
          </a:stretch>
        </p:blipFill>
        <p:spPr bwMode="auto">
          <a:xfrm>
            <a:off x="457200" y="1143000"/>
            <a:ext cx="3505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4" cstate="print">
            <a:lum bright="-20000" contrast="23000"/>
          </a:blip>
          <a:srcRect/>
          <a:stretch>
            <a:fillRect/>
          </a:stretch>
        </p:blipFill>
        <p:spPr bwMode="auto">
          <a:xfrm>
            <a:off x="4114800" y="2133600"/>
            <a:ext cx="42005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191000" y="3048000"/>
            <a:ext cx="45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If the damping is small and the motion of the system is considered over a relatively short time, we may disregard damping.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4267200" y="4267200"/>
            <a:ext cx="2971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Then Newton’s law with F=- F</a:t>
            </a:r>
            <a:r>
              <a:rPr lang="en-AU" baseline="-25000" dirty="0" smtClean="0"/>
              <a:t>1</a:t>
            </a:r>
            <a:r>
              <a:rPr lang="en-AU" dirty="0" smtClean="0"/>
              <a:t> gives the model</a:t>
            </a:r>
          </a:p>
          <a:p>
            <a:endParaRPr lang="en-AU" dirty="0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5" cstate="print">
            <a:lum bright="-20000" contrast="23000"/>
          </a:blip>
          <a:srcRect/>
          <a:stretch>
            <a:fillRect/>
          </a:stretch>
        </p:blipFill>
        <p:spPr bwMode="auto">
          <a:xfrm>
            <a:off x="4572000" y="5181600"/>
            <a:ext cx="218802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6" cstate="print">
            <a:lum bright="-20000" contrast="23000"/>
          </a:blip>
          <a:srcRect/>
          <a:stretch>
            <a:fillRect/>
          </a:stretch>
        </p:blipFill>
        <p:spPr bwMode="auto">
          <a:xfrm>
            <a:off x="3429000" y="5632450"/>
            <a:ext cx="2286000" cy="635000"/>
          </a:xfrm>
          <a:prstGeom prst="rect">
            <a:avLst/>
          </a:prstGeom>
          <a:noFill/>
          <a:ln w="22225" cmpd="sng">
            <a:solidFill>
              <a:srgbClr val="0070C0"/>
            </a:solidFill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7239000" y="12954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(1)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8382000" y="2286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(2)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7086600" y="5791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(3)</a:t>
            </a:r>
            <a:endParaRPr lang="en-AU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331840" y="1214423"/>
          <a:ext cx="1811927" cy="571504"/>
        </p:xfrm>
        <a:graphic>
          <a:graphicData uri="http://schemas.openxmlformats.org/presentationml/2006/ole">
            <p:oleObj spid="_x0000_s1026" name="Equation" r:id="rId7" imgW="457200" imgH="2030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3" cstate="print">
            <a:lum bright="-15000" contrast="12000"/>
          </a:blip>
          <a:srcRect/>
          <a:stretch>
            <a:fillRect/>
          </a:stretch>
        </p:blipFill>
        <p:spPr bwMode="auto">
          <a:xfrm>
            <a:off x="1676399" y="1752600"/>
            <a:ext cx="410410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 cstate="print">
            <a:lum bright="-15000" contrast="12000"/>
          </a:blip>
          <a:srcRect/>
          <a:stretch>
            <a:fillRect/>
          </a:stretch>
        </p:blipFill>
        <p:spPr bwMode="auto">
          <a:xfrm>
            <a:off x="5943600" y="1618620"/>
            <a:ext cx="1371600" cy="83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143000" y="914400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This is a homogeneous linear ODE with constant coefficients. A general solution is obtained as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447800" y="2743200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This motion is called a </a:t>
            </a:r>
            <a:r>
              <a:rPr lang="en-AU" b="1" dirty="0" smtClean="0"/>
              <a:t>harmonic oscillation.</a:t>
            </a:r>
            <a:r>
              <a:rPr lang="en-AU" dirty="0" smtClean="0"/>
              <a:t> Its </a:t>
            </a:r>
            <a:r>
              <a:rPr lang="en-AU" i="1" dirty="0" smtClean="0"/>
              <a:t>frequency is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1524000" y="4038600"/>
            <a:ext cx="594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frequency </a:t>
            </a:r>
            <a:r>
              <a:rPr lang="en-AU" i="1" dirty="0" smtClean="0"/>
              <a:t>f is called </a:t>
            </a:r>
            <a:r>
              <a:rPr lang="en-AU" dirty="0" smtClean="0"/>
              <a:t>the </a:t>
            </a:r>
            <a:r>
              <a:rPr lang="en-AU" b="1" dirty="0" smtClean="0"/>
              <a:t>natural frequency of the system.</a:t>
            </a:r>
            <a:endParaRPr lang="en-AU" dirty="0"/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5" cstate="print">
            <a:lum bright="-14000" contrast="14000"/>
          </a:blip>
          <a:srcRect/>
          <a:stretch>
            <a:fillRect/>
          </a:stretch>
        </p:blipFill>
        <p:spPr bwMode="auto">
          <a:xfrm>
            <a:off x="2971799" y="3048000"/>
            <a:ext cx="1952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6" cstate="print">
            <a:lum bright="-14000" contrast="14000"/>
          </a:blip>
          <a:srcRect/>
          <a:stretch>
            <a:fillRect/>
          </a:stretch>
        </p:blipFill>
        <p:spPr bwMode="auto">
          <a:xfrm>
            <a:off x="1524000" y="3505200"/>
            <a:ext cx="7033846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001024" y="171448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(4)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1835696" y="4869160"/>
            <a:ext cx="564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Please note,</a:t>
            </a:r>
          </a:p>
          <a:p>
            <a:endParaRPr lang="en-AU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275856" y="4869160"/>
          <a:ext cx="3983271" cy="1296144"/>
        </p:xfrm>
        <a:graphic>
          <a:graphicData uri="http://schemas.openxmlformats.org/presentationml/2006/ole">
            <p:oleObj spid="_x0000_s17410" name="Equation" r:id="rId7" imgW="1600200" imgH="5205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28000"/>
          </a:blip>
          <a:srcRect/>
          <a:stretch>
            <a:fillRect/>
          </a:stretch>
        </p:blipFill>
        <p:spPr bwMode="auto">
          <a:xfrm>
            <a:off x="304800" y="1905000"/>
            <a:ext cx="759297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09600" y="381000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An alternative representation of (4), which shows the physical characteristics of amplitude and phase shift of (4), is</a:t>
            </a:r>
            <a:endParaRPr lang="en-AU" dirty="0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 cstate="print">
            <a:lum bright="-14000" contrast="20000"/>
          </a:blip>
          <a:srcRect/>
          <a:stretch>
            <a:fillRect/>
          </a:stretch>
        </p:blipFill>
        <p:spPr bwMode="auto">
          <a:xfrm>
            <a:off x="2743199" y="1143000"/>
            <a:ext cx="28225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1538" y="642918"/>
            <a:ext cx="7500990" cy="1815882"/>
          </a:xfrm>
          <a:prstGeom prst="rect">
            <a:avLst/>
          </a:prstGeom>
          <a:solidFill>
            <a:srgbClr val="8AE0FE"/>
          </a:solidFill>
        </p:spPr>
        <p:txBody>
          <a:bodyPr wrap="square">
            <a:spAutoFit/>
          </a:bodyPr>
          <a:lstStyle/>
          <a:p>
            <a:pPr algn="just"/>
            <a:r>
              <a:rPr lang="en-AU" sz="1600" b="1" dirty="0" smtClean="0">
                <a:latin typeface="Arial" pitchFamily="34" charset="0"/>
                <a:cs typeface="Arial" pitchFamily="34" charset="0"/>
              </a:rPr>
              <a:t>Example 1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: If a mass–spring system with an iron ball of weight W=98 </a:t>
            </a:r>
            <a:r>
              <a:rPr lang="en-AU" sz="1600" dirty="0" err="1" smtClean="0">
                <a:latin typeface="Arial" pitchFamily="34" charset="0"/>
                <a:cs typeface="Arial" pitchFamily="34" charset="0"/>
              </a:rPr>
              <a:t>nt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(about 22 lb) can be regarded as undamped, and the spring is such that the ball stretches it 1.09 m (about 43 in.), how many cycles per minute will the system execute? </a:t>
            </a:r>
          </a:p>
          <a:p>
            <a:pPr algn="just"/>
            <a:endParaRPr lang="en-AU" sz="16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1600" dirty="0" smtClean="0">
                <a:latin typeface="Arial" pitchFamily="34" charset="0"/>
                <a:cs typeface="Arial" pitchFamily="34" charset="0"/>
              </a:rPr>
              <a:t>What will its motion be if we pull the ball down from rest by 16 cm (about 6 in.) and let it start with zero initial velocity?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7224" y="2857496"/>
            <a:ext cx="7358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 smtClean="0"/>
              <a:t>Solution. </a:t>
            </a:r>
            <a:r>
              <a:rPr lang="en-AU" dirty="0" smtClean="0"/>
              <a:t>Hooke’s law with W as the force and 1.09 meter as the stretch gives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42910" y="285729"/>
            <a:ext cx="6858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err="1" smtClean="0">
                <a:solidFill>
                  <a:srgbClr val="FF0000"/>
                </a:solidFill>
              </a:rPr>
              <a:t>Modeling</a:t>
            </a:r>
            <a:r>
              <a:rPr lang="en-AU" b="1" dirty="0" smtClean="0">
                <a:solidFill>
                  <a:srgbClr val="FF0000"/>
                </a:solidFill>
              </a:rPr>
              <a:t> of Free </a:t>
            </a:r>
            <a:r>
              <a:rPr lang="en-AU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Oscillations</a:t>
            </a:r>
            <a:r>
              <a:rPr lang="en-AU" b="1" dirty="0" smtClean="0">
                <a:solidFill>
                  <a:srgbClr val="FF0000"/>
                </a:solidFill>
              </a:rPr>
              <a:t> of a Mass–Spring System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28860" y="3571876"/>
            <a:ext cx="4556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i="1" dirty="0" smtClean="0"/>
              <a:t>W=  1.09</a:t>
            </a:r>
            <a:r>
              <a:rPr lang="en-AU" dirty="0" smtClean="0"/>
              <a:t> k  (since W=</a:t>
            </a:r>
            <a:r>
              <a:rPr lang="en-AU" dirty="0" err="1" smtClean="0"/>
              <a:t>ky</a:t>
            </a:r>
            <a:r>
              <a:rPr lang="en-AU" dirty="0" smtClean="0"/>
              <a:t>, y displacement)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2071670" y="4000504"/>
            <a:ext cx="55149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2000231" y="4500570"/>
            <a:ext cx="4286281" cy="242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3059832" y="5591520"/>
            <a:ext cx="2786082" cy="429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357686" y="5072074"/>
            <a:ext cx="500066" cy="71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>
            <a:lum bright="-16000" contrast="25000"/>
          </a:blip>
          <a:srcRect/>
          <a:stretch>
            <a:fillRect/>
          </a:stretch>
        </p:blipFill>
        <p:spPr bwMode="auto">
          <a:xfrm>
            <a:off x="3851920" y="6093296"/>
            <a:ext cx="3929090" cy="41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467544" y="5589240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             </a:t>
            </a:r>
            <a:r>
              <a:rPr lang="en-AU" dirty="0" err="1" smtClean="0"/>
              <a:t>Frequencey</a:t>
            </a:r>
            <a:r>
              <a:rPr lang="en-AU" dirty="0" smtClean="0"/>
              <a:t>, </a:t>
            </a:r>
            <a:r>
              <a:rPr lang="en-AU" b="1" i="1" dirty="0" smtClean="0"/>
              <a:t>f</a:t>
            </a:r>
            <a:r>
              <a:rPr lang="en-AU" dirty="0" smtClean="0"/>
              <a:t>  =</a:t>
            </a:r>
            <a:endParaRPr lang="en-AU" dirty="0"/>
          </a:p>
        </p:txBody>
      </p: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>
            <a:lum bright="-20000" contrast="23000"/>
          </a:blip>
          <a:srcRect/>
          <a:stretch>
            <a:fillRect/>
          </a:stretch>
        </p:blipFill>
        <p:spPr bwMode="auto">
          <a:xfrm>
            <a:off x="3203848" y="4817154"/>
            <a:ext cx="2016224" cy="560063"/>
          </a:xfrm>
          <a:prstGeom prst="rect">
            <a:avLst/>
          </a:prstGeom>
          <a:noFill/>
          <a:ln w="22225" cmpd="sng">
            <a:solidFill>
              <a:srgbClr val="0070C0"/>
            </a:solidFill>
            <a:miter lim="800000"/>
            <a:headEnd/>
            <a:tailEnd/>
          </a:ln>
          <a:effectLst/>
        </p:spPr>
      </p:pic>
      <p:sp>
        <p:nvSpPr>
          <p:cNvPr id="14" name="Oval Callout 13"/>
          <p:cNvSpPr/>
          <p:nvPr/>
        </p:nvSpPr>
        <p:spPr>
          <a:xfrm>
            <a:off x="6372200" y="4437112"/>
            <a:ext cx="2304256" cy="864096"/>
          </a:xfrm>
          <a:prstGeom prst="wedgeEllipseCallout">
            <a:avLst>
              <a:gd name="adj1" fmla="val -96999"/>
              <a:gd name="adj2" fmla="val 423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Generate mathematical model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3" cstate="print">
            <a:lum bright="-16000" contrast="25000"/>
          </a:blip>
          <a:srcRect/>
          <a:stretch>
            <a:fillRect/>
          </a:stretch>
        </p:blipFill>
        <p:spPr bwMode="auto">
          <a:xfrm>
            <a:off x="2857488" y="625783"/>
            <a:ext cx="4857784" cy="26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4" cstate="print">
            <a:lum bright="-16000" contrast="25000"/>
          </a:blip>
          <a:srcRect/>
          <a:stretch>
            <a:fillRect/>
          </a:stretch>
        </p:blipFill>
        <p:spPr bwMode="auto">
          <a:xfrm>
            <a:off x="2357422" y="3143248"/>
            <a:ext cx="3207612" cy="42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57224" y="571480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Initial conditions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414" y="1571612"/>
            <a:ext cx="392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Hence  B=0, and </a:t>
            </a:r>
            <a:r>
              <a:rPr lang="el-GR" dirty="0" smtClean="0"/>
              <a:t>δ</a:t>
            </a:r>
            <a:r>
              <a:rPr lang="en-AU" dirty="0" smtClean="0"/>
              <a:t> = tan</a:t>
            </a:r>
            <a:r>
              <a:rPr lang="en-AU" baseline="30000" dirty="0" smtClean="0"/>
              <a:t>-1</a:t>
            </a:r>
            <a:r>
              <a:rPr lang="en-AU" dirty="0" smtClean="0"/>
              <a:t> (B/A)=0,</a:t>
            </a:r>
            <a:r>
              <a:rPr lang="en-AU" baseline="30000" dirty="0" smtClean="0"/>
              <a:t> 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142976" y="1928802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Therefore, the general solution is: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7</a:t>
            </a:fld>
            <a:endParaRPr lang="en-AU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 cstate="print">
            <a:lum bright="-14000" contrast="20000"/>
          </a:blip>
          <a:srcRect/>
          <a:stretch>
            <a:fillRect/>
          </a:stretch>
        </p:blipFill>
        <p:spPr bwMode="auto">
          <a:xfrm>
            <a:off x="2357422" y="2571744"/>
            <a:ext cx="28225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929322" y="2857496"/>
            <a:ext cx="23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Here, 16 cm=0.16 m</a:t>
            </a:r>
          </a:p>
          <a:p>
            <a:r>
              <a:rPr lang="en-AU" dirty="0" smtClean="0"/>
              <a:t>C=</a:t>
            </a:r>
            <a:r>
              <a:rPr lang="en-AU" dirty="0" err="1" smtClean="0"/>
              <a:t>sqrt</a:t>
            </a:r>
            <a:r>
              <a:rPr lang="en-AU" dirty="0" smtClean="0"/>
              <a:t>(A</a:t>
            </a:r>
            <a:r>
              <a:rPr lang="en-AU" baseline="30000" dirty="0" smtClean="0"/>
              <a:t>2</a:t>
            </a:r>
            <a:r>
              <a:rPr lang="en-AU" dirty="0" smtClean="0"/>
              <a:t>+B</a:t>
            </a:r>
            <a:r>
              <a:rPr lang="en-AU" baseline="30000" dirty="0" smtClean="0"/>
              <a:t>2</a:t>
            </a:r>
            <a:r>
              <a:rPr lang="en-AU" dirty="0" smtClean="0"/>
              <a:t>)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 cstate="print">
            <a:lum bright="-16000" contrast="31000"/>
          </a:blip>
          <a:srcRect/>
          <a:stretch>
            <a:fillRect/>
          </a:stretch>
        </p:blipFill>
        <p:spPr bwMode="auto">
          <a:xfrm>
            <a:off x="1428728" y="3429000"/>
            <a:ext cx="58864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285984" y="1071546"/>
          <a:ext cx="3857652" cy="428628"/>
        </p:xfrm>
        <a:graphic>
          <a:graphicData uri="http://schemas.openxmlformats.org/presentationml/2006/ole">
            <p:oleObj spid="_x0000_s18435" name="Equation" r:id="rId7" imgW="1600200" imgH="177480" progId="">
              <p:embed/>
            </p:oleObj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7000892" y="1142984"/>
          <a:ext cx="1428760" cy="416721"/>
        </p:xfrm>
        <a:graphic>
          <a:graphicData uri="http://schemas.openxmlformats.org/presentationml/2006/ole">
            <p:oleObj spid="_x0000_s18436" name="Equation" r:id="rId8" imgW="609480" imgH="177480" progId="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3528" y="1071546"/>
            <a:ext cx="210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Note </a:t>
            </a:r>
            <a:r>
              <a:rPr lang="en-AU" dirty="0" smtClean="0"/>
              <a:t>that we have,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000760" y="1130842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.</a:t>
            </a:r>
            <a:r>
              <a:rPr lang="en-AU" dirty="0" smtClean="0"/>
              <a:t>    Hence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8</a:t>
            </a:fld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785786" y="357166"/>
            <a:ext cx="41745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ODE of the Damped System</a:t>
            </a:r>
            <a:endParaRPr lang="en-AU" sz="2400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33000"/>
          </a:blip>
          <a:srcRect/>
          <a:stretch>
            <a:fillRect/>
          </a:stretch>
        </p:blipFill>
        <p:spPr bwMode="auto">
          <a:xfrm>
            <a:off x="4214810" y="1071546"/>
            <a:ext cx="1571636" cy="45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lum bright="-18000" contrast="33000"/>
          </a:blip>
          <a:srcRect/>
          <a:stretch>
            <a:fillRect/>
          </a:stretch>
        </p:blipFill>
        <p:spPr bwMode="auto">
          <a:xfrm>
            <a:off x="4143372" y="1643050"/>
            <a:ext cx="159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lum bright="-18000" contrast="33000"/>
          </a:blip>
          <a:srcRect/>
          <a:stretch>
            <a:fillRect/>
          </a:stretch>
        </p:blipFill>
        <p:spPr bwMode="auto">
          <a:xfrm>
            <a:off x="3143240" y="2428868"/>
            <a:ext cx="28384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00364" y="3143248"/>
            <a:ext cx="35909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>
            <a:lum bright="-18000" contrast="33000"/>
          </a:blip>
          <a:srcRect/>
          <a:stretch>
            <a:fillRect/>
          </a:stretch>
        </p:blipFill>
        <p:spPr bwMode="auto">
          <a:xfrm>
            <a:off x="3214678" y="3857628"/>
            <a:ext cx="26860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>
            <a:lum bright="-18000" contrast="33000"/>
          </a:blip>
          <a:srcRect/>
          <a:stretch>
            <a:fillRect/>
          </a:stretch>
        </p:blipFill>
        <p:spPr bwMode="auto">
          <a:xfrm>
            <a:off x="3000364" y="4643446"/>
            <a:ext cx="4204105" cy="523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>
            <a:lum bright="-18000" contrast="33000"/>
          </a:blip>
          <a:srcRect/>
          <a:stretch>
            <a:fillRect/>
          </a:stretch>
        </p:blipFill>
        <p:spPr bwMode="auto">
          <a:xfrm>
            <a:off x="2857488" y="5429264"/>
            <a:ext cx="484930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 cstate="print">
            <a:lum bright="-11000" contrast="13000"/>
          </a:blip>
          <a:srcRect/>
          <a:stretch>
            <a:fillRect/>
          </a:stretch>
        </p:blipFill>
        <p:spPr bwMode="auto">
          <a:xfrm>
            <a:off x="500034" y="1928802"/>
            <a:ext cx="2071702" cy="3639108"/>
          </a:xfrm>
          <a:prstGeom prst="rect">
            <a:avLst/>
          </a:prstGeom>
          <a:noFill/>
          <a:ln w="34925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9</a:t>
            </a:fld>
            <a:endParaRPr lang="en-A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-19000" contrast="36000"/>
          </a:blip>
          <a:srcRect/>
          <a:stretch>
            <a:fillRect/>
          </a:stretch>
        </p:blipFill>
        <p:spPr bwMode="auto">
          <a:xfrm>
            <a:off x="428596" y="1500174"/>
            <a:ext cx="842128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24000"/>
          </a:blip>
          <a:srcRect/>
          <a:stretch>
            <a:fillRect/>
          </a:stretch>
        </p:blipFill>
        <p:spPr bwMode="auto">
          <a:xfrm>
            <a:off x="1000100" y="2786058"/>
            <a:ext cx="7181399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10</a:t>
            </a:fld>
            <a:endParaRPr lang="en-A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785794"/>
            <a:ext cx="3270273" cy="285752"/>
          </a:xfrm>
          <a:prstGeom prst="rect">
            <a:avLst/>
          </a:prstGeom>
          <a:noFill/>
          <a:ln w="222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5000"/>
          </a:blip>
          <a:srcRect/>
          <a:stretch>
            <a:fillRect/>
          </a:stretch>
        </p:blipFill>
        <p:spPr bwMode="auto">
          <a:xfrm>
            <a:off x="714348" y="1285860"/>
            <a:ext cx="46196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35000"/>
          </a:blip>
          <a:srcRect/>
          <a:stretch>
            <a:fillRect/>
          </a:stretch>
        </p:blipFill>
        <p:spPr bwMode="auto">
          <a:xfrm>
            <a:off x="785786" y="1571612"/>
            <a:ext cx="325755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35000"/>
          </a:blip>
          <a:srcRect/>
          <a:stretch>
            <a:fillRect/>
          </a:stretch>
        </p:blipFill>
        <p:spPr bwMode="auto">
          <a:xfrm>
            <a:off x="785786" y="1928802"/>
            <a:ext cx="50292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>
            <a:lum bright="-15000" contrast="35000"/>
          </a:blip>
          <a:srcRect/>
          <a:stretch>
            <a:fillRect/>
          </a:stretch>
        </p:blipFill>
        <p:spPr bwMode="auto">
          <a:xfrm>
            <a:off x="2071670" y="2428868"/>
            <a:ext cx="367395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>
            <a:lum bright="-15000" contrast="35000"/>
          </a:blip>
          <a:srcRect/>
          <a:stretch>
            <a:fillRect/>
          </a:stretch>
        </p:blipFill>
        <p:spPr bwMode="auto">
          <a:xfrm>
            <a:off x="357158" y="3071810"/>
            <a:ext cx="8215370" cy="841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7500958" y="3857628"/>
            <a:ext cx="1000132" cy="21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 cstate="print">
            <a:lum bright="-16000" contrast="30000"/>
          </a:blip>
          <a:srcRect/>
          <a:stretch>
            <a:fillRect/>
          </a:stretch>
        </p:blipFill>
        <p:spPr bwMode="auto">
          <a:xfrm>
            <a:off x="428596" y="4000504"/>
            <a:ext cx="3444211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 cstate="print">
            <a:lum bright="-13000" contrast="21000"/>
          </a:blip>
          <a:srcRect/>
          <a:stretch>
            <a:fillRect/>
          </a:stretch>
        </p:blipFill>
        <p:spPr bwMode="auto">
          <a:xfrm>
            <a:off x="4429124" y="3929066"/>
            <a:ext cx="3429024" cy="1832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714612" y="5929330"/>
            <a:ext cx="36195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11</a:t>
            </a:fld>
            <a:endParaRPr lang="en-A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71480"/>
            <a:ext cx="2676525" cy="3048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642910" y="1142984"/>
            <a:ext cx="7933948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642910" y="1571612"/>
            <a:ext cx="311152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714348" y="2000240"/>
            <a:ext cx="360997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3143240" y="2428867"/>
            <a:ext cx="2500330" cy="606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7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604838" y="3300413"/>
            <a:ext cx="79343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8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571472" y="3643314"/>
            <a:ext cx="54483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9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642910" y="4000504"/>
            <a:ext cx="53721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0" cstate="print">
            <a:lum bright="-21000" contrast="37000"/>
          </a:blip>
          <a:srcRect/>
          <a:stretch>
            <a:fillRect/>
          </a:stretch>
        </p:blipFill>
        <p:spPr bwMode="auto">
          <a:xfrm>
            <a:off x="714348" y="4385364"/>
            <a:ext cx="3500462" cy="2263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11" cstate="print">
            <a:lum bright="-18000" contrast="23000"/>
          </a:blip>
          <a:srcRect/>
          <a:stretch>
            <a:fillRect/>
          </a:stretch>
        </p:blipFill>
        <p:spPr bwMode="auto">
          <a:xfrm>
            <a:off x="4500562" y="4959534"/>
            <a:ext cx="3071834" cy="1060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12</a:t>
            </a:fld>
            <a:endParaRPr lang="en-A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85728"/>
            <a:ext cx="2657475" cy="3429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571471" y="857232"/>
            <a:ext cx="5625743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571471" y="1214422"/>
            <a:ext cx="6357983" cy="36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428860" y="1214422"/>
            <a:ext cx="500066" cy="357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928662" y="2000239"/>
            <a:ext cx="6572296" cy="786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58148" y="2143116"/>
            <a:ext cx="571504" cy="37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2214545" y="2928934"/>
            <a:ext cx="4395929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15140" y="3000372"/>
            <a:ext cx="2016395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1000099" y="3786190"/>
            <a:ext cx="4732053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0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1571603" y="4286256"/>
            <a:ext cx="643266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1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2000232" y="4929197"/>
            <a:ext cx="3786214" cy="29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13</a:t>
            </a:fld>
            <a:endParaRPr lang="en-A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500034" y="928670"/>
            <a:ext cx="8215370" cy="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642910" y="2214553"/>
            <a:ext cx="4786346" cy="290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857224" y="2571744"/>
            <a:ext cx="16287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928662" y="2857495"/>
            <a:ext cx="6215106" cy="29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3486147" y="2809873"/>
            <a:ext cx="6572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28662" y="3214686"/>
            <a:ext cx="15335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2519378" y="3200400"/>
            <a:ext cx="426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9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857356" y="3500438"/>
            <a:ext cx="4214842" cy="299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14</a:t>
            </a:fld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500034" y="571480"/>
            <a:ext cx="66437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Examples</a:t>
            </a:r>
            <a:r>
              <a:rPr lang="en-AU" dirty="0" smtClean="0">
                <a:solidFill>
                  <a:srgbClr val="FF0000"/>
                </a:solidFill>
              </a:rPr>
              <a:t>:  from </a:t>
            </a:r>
            <a:r>
              <a:rPr lang="en-AU" dirty="0" err="1" smtClean="0">
                <a:solidFill>
                  <a:srgbClr val="FF0000"/>
                </a:solidFill>
              </a:rPr>
              <a:t>Zill</a:t>
            </a:r>
            <a:r>
              <a:rPr lang="en-AU" dirty="0" smtClean="0">
                <a:solidFill>
                  <a:srgbClr val="FF0000"/>
                </a:solidFill>
              </a:rPr>
              <a:t> 10</a:t>
            </a:r>
            <a:r>
              <a:rPr lang="en-AU" baseline="30000" dirty="0" smtClean="0">
                <a:solidFill>
                  <a:srgbClr val="FF0000"/>
                </a:solidFill>
              </a:rPr>
              <a:t>th</a:t>
            </a:r>
            <a:r>
              <a:rPr lang="en-AU" dirty="0" smtClean="0">
                <a:solidFill>
                  <a:srgbClr val="FF0000"/>
                </a:solidFill>
              </a:rPr>
              <a:t> edition.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034" y="1285860"/>
            <a:ext cx="7215238" cy="1323439"/>
          </a:xfrm>
          <a:prstGeom prst="rect">
            <a:avLst/>
          </a:prstGeom>
          <a:solidFill>
            <a:srgbClr val="8AE0FE"/>
          </a:solidFill>
        </p:spPr>
        <p:txBody>
          <a:bodyPr wrap="square">
            <a:spAutoFit/>
          </a:bodyPr>
          <a:lstStyle/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Example 2: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A mass weighing 2 pounds stretches a spring 6 inches. At </a:t>
            </a:r>
            <a:r>
              <a:rPr lang="en-AU" sz="1600" i="1" dirty="0" smtClean="0">
                <a:latin typeface="Arial" pitchFamily="34" charset="0"/>
                <a:cs typeface="Arial" pitchFamily="34" charset="0"/>
              </a:rPr>
              <a:t>t=0 the mass is released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from a point 8 inches below the equilibrium position with an upward velocity of 4/3 ft/s.</a:t>
            </a:r>
          </a:p>
          <a:p>
            <a:endParaRPr lang="en-AU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Determine the equation of motion.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472" y="2643182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SOLUTION: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Because we are using the engineering system of units, the measurements given in terms of inches must be converted into feet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4071942"/>
            <a:ext cx="72866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In addition, we must convert the units of weight given in pounds into units of mass.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3214678" y="3500438"/>
            <a:ext cx="277179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785786" y="4786322"/>
            <a:ext cx="492000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785786" y="5286388"/>
            <a:ext cx="3786214" cy="321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5072066" y="5319942"/>
            <a:ext cx="1214446" cy="27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2285984" y="5715016"/>
            <a:ext cx="4572032" cy="678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15</a:t>
            </a:fld>
            <a:endParaRPr lang="en-A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785787" y="1366605"/>
            <a:ext cx="6072229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3143240" y="571480"/>
            <a:ext cx="1802436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57224" y="1857364"/>
            <a:ext cx="72866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Here the negative sign in the last condition is a consequence of the fact that the mass is given an initial velocity in the negative, or upward, direction.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928662" y="2643182"/>
            <a:ext cx="513460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3071802" y="3214686"/>
            <a:ext cx="3202795" cy="47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28662" y="3857628"/>
            <a:ext cx="5143536" cy="289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3357554" y="4429132"/>
            <a:ext cx="2214578" cy="365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071538" y="5000636"/>
            <a:ext cx="4786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Thus, the equation of motion is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3071802" y="5467826"/>
            <a:ext cx="3071834" cy="7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16</a:t>
            </a:fld>
            <a:endParaRPr lang="en-A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28000"/>
          </a:blip>
          <a:srcRect/>
          <a:stretch>
            <a:fillRect/>
          </a:stretch>
        </p:blipFill>
        <p:spPr bwMode="auto">
          <a:xfrm>
            <a:off x="642910" y="1357298"/>
            <a:ext cx="797886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22000"/>
          </a:blip>
          <a:srcRect/>
          <a:stretch>
            <a:fillRect/>
          </a:stretch>
        </p:blipFill>
        <p:spPr bwMode="auto">
          <a:xfrm>
            <a:off x="3571868" y="5072074"/>
            <a:ext cx="2500330" cy="33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17</a:t>
            </a:fld>
            <a:endParaRPr lang="en-AU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lum bright="-13000" contrast="20000"/>
          </a:blip>
          <a:srcRect/>
          <a:stretch>
            <a:fillRect/>
          </a:stretch>
        </p:blipFill>
        <p:spPr bwMode="auto">
          <a:xfrm>
            <a:off x="1928794" y="2143116"/>
            <a:ext cx="510484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28662" y="857232"/>
            <a:ext cx="7215238" cy="923330"/>
          </a:xfrm>
          <a:prstGeom prst="rect">
            <a:avLst/>
          </a:prstGeom>
          <a:solidFill>
            <a:srgbClr val="8AE0FE"/>
          </a:solidFill>
        </p:spPr>
        <p:txBody>
          <a:bodyPr wrap="square">
            <a:spAutoFit/>
          </a:bodyPr>
          <a:lstStyle/>
          <a:p>
            <a:r>
              <a:rPr lang="en-AU" dirty="0" smtClean="0"/>
              <a:t>Consider the overdamped motion described by the equation below. The mass is initially released from a position 1 unit </a:t>
            </a:r>
            <a:r>
              <a:rPr lang="en-AU" i="1" dirty="0" smtClean="0"/>
              <a:t>below the equilibrium </a:t>
            </a:r>
            <a:r>
              <a:rPr lang="en-AU" dirty="0" smtClean="0"/>
              <a:t>position with a </a:t>
            </a:r>
            <a:r>
              <a:rPr lang="en-AU" i="1" dirty="0" smtClean="0"/>
              <a:t>downward velocity of 1 ft/s.</a:t>
            </a:r>
            <a:endParaRPr lang="en-A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lum bright="-13000" contrast="20000"/>
          </a:blip>
          <a:srcRect/>
          <a:stretch>
            <a:fillRect/>
          </a:stretch>
        </p:blipFill>
        <p:spPr bwMode="auto">
          <a:xfrm>
            <a:off x="2857488" y="3214686"/>
            <a:ext cx="2714644" cy="732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lum bright="-13000" contrast="20000"/>
          </a:blip>
          <a:srcRect/>
          <a:stretch>
            <a:fillRect/>
          </a:stretch>
        </p:blipFill>
        <p:spPr bwMode="auto">
          <a:xfrm>
            <a:off x="2357422" y="3857628"/>
            <a:ext cx="4286280" cy="230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000100" y="428604"/>
            <a:ext cx="39725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Example 3: </a:t>
            </a:r>
            <a:r>
              <a:rPr lang="en-AU" b="1" dirty="0" smtClean="0">
                <a:solidFill>
                  <a:srgbClr val="FF0000"/>
                </a:solidFill>
              </a:rPr>
              <a:t>Overdamped motion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18</a:t>
            </a:fld>
            <a:endParaRPr lang="en-A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500034" y="714356"/>
            <a:ext cx="7906043" cy="1214446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571472" y="2285992"/>
            <a:ext cx="7786742" cy="152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1857356" y="4286256"/>
            <a:ext cx="5857916" cy="392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142976" y="3786190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Auxiliary equation is:</a:t>
            </a:r>
            <a:endParaRPr lang="en-AU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1071538" y="4857759"/>
            <a:ext cx="3857652" cy="301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2643174" y="5429264"/>
            <a:ext cx="3000396" cy="42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00034" y="357166"/>
            <a:ext cx="345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4:  Critically damped</a:t>
            </a:r>
            <a:endParaRPr lang="en-AU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19</a:t>
            </a:fld>
            <a:endParaRPr lang="en-A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785785" y="928670"/>
            <a:ext cx="5306823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857224" y="1285860"/>
            <a:ext cx="2500330" cy="308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3571868" y="1357298"/>
            <a:ext cx="4235253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2714612" y="1857364"/>
            <a:ext cx="2357454" cy="46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1643042" y="2500306"/>
            <a:ext cx="4286280" cy="295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20</a:t>
            </a:fld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642910" y="214290"/>
            <a:ext cx="721523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 smtClean="0">
                <a:latin typeface="Arial" pitchFamily="34" charset="0"/>
                <a:cs typeface="Arial" pitchFamily="34" charset="0"/>
              </a:rPr>
              <a:t>Example: (Underdamped condition)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A mass weighing 16 pounds is attached to a 5-foot-long spring. At equilibrium the spring measures 8.2 feet. If the mass is initially released from rest at a point 2 feet above the equilibrium position, find the displacements x(t) if it is further known that the surrounding medium offers a resistance numerically equal to the instantaneous velocity.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21</a:t>
            </a:fld>
            <a:endParaRPr lang="en-A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1" y="357166"/>
            <a:ext cx="4487987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928662" y="928670"/>
            <a:ext cx="76438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Consider the motion in Example 1 (of free oscillation) change if we change the damping constant </a:t>
            </a:r>
            <a:r>
              <a:rPr lang="en-AU" i="1" dirty="0" smtClean="0"/>
              <a:t>c from one to another of the</a:t>
            </a:r>
          </a:p>
          <a:p>
            <a:r>
              <a:rPr lang="en-AU" dirty="0" smtClean="0"/>
              <a:t>following three values</a:t>
            </a:r>
            <a:endParaRPr lang="en-AU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>
            <a:lum bright="-16000" contrast="19000"/>
          </a:blip>
          <a:srcRect/>
          <a:stretch>
            <a:fillRect/>
          </a:stretch>
        </p:blipFill>
        <p:spPr bwMode="auto">
          <a:xfrm>
            <a:off x="1071539" y="2064078"/>
            <a:ext cx="6286544" cy="364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lum bright="-19000" contrast="29000"/>
          </a:blip>
          <a:srcRect/>
          <a:stretch>
            <a:fillRect/>
          </a:stretch>
        </p:blipFill>
        <p:spPr bwMode="auto">
          <a:xfrm>
            <a:off x="428596" y="2977376"/>
            <a:ext cx="8203464" cy="88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>
            <a:lum bright="-19000" contrast="29000"/>
          </a:blip>
          <a:srcRect/>
          <a:stretch>
            <a:fillRect/>
          </a:stretch>
        </p:blipFill>
        <p:spPr bwMode="auto">
          <a:xfrm>
            <a:off x="785785" y="4071942"/>
            <a:ext cx="7347909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>
            <a:lum bright="-19000" contrast="29000"/>
          </a:blip>
          <a:srcRect/>
          <a:stretch>
            <a:fillRect/>
          </a:stretch>
        </p:blipFill>
        <p:spPr bwMode="auto">
          <a:xfrm>
            <a:off x="857224" y="4572008"/>
            <a:ext cx="2786082" cy="311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7" cstate="print">
            <a:lum bright="-19000" contrast="29000"/>
          </a:blip>
          <a:srcRect/>
          <a:stretch>
            <a:fillRect/>
          </a:stretch>
        </p:blipFill>
        <p:spPr bwMode="auto">
          <a:xfrm>
            <a:off x="2000232" y="5000635"/>
            <a:ext cx="2571768" cy="475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00562" y="5000636"/>
            <a:ext cx="402492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9" cstate="print">
            <a:lum bright="-19000" contrast="29000"/>
          </a:blip>
          <a:srcRect/>
          <a:stretch>
            <a:fillRect/>
          </a:stretch>
        </p:blipFill>
        <p:spPr bwMode="auto">
          <a:xfrm>
            <a:off x="1142976" y="5572140"/>
            <a:ext cx="6900874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10" cstate="print">
            <a:lum bright="-19000" contrast="29000"/>
          </a:blip>
          <a:srcRect/>
          <a:stretch>
            <a:fillRect/>
          </a:stretch>
        </p:blipFill>
        <p:spPr bwMode="auto">
          <a:xfrm>
            <a:off x="2928926" y="6072206"/>
            <a:ext cx="3143272" cy="50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22</a:t>
            </a:fld>
            <a:endParaRPr lang="en-A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642910" y="857232"/>
            <a:ext cx="564049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143108" y="1428736"/>
            <a:ext cx="3357586" cy="30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428860" y="1928802"/>
            <a:ext cx="2513087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143108" y="2428868"/>
            <a:ext cx="243164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1785918" y="2928934"/>
            <a:ext cx="456362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285983" y="3643314"/>
            <a:ext cx="4902125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8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1214414" y="4214818"/>
            <a:ext cx="2871792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9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4143372" y="4286256"/>
            <a:ext cx="1012038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10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3071802" y="4786322"/>
            <a:ext cx="2643206" cy="478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11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1571604" y="5572140"/>
            <a:ext cx="5955992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23</a:t>
            </a:fld>
            <a:endParaRPr lang="en-AU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642910" y="714356"/>
            <a:ext cx="487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1714480" y="1785926"/>
            <a:ext cx="509251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14414" y="1214422"/>
            <a:ext cx="7715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Since c =10 is smaller than the critical </a:t>
            </a:r>
            <a:r>
              <a:rPr lang="en-AU" i="1" dirty="0" smtClean="0"/>
              <a:t>c, we shall get </a:t>
            </a:r>
            <a:r>
              <a:rPr lang="en-AU" dirty="0" smtClean="0"/>
              <a:t>oscillations.</a:t>
            </a:r>
            <a:endParaRPr lang="en-AU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2285984" y="2214554"/>
            <a:ext cx="3929090" cy="45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2143108" y="2714620"/>
            <a:ext cx="4000528" cy="43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6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1214414" y="3429000"/>
            <a:ext cx="50006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7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571472" y="3857628"/>
            <a:ext cx="80581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8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1357290" y="4286256"/>
            <a:ext cx="36957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9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1714480" y="4714884"/>
            <a:ext cx="4676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10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1571604" y="5143512"/>
            <a:ext cx="5106055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300" name="Picture 12"/>
          <p:cNvPicPr>
            <a:picLocks noChangeAspect="1" noChangeArrowheads="1"/>
          </p:cNvPicPr>
          <p:nvPr/>
        </p:nvPicPr>
        <p:blipFill>
          <a:blip r:embed="rId11" cstate="print">
            <a:lum bright="-16000" contrast="26000"/>
          </a:blip>
          <a:srcRect/>
          <a:stretch>
            <a:fillRect/>
          </a:stretch>
        </p:blipFill>
        <p:spPr bwMode="auto">
          <a:xfrm>
            <a:off x="2000232" y="5643578"/>
            <a:ext cx="32670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24</a:t>
            </a:fld>
            <a:endParaRPr lang="en-A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9000"/>
          </a:blip>
          <a:srcRect/>
          <a:stretch>
            <a:fillRect/>
          </a:stretch>
        </p:blipFill>
        <p:spPr bwMode="auto">
          <a:xfrm>
            <a:off x="714348" y="1500174"/>
            <a:ext cx="6796113" cy="3865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1142976" y="928669"/>
            <a:ext cx="5715040" cy="308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857488" y="1214421"/>
            <a:ext cx="4214842" cy="261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928926" y="1571612"/>
            <a:ext cx="5072098" cy="235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 cstate="print">
            <a:lum bright="-17000" contrast="31000"/>
          </a:blip>
          <a:srcRect/>
          <a:stretch>
            <a:fillRect/>
          </a:stretch>
        </p:blipFill>
        <p:spPr bwMode="auto">
          <a:xfrm>
            <a:off x="2928926" y="1857364"/>
            <a:ext cx="284509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259</TotalTime>
  <Words>680</Words>
  <Application>Microsoft Office PowerPoint</Application>
  <PresentationFormat>On-screen Show (4:3)</PresentationFormat>
  <Paragraphs>81</Paragraphs>
  <Slides>24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Flow</vt:lpstr>
      <vt:lpstr>Equation</vt:lpstr>
      <vt:lpstr> MAT 350 Engineering mathematics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 350 Engineering mathematics</dc:title>
  <dc:creator>NSU</dc:creator>
  <cp:lastModifiedBy>NSU</cp:lastModifiedBy>
  <cp:revision>50</cp:revision>
  <dcterms:created xsi:type="dcterms:W3CDTF">2015-09-20T06:45:59Z</dcterms:created>
  <dcterms:modified xsi:type="dcterms:W3CDTF">2018-06-12T03:12:32Z</dcterms:modified>
</cp:coreProperties>
</file>