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handoutMasterIdLst>
    <p:handoutMasterId r:id="rId29"/>
  </p:handoutMasterIdLst>
  <p:sldIdLst>
    <p:sldId id="256" r:id="rId2"/>
    <p:sldId id="268" r:id="rId3"/>
    <p:sldId id="269" r:id="rId4"/>
    <p:sldId id="270" r:id="rId5"/>
    <p:sldId id="267" r:id="rId6"/>
    <p:sldId id="271" r:id="rId7"/>
    <p:sldId id="272" r:id="rId8"/>
    <p:sldId id="273" r:id="rId9"/>
    <p:sldId id="274" r:id="rId10"/>
    <p:sldId id="257" r:id="rId11"/>
    <p:sldId id="258" r:id="rId12"/>
    <p:sldId id="277" r:id="rId13"/>
    <p:sldId id="27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83" r:id="rId23"/>
    <p:sldId id="284" r:id="rId24"/>
    <p:sldId id="285" r:id="rId25"/>
    <p:sldId id="286" r:id="rId26"/>
    <p:sldId id="287" r:id="rId27"/>
    <p:sldId id="288" r:id="rId28"/>
  </p:sldIdLst>
  <p:sldSz cx="9144000" cy="6858000" type="screen4x3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97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3B537-2AF7-442B-851A-C3E234E3E9FF}" type="datetimeFigureOut">
              <a:rPr lang="en-US" smtClean="0"/>
              <a:pPr/>
              <a:t>7/22/2018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ED0DC-B954-4703-A39F-C60B99E70A48}" type="slidenum">
              <a:rPr lang="en-AU" smtClean="0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7/22/2018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7/22/2018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7/22/2018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7/22/2018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2143108" y="500042"/>
            <a:ext cx="6172200" cy="1894362"/>
          </a:xfrm>
          <a:prstGeom prst="rect">
            <a:avLst/>
          </a:prstGeom>
        </p:spPr>
        <p:txBody>
          <a:bodyPr vert="horz" anchor="b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MAT 350</a:t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Engineering mathematics</a:t>
            </a: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86000" y="5334000"/>
            <a:ext cx="6172200" cy="109267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Dr. M.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Sahadet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Hossain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Mth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)</a:t>
            </a:r>
          </a:p>
          <a:p>
            <a:pPr lvl="0">
              <a:buClr>
                <a:schemeClr val="accent1"/>
              </a:buClr>
              <a:buSzPct val="70000"/>
              <a:defRPr/>
            </a:pPr>
            <a:r>
              <a:rPr lang="en-US" dirty="0" smtClean="0">
                <a:solidFill>
                  <a:srgbClr val="FFFF00"/>
                </a:solidFill>
                <a:latin typeface="Berlin Sans FB" pitchFamily="34" charset="0"/>
              </a:rPr>
              <a:t>Associate Professor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erlin Sans FB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Department of Mathematics and Physics, NSU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erlin Sans FB" pitchFamily="34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67744" y="2780928"/>
            <a:ext cx="52864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Laplace and Inverse Laplace</a:t>
            </a:r>
            <a:endParaRPr lang="en-AU" sz="2400" b="1" dirty="0">
              <a:solidFill>
                <a:srgbClr val="7030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43174" y="4286256"/>
            <a:ext cx="3786214" cy="400110"/>
          </a:xfrm>
          <a:prstGeom prst="rect">
            <a:avLst/>
          </a:prstGeom>
          <a:solidFill>
            <a:srgbClr val="00B0F0">
              <a:alpha val="94000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2000" b="1" dirty="0" smtClean="0">
                <a:solidFill>
                  <a:srgbClr val="FF0000"/>
                </a:solidFill>
              </a:rPr>
              <a:t>Lecture: 9</a:t>
            </a:r>
            <a:endParaRPr lang="en-AU" sz="20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39752" y="3284984"/>
            <a:ext cx="5019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Lecture: Handworks. Here only few problems</a:t>
            </a:r>
          </a:p>
          <a:p>
            <a:endParaRPr lang="en-A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lum bright="-14000" contrast="21000"/>
          </a:blip>
          <a:srcRect/>
          <a:stretch>
            <a:fillRect/>
          </a:stretch>
        </p:blipFill>
        <p:spPr bwMode="auto">
          <a:xfrm>
            <a:off x="571472" y="1142984"/>
            <a:ext cx="7794292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10" y="571480"/>
            <a:ext cx="1971160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lum bright="-13000" contrast="6000"/>
          </a:blip>
          <a:srcRect/>
          <a:stretch>
            <a:fillRect/>
          </a:stretch>
        </p:blipFill>
        <p:spPr bwMode="auto">
          <a:xfrm>
            <a:off x="285720" y="3286124"/>
            <a:ext cx="8202024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857232"/>
            <a:ext cx="8375165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785918" y="1428736"/>
            <a:ext cx="392909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00232" y="1500174"/>
            <a:ext cx="564360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solidFill>
                  <a:srgbClr val="FF0000"/>
                </a:solidFill>
              </a:rPr>
              <a:t>More </a:t>
            </a:r>
          </a:p>
          <a:p>
            <a:r>
              <a:rPr lang="en-AU" sz="4400" dirty="0" smtClean="0">
                <a:solidFill>
                  <a:srgbClr val="FF0000"/>
                </a:solidFill>
              </a:rPr>
              <a:t>Exercises </a:t>
            </a:r>
          </a:p>
          <a:p>
            <a:r>
              <a:rPr lang="en-AU" sz="4400" dirty="0" smtClean="0">
                <a:solidFill>
                  <a:srgbClr val="FF0000"/>
                </a:solidFill>
              </a:rPr>
              <a:t>on board</a:t>
            </a:r>
            <a:endParaRPr lang="en-AU" sz="4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14000" contrast="20000"/>
          </a:blip>
          <a:srcRect/>
          <a:stretch>
            <a:fillRect/>
          </a:stretch>
        </p:blipFill>
        <p:spPr bwMode="auto">
          <a:xfrm>
            <a:off x="571472" y="642918"/>
            <a:ext cx="7356883" cy="3690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71538" y="1000108"/>
            <a:ext cx="650085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DEFINITION : </a:t>
            </a:r>
            <a:r>
              <a:rPr lang="en-AU" b="1" dirty="0" smtClean="0"/>
              <a:t>Exponential Order</a:t>
            </a:r>
          </a:p>
          <a:p>
            <a:endParaRPr lang="en-AU" b="1" dirty="0" smtClean="0"/>
          </a:p>
          <a:p>
            <a:r>
              <a:rPr lang="en-AU" dirty="0" smtClean="0"/>
              <a:t>A function </a:t>
            </a:r>
            <a:r>
              <a:rPr lang="en-AU" i="1" dirty="0" smtClean="0"/>
              <a:t>f is said to be of </a:t>
            </a:r>
            <a:r>
              <a:rPr lang="en-AU" b="1" i="1" dirty="0" smtClean="0">
                <a:solidFill>
                  <a:srgbClr val="FF0000"/>
                </a:solidFill>
              </a:rPr>
              <a:t>exponential order </a:t>
            </a:r>
            <a:r>
              <a:rPr lang="en-AU" i="1" dirty="0" smtClean="0"/>
              <a:t>if there exist constants</a:t>
            </a:r>
            <a:r>
              <a:rPr lang="en-AU" b="1" i="1" dirty="0" smtClean="0"/>
              <a:t> </a:t>
            </a:r>
            <a:r>
              <a:rPr lang="en-AU" i="1" dirty="0" smtClean="0"/>
              <a:t>c, M&gt; 0, and T&gt; 0 such  </a:t>
            </a:r>
          </a:p>
          <a:p>
            <a:endParaRPr lang="en-AU" i="1" dirty="0" smtClean="0"/>
          </a:p>
          <a:p>
            <a:endParaRPr lang="en-AU" i="1" dirty="0" smtClean="0"/>
          </a:p>
          <a:p>
            <a:r>
              <a:rPr lang="en-AU" i="1" dirty="0" smtClean="0"/>
              <a:t>for all t&gt; T.</a:t>
            </a:r>
            <a:endParaRPr lang="en-AU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>
            <a:lum bright="-11000" contrast="26000"/>
          </a:blip>
          <a:srcRect/>
          <a:stretch>
            <a:fillRect/>
          </a:stretch>
        </p:blipFill>
        <p:spPr bwMode="auto">
          <a:xfrm>
            <a:off x="2643174" y="2214554"/>
            <a:ext cx="16668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043608" y="3717032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Properties of Laplace Transform :</a:t>
            </a:r>
            <a:endParaRPr lang="en-AU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18000" contrast="25000"/>
          </a:blip>
          <a:srcRect/>
          <a:stretch>
            <a:fillRect/>
          </a:stretch>
        </p:blipFill>
        <p:spPr bwMode="auto">
          <a:xfrm>
            <a:off x="2357422" y="1214422"/>
            <a:ext cx="1785950" cy="365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lum bright="-18000" contrast="25000"/>
          </a:blip>
          <a:srcRect/>
          <a:stretch>
            <a:fillRect/>
          </a:stretch>
        </p:blipFill>
        <p:spPr bwMode="auto">
          <a:xfrm>
            <a:off x="2571736" y="1857364"/>
            <a:ext cx="2000264" cy="368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03648" y="2636912"/>
            <a:ext cx="5094328" cy="3012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043608" y="548680"/>
            <a:ext cx="6572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Inverse Laplace Transforms:</a:t>
            </a:r>
            <a:endParaRPr lang="en-AU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642918"/>
            <a:ext cx="8249254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14" y="785794"/>
            <a:ext cx="299300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8794" y="1428736"/>
            <a:ext cx="5268988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29058" y="2000240"/>
            <a:ext cx="2062384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71538" y="2643182"/>
            <a:ext cx="2786082" cy="794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85852" y="3571876"/>
            <a:ext cx="4429156" cy="139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71802" y="5143512"/>
            <a:ext cx="4634994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143240" y="6000768"/>
            <a:ext cx="2714644" cy="438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20000" contrast="36000"/>
          </a:blip>
          <a:srcRect/>
          <a:stretch>
            <a:fillRect/>
          </a:stretch>
        </p:blipFill>
        <p:spPr bwMode="auto">
          <a:xfrm>
            <a:off x="1571604" y="1500174"/>
            <a:ext cx="5111786" cy="500066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14348" y="1071546"/>
            <a:ext cx="22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Problem:</a:t>
            </a:r>
            <a:endParaRPr lang="en-AU" dirty="0"/>
          </a:p>
        </p:txBody>
      </p:sp>
      <p:grpSp>
        <p:nvGrpSpPr>
          <p:cNvPr id="7" name="Group 6"/>
          <p:cNvGrpSpPr/>
          <p:nvPr/>
        </p:nvGrpSpPr>
        <p:grpSpPr>
          <a:xfrm>
            <a:off x="394352" y="2285992"/>
            <a:ext cx="7947113" cy="3867169"/>
            <a:chOff x="394352" y="2285992"/>
            <a:chExt cx="7947113" cy="3867169"/>
          </a:xfrm>
        </p:grpSpPr>
        <p:sp>
          <p:nvSpPr>
            <p:cNvPr id="8" name="TextBox 7"/>
            <p:cNvSpPr txBox="1"/>
            <p:nvPr/>
          </p:nvSpPr>
          <p:spPr>
            <a:xfrm>
              <a:off x="714348" y="2285992"/>
              <a:ext cx="22145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Solution: Hints</a:t>
              </a:r>
              <a:endParaRPr lang="en-AU" dirty="0"/>
            </a:p>
          </p:txBody>
        </p:sp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3" cstate="print">
              <a:lum bright="-24000" contrast="43000"/>
            </a:blip>
            <a:srcRect/>
            <a:stretch>
              <a:fillRect/>
            </a:stretch>
          </p:blipFill>
          <p:spPr bwMode="auto">
            <a:xfrm>
              <a:off x="394352" y="3000372"/>
              <a:ext cx="7947113" cy="31527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lum bright="-21000" contrast="36000"/>
          </a:blip>
          <a:srcRect/>
          <a:stretch>
            <a:fillRect/>
          </a:stretch>
        </p:blipFill>
        <p:spPr bwMode="auto">
          <a:xfrm>
            <a:off x="714348" y="857232"/>
            <a:ext cx="7301890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lum bright="-21000" contrast="36000"/>
          </a:blip>
          <a:srcRect/>
          <a:stretch>
            <a:fillRect/>
          </a:stretch>
        </p:blipFill>
        <p:spPr bwMode="auto">
          <a:xfrm>
            <a:off x="1000100" y="2357430"/>
            <a:ext cx="7013913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3714744" y="285728"/>
            <a:ext cx="4655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(for partial fraction, see the class lecture).</a:t>
            </a:r>
            <a:endParaRPr lang="en-AU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lum bright="-21000" contrast="36000"/>
          </a:blip>
          <a:srcRect/>
          <a:stretch>
            <a:fillRect/>
          </a:stretch>
        </p:blipFill>
        <p:spPr bwMode="auto">
          <a:xfrm>
            <a:off x="2285984" y="3571875"/>
            <a:ext cx="3571900" cy="465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lum bright="-21000" contrast="36000"/>
          </a:blip>
          <a:srcRect/>
          <a:stretch>
            <a:fillRect/>
          </a:stretch>
        </p:blipFill>
        <p:spPr bwMode="auto">
          <a:xfrm>
            <a:off x="2143108" y="4214818"/>
            <a:ext cx="4643470" cy="640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>
            <a:lum bright="-21000" contrast="36000"/>
          </a:blip>
          <a:srcRect/>
          <a:stretch>
            <a:fillRect/>
          </a:stretch>
        </p:blipFill>
        <p:spPr bwMode="auto">
          <a:xfrm>
            <a:off x="2000232" y="5072074"/>
            <a:ext cx="4786346" cy="733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857232"/>
            <a:ext cx="5759689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85786" y="285728"/>
            <a:ext cx="335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Exercise 7.2 (9</a:t>
            </a:r>
            <a:r>
              <a:rPr lang="en-AU" baseline="30000" dirty="0" smtClean="0"/>
              <a:t>th</a:t>
            </a:r>
            <a:r>
              <a:rPr lang="en-AU" dirty="0" smtClean="0"/>
              <a:t> Edition)</a:t>
            </a:r>
            <a:endParaRPr lang="en-A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00166" y="1928802"/>
            <a:ext cx="4619625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0100" y="2571744"/>
            <a:ext cx="54292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71670" y="3786190"/>
            <a:ext cx="4941128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28728" y="3429000"/>
            <a:ext cx="1952625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71736" y="5000636"/>
            <a:ext cx="2714644" cy="886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525974" y="3400864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Solving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785786" y="4714884"/>
            <a:ext cx="4643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Inverse Laplace hence gives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5" y="642918"/>
            <a:ext cx="6750891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1" name="Group 10"/>
          <p:cNvGrpSpPr/>
          <p:nvPr/>
        </p:nvGrpSpPr>
        <p:grpSpPr>
          <a:xfrm>
            <a:off x="714348" y="1357298"/>
            <a:ext cx="7102441" cy="4786346"/>
            <a:chOff x="714348" y="1357298"/>
            <a:chExt cx="7102441" cy="4786346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14348" y="1357298"/>
              <a:ext cx="4714908" cy="3634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4" name="Picture 6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071538" y="1857364"/>
              <a:ext cx="6745251" cy="6429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5" name="Picture 7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428860" y="2786058"/>
              <a:ext cx="2112524" cy="357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6" name="Picture 8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571604" y="3357562"/>
              <a:ext cx="5895451" cy="6429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7" name="Picture 9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714611" y="4286256"/>
              <a:ext cx="4891687" cy="7143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8" name="Picture 10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928925" y="5357826"/>
              <a:ext cx="3435147" cy="7858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3" name="TextBox 12"/>
            <p:cNvSpPr txBox="1"/>
            <p:nvPr/>
          </p:nvSpPr>
          <p:spPr>
            <a:xfrm>
              <a:off x="1214414" y="2786058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Solving</a:t>
              </a:r>
              <a:endParaRPr lang="en-AU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14348" y="5143512"/>
              <a:ext cx="4643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The Inverse Laplace hence gives</a:t>
              </a:r>
              <a:endParaRPr lang="en-AU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357166"/>
            <a:ext cx="44767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00" y="1214422"/>
            <a:ext cx="38290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lum bright="-16000" contrast="30000"/>
          </a:blip>
          <a:srcRect/>
          <a:stretch>
            <a:fillRect/>
          </a:stretch>
        </p:blipFill>
        <p:spPr bwMode="auto">
          <a:xfrm>
            <a:off x="1428728" y="1928802"/>
            <a:ext cx="5500726" cy="1387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>
            <a:lum bright="-16000" contrast="30000"/>
          </a:blip>
          <a:srcRect/>
          <a:stretch>
            <a:fillRect/>
          </a:stretch>
        </p:blipFill>
        <p:spPr bwMode="auto">
          <a:xfrm>
            <a:off x="571472" y="3714752"/>
            <a:ext cx="7134183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 cstate="print">
            <a:lum bright="-27000" contrast="52000"/>
          </a:blip>
          <a:srcRect/>
          <a:stretch>
            <a:fillRect/>
          </a:stretch>
        </p:blipFill>
        <p:spPr bwMode="auto">
          <a:xfrm>
            <a:off x="2000232" y="5500702"/>
            <a:ext cx="4060036" cy="642942"/>
          </a:xfrm>
          <a:prstGeom prst="rect">
            <a:avLst/>
          </a:prstGeom>
          <a:noFill/>
          <a:ln w="22225">
            <a:solidFill>
              <a:srgbClr val="0070C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lum bright="-20000" contrast="35000"/>
          </a:blip>
          <a:srcRect/>
          <a:stretch>
            <a:fillRect/>
          </a:stretch>
        </p:blipFill>
        <p:spPr bwMode="auto">
          <a:xfrm>
            <a:off x="571472" y="428604"/>
            <a:ext cx="4648200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lum bright="-20000" contrast="35000"/>
          </a:blip>
          <a:srcRect/>
          <a:stretch>
            <a:fillRect/>
          </a:stretch>
        </p:blipFill>
        <p:spPr bwMode="auto">
          <a:xfrm>
            <a:off x="357158" y="1428736"/>
            <a:ext cx="8195806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428603"/>
            <a:ext cx="3071834" cy="338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lum bright="-20000" contrast="38000"/>
          </a:blip>
          <a:srcRect/>
          <a:stretch>
            <a:fillRect/>
          </a:stretch>
        </p:blipFill>
        <p:spPr bwMode="auto">
          <a:xfrm>
            <a:off x="1643043" y="928670"/>
            <a:ext cx="5000660" cy="602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>
            <a:lum bright="-17000" contrast="28000"/>
          </a:blip>
          <a:srcRect/>
          <a:stretch>
            <a:fillRect/>
          </a:stretch>
        </p:blipFill>
        <p:spPr bwMode="auto">
          <a:xfrm>
            <a:off x="714347" y="1714488"/>
            <a:ext cx="6302245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>
            <a:lum bright="-17000" contrast="28000"/>
          </a:blip>
          <a:srcRect/>
          <a:stretch>
            <a:fillRect/>
          </a:stretch>
        </p:blipFill>
        <p:spPr bwMode="auto">
          <a:xfrm>
            <a:off x="2214545" y="3214686"/>
            <a:ext cx="3699893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 cstate="print">
            <a:lum bright="-17000" contrast="28000"/>
          </a:blip>
          <a:srcRect/>
          <a:stretch>
            <a:fillRect/>
          </a:stretch>
        </p:blipFill>
        <p:spPr bwMode="auto">
          <a:xfrm>
            <a:off x="2143108" y="4102834"/>
            <a:ext cx="3286148" cy="754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 cstate="print">
            <a:lum bright="-17000" contrast="28000"/>
          </a:blip>
          <a:srcRect/>
          <a:stretch>
            <a:fillRect/>
          </a:stretch>
        </p:blipFill>
        <p:spPr bwMode="auto">
          <a:xfrm>
            <a:off x="1571604" y="5214950"/>
            <a:ext cx="5286412" cy="778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071538" y="3143248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Sol. (a)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lum bright="-15000" contrast="32000"/>
          </a:blip>
          <a:srcRect/>
          <a:stretch>
            <a:fillRect/>
          </a:stretch>
        </p:blipFill>
        <p:spPr bwMode="auto">
          <a:xfrm>
            <a:off x="642910" y="714356"/>
            <a:ext cx="7784739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lum bright="-15000" contrast="32000"/>
          </a:blip>
          <a:srcRect/>
          <a:stretch>
            <a:fillRect/>
          </a:stretch>
        </p:blipFill>
        <p:spPr bwMode="auto">
          <a:xfrm>
            <a:off x="2357422" y="2857496"/>
            <a:ext cx="4143404" cy="894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357290" y="2285992"/>
            <a:ext cx="292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Finally,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lum bright="-25000" contrast="39000"/>
          </a:blip>
          <a:srcRect/>
          <a:stretch>
            <a:fillRect/>
          </a:stretch>
        </p:blipFill>
        <p:spPr bwMode="auto">
          <a:xfrm>
            <a:off x="714348" y="571480"/>
            <a:ext cx="5286412" cy="107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" name="Group 4"/>
          <p:cNvGrpSpPr/>
          <p:nvPr/>
        </p:nvGrpSpPr>
        <p:grpSpPr>
          <a:xfrm>
            <a:off x="1357289" y="2000240"/>
            <a:ext cx="6672309" cy="3661613"/>
            <a:chOff x="1357289" y="2000240"/>
            <a:chExt cx="6672309" cy="3661613"/>
          </a:xfrm>
        </p:grpSpPr>
        <p:pic>
          <p:nvPicPr>
            <p:cNvPr id="7171" name="Picture 3"/>
            <p:cNvPicPr>
              <a:picLocks noChangeAspect="1" noChangeArrowheads="1"/>
            </p:cNvPicPr>
            <p:nvPr/>
          </p:nvPicPr>
          <p:blipFill>
            <a:blip r:embed="rId3" cstate="print">
              <a:lum bright="-25000" contrast="39000"/>
            </a:blip>
            <a:srcRect/>
            <a:stretch>
              <a:fillRect/>
            </a:stretch>
          </p:blipFill>
          <p:spPr bwMode="auto">
            <a:xfrm>
              <a:off x="1357289" y="2000240"/>
              <a:ext cx="6672309" cy="1214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172" name="Picture 4"/>
            <p:cNvPicPr>
              <a:picLocks noChangeAspect="1" noChangeArrowheads="1"/>
            </p:cNvPicPr>
            <p:nvPr/>
          </p:nvPicPr>
          <p:blipFill>
            <a:blip r:embed="rId4" cstate="print">
              <a:lum bright="-25000" contrast="39000"/>
            </a:blip>
            <a:srcRect/>
            <a:stretch>
              <a:fillRect/>
            </a:stretch>
          </p:blipFill>
          <p:spPr bwMode="auto">
            <a:xfrm>
              <a:off x="2786050" y="3286124"/>
              <a:ext cx="4643470" cy="23757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lum bright="-21000" contrast="38000"/>
          </a:blip>
          <a:srcRect/>
          <a:stretch>
            <a:fillRect/>
          </a:stretch>
        </p:blipFill>
        <p:spPr bwMode="auto">
          <a:xfrm>
            <a:off x="2357422" y="1214422"/>
            <a:ext cx="4101070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>
            <a:lum bright="-21000" contrast="38000"/>
          </a:blip>
          <a:srcRect/>
          <a:stretch>
            <a:fillRect/>
          </a:stretch>
        </p:blipFill>
        <p:spPr bwMode="auto">
          <a:xfrm>
            <a:off x="785786" y="2285992"/>
            <a:ext cx="7529565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>
            <a:lum bright="-21000" contrast="38000"/>
          </a:blip>
          <a:srcRect/>
          <a:stretch>
            <a:fillRect/>
          </a:stretch>
        </p:blipFill>
        <p:spPr bwMode="auto">
          <a:xfrm>
            <a:off x="1571604" y="3643314"/>
            <a:ext cx="6212411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 cstate="print">
            <a:lum bright="-21000" contrast="38000"/>
          </a:blip>
          <a:srcRect/>
          <a:stretch>
            <a:fillRect/>
          </a:stretch>
        </p:blipFill>
        <p:spPr bwMode="auto">
          <a:xfrm>
            <a:off x="2571736" y="5000636"/>
            <a:ext cx="3337650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857224" y="714356"/>
            <a:ext cx="4572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Using partial fraction: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000100" y="3143248"/>
            <a:ext cx="24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We know,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857224" y="4929198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Hence: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428604"/>
            <a:ext cx="3231196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>
            <a:lum bright="-24000" contrast="39000"/>
          </a:blip>
          <a:srcRect/>
          <a:stretch>
            <a:fillRect/>
          </a:stretch>
        </p:blipFill>
        <p:spPr bwMode="auto">
          <a:xfrm>
            <a:off x="1571604" y="1214422"/>
            <a:ext cx="5307423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 cstate="print">
            <a:lum bright="-24000" contrast="39000"/>
          </a:blip>
          <a:srcRect/>
          <a:stretch>
            <a:fillRect/>
          </a:stretch>
        </p:blipFill>
        <p:spPr bwMode="auto">
          <a:xfrm>
            <a:off x="1214414" y="3357561"/>
            <a:ext cx="5925782" cy="1537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571868" y="400050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&gt;</a:t>
            </a:r>
            <a:endParaRPr lang="en-AU" dirty="0"/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5" cstate="print">
            <a:lum bright="-23000" contrast="37000"/>
          </a:blip>
          <a:srcRect/>
          <a:stretch>
            <a:fillRect/>
          </a:stretch>
        </p:blipFill>
        <p:spPr bwMode="auto">
          <a:xfrm>
            <a:off x="2285985" y="5482968"/>
            <a:ext cx="4071966" cy="451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071538" y="5072074"/>
            <a:ext cx="24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For inverse: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lum bright="-16000" contrast="31000"/>
          </a:blip>
          <a:srcRect/>
          <a:stretch>
            <a:fillRect/>
          </a:stretch>
        </p:blipFill>
        <p:spPr bwMode="auto">
          <a:xfrm>
            <a:off x="1000100" y="642918"/>
            <a:ext cx="6286544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>
            <a:lum bright="-16000" contrast="31000"/>
          </a:blip>
          <a:srcRect/>
          <a:stretch>
            <a:fillRect/>
          </a:stretch>
        </p:blipFill>
        <p:spPr bwMode="auto">
          <a:xfrm>
            <a:off x="642910" y="2143116"/>
            <a:ext cx="8029032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/>
          <p:cNvGrpSpPr/>
          <p:nvPr/>
        </p:nvGrpSpPr>
        <p:grpSpPr>
          <a:xfrm>
            <a:off x="785786" y="1928802"/>
            <a:ext cx="6901786" cy="3718820"/>
            <a:chOff x="1000100" y="1714488"/>
            <a:chExt cx="6901786" cy="371882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28" y="2428868"/>
              <a:ext cx="5652532" cy="4286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000100" y="3071810"/>
              <a:ext cx="6901786" cy="6429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357290" y="3643314"/>
              <a:ext cx="2928958" cy="409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786050" y="4000504"/>
              <a:ext cx="2428892" cy="777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071802" y="4786322"/>
              <a:ext cx="2286016" cy="6469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9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1142976" y="1714488"/>
              <a:ext cx="5750759" cy="5000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0" name="Rectangle 9"/>
          <p:cNvSpPr/>
          <p:nvPr/>
        </p:nvSpPr>
        <p:spPr>
          <a:xfrm>
            <a:off x="500034" y="500042"/>
            <a:ext cx="70723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Exercise 7.3</a:t>
            </a:r>
          </a:p>
          <a:p>
            <a:r>
              <a:rPr lang="en-AU" dirty="0" smtClean="0"/>
              <a:t>Use the Laplace transform to solve the given initial-value problem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428596" y="2357430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Solution:</a:t>
            </a:r>
            <a:endParaRPr lang="en-AU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>
            <a:off x="928662" y="1357298"/>
            <a:ext cx="6992986" cy="4379263"/>
            <a:chOff x="928662" y="1357298"/>
            <a:chExt cx="6992986" cy="4379263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000099" y="1357298"/>
              <a:ext cx="5408877" cy="357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357290" y="1857364"/>
              <a:ext cx="6221600" cy="5715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000099" y="2500306"/>
              <a:ext cx="2949969" cy="4286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101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928926" y="2928934"/>
              <a:ext cx="2143140" cy="7540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102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714744" y="3643314"/>
              <a:ext cx="4206904" cy="7143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103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286116" y="5000636"/>
              <a:ext cx="3143272" cy="735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0" name="TextBox 9"/>
            <p:cNvSpPr txBox="1"/>
            <p:nvPr/>
          </p:nvSpPr>
          <p:spPr>
            <a:xfrm>
              <a:off x="928662" y="4500570"/>
              <a:ext cx="4643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The Inverse Laplace then gives</a:t>
              </a:r>
              <a:endParaRPr lang="en-AU" dirty="0"/>
            </a:p>
          </p:txBody>
        </p:sp>
      </p:grp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14348" y="500042"/>
            <a:ext cx="6375842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285720" y="1071546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Solution:</a:t>
            </a:r>
            <a:endParaRPr lang="en-AU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3" y="571480"/>
            <a:ext cx="5334037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11"/>
          <p:cNvGrpSpPr/>
          <p:nvPr/>
        </p:nvGrpSpPr>
        <p:grpSpPr>
          <a:xfrm>
            <a:off x="571472" y="1428736"/>
            <a:ext cx="7197671" cy="5009110"/>
            <a:chOff x="571472" y="1428736"/>
            <a:chExt cx="7197671" cy="5009110"/>
          </a:xfrm>
        </p:grpSpPr>
        <p:pic>
          <p:nvPicPr>
            <p:cNvPr id="5123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71472" y="1428736"/>
              <a:ext cx="5706110" cy="4286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124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928662" y="2071678"/>
              <a:ext cx="6429420" cy="6562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125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42910" y="2786058"/>
              <a:ext cx="3345680" cy="5000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126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357422" y="3357562"/>
              <a:ext cx="2857520" cy="8025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127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143240" y="4286256"/>
              <a:ext cx="4625903" cy="7143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0" name="TextBox 9"/>
            <p:cNvSpPr txBox="1"/>
            <p:nvPr/>
          </p:nvSpPr>
          <p:spPr>
            <a:xfrm>
              <a:off x="642910" y="5143512"/>
              <a:ext cx="46434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The Inverse Laplace then gives</a:t>
              </a:r>
              <a:endParaRPr lang="en-AU" dirty="0"/>
            </a:p>
          </p:txBody>
        </p:sp>
        <p:pic>
          <p:nvPicPr>
            <p:cNvPr id="5128" name="Picture 8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143240" y="5572140"/>
              <a:ext cx="3500462" cy="8657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3" name="TextBox 12"/>
          <p:cNvSpPr txBox="1"/>
          <p:nvPr/>
        </p:nvSpPr>
        <p:spPr>
          <a:xfrm>
            <a:off x="357158" y="1142984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Solution:</a:t>
            </a:r>
            <a:endParaRPr lang="en-AU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571472" y="285728"/>
            <a:ext cx="6143668" cy="2864532"/>
            <a:chOff x="571472" y="285728"/>
            <a:chExt cx="6143668" cy="2864532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71472" y="285728"/>
              <a:ext cx="6143668" cy="2856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TextBox 4"/>
            <p:cNvSpPr txBox="1"/>
            <p:nvPr/>
          </p:nvSpPr>
          <p:spPr>
            <a:xfrm>
              <a:off x="1331640" y="2780928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=</a:t>
              </a:r>
              <a:endParaRPr lang="en-AU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57158" y="3286124"/>
            <a:ext cx="8586240" cy="2857520"/>
            <a:chOff x="357158" y="3286124"/>
            <a:chExt cx="8586240" cy="2857520"/>
          </a:xfrm>
        </p:grpSpPr>
        <p:sp>
          <p:nvSpPr>
            <p:cNvPr id="8" name="TextBox 7"/>
            <p:cNvSpPr txBox="1"/>
            <p:nvPr/>
          </p:nvSpPr>
          <p:spPr>
            <a:xfrm>
              <a:off x="6300192" y="3356992"/>
              <a:ext cx="2643206" cy="9233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Note:  </a:t>
              </a:r>
              <a:r>
                <a:rPr lang="en-AU" dirty="0" err="1" smtClean="0"/>
                <a:t>d</a:t>
              </a:r>
              <a:r>
                <a:rPr lang="en-AU" i="1" dirty="0" err="1" smtClean="0"/>
                <a:t>q</a:t>
              </a:r>
              <a:r>
                <a:rPr lang="en-AU" dirty="0" smtClean="0"/>
                <a:t>/</a:t>
              </a:r>
              <a:r>
                <a:rPr lang="en-AU" dirty="0" err="1" smtClean="0"/>
                <a:t>dt</a:t>
              </a:r>
              <a:r>
                <a:rPr lang="en-AU" dirty="0" smtClean="0"/>
                <a:t> = </a:t>
              </a:r>
              <a:r>
                <a:rPr lang="en-AU" i="1" dirty="0" err="1" smtClean="0"/>
                <a:t>i</a:t>
              </a:r>
              <a:r>
                <a:rPr lang="en-AU" dirty="0" smtClean="0"/>
                <a:t>(t</a:t>
              </a:r>
              <a:r>
                <a:rPr lang="en-AU" dirty="0" smtClean="0"/>
                <a:t>),</a:t>
              </a:r>
              <a:endParaRPr lang="en-AU" dirty="0" smtClean="0"/>
            </a:p>
            <a:p>
              <a:r>
                <a:rPr lang="en-AU" i="1" dirty="0" err="1" smtClean="0"/>
                <a:t>i</a:t>
              </a:r>
              <a:r>
                <a:rPr lang="en-AU" dirty="0" smtClean="0"/>
                <a:t>(0)=0 implies </a:t>
              </a:r>
              <a:r>
                <a:rPr lang="en-AU" dirty="0" err="1" smtClean="0"/>
                <a:t>dq</a:t>
              </a:r>
              <a:r>
                <a:rPr lang="en-AU" dirty="0" smtClean="0"/>
                <a:t>/</a:t>
              </a:r>
              <a:r>
                <a:rPr lang="en-AU" dirty="0" err="1" smtClean="0"/>
                <a:t>dt</a:t>
              </a:r>
              <a:r>
                <a:rPr lang="en-AU" dirty="0" smtClean="0"/>
                <a:t> at t=0 is </a:t>
              </a:r>
              <a:r>
                <a:rPr lang="en-AU" dirty="0" smtClean="0"/>
                <a:t>0 (zero).</a:t>
              </a:r>
              <a:endParaRPr lang="en-AU" dirty="0"/>
            </a:p>
          </p:txBody>
        </p:sp>
        <p:grpSp>
          <p:nvGrpSpPr>
            <p:cNvPr id="2" name="Group 10"/>
            <p:cNvGrpSpPr/>
            <p:nvPr/>
          </p:nvGrpSpPr>
          <p:grpSpPr>
            <a:xfrm>
              <a:off x="857224" y="3643314"/>
              <a:ext cx="5459367" cy="2500330"/>
              <a:chOff x="857224" y="3643314"/>
              <a:chExt cx="5459367" cy="2500330"/>
            </a:xfrm>
          </p:grpSpPr>
          <p:pic>
            <p:nvPicPr>
              <p:cNvPr id="6147" name="Picture 3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57224" y="3643314"/>
                <a:ext cx="3139949" cy="5000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6148" name="Picture 4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1714480" y="4214818"/>
                <a:ext cx="4550824" cy="6429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6149" name="Picture 5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857225" y="5000636"/>
                <a:ext cx="4500594" cy="41210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6150" name="Picture 6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1928794" y="5500702"/>
                <a:ext cx="4387797" cy="6429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sp>
          <p:nvSpPr>
            <p:cNvPr id="12" name="TextBox 11"/>
            <p:cNvSpPr txBox="1"/>
            <p:nvPr/>
          </p:nvSpPr>
          <p:spPr>
            <a:xfrm>
              <a:off x="357158" y="3286124"/>
              <a:ext cx="11430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>
                  <a:solidFill>
                    <a:srgbClr val="FF0000"/>
                  </a:solidFill>
                </a:rPr>
                <a:t>Solution:</a:t>
              </a:r>
              <a:endParaRPr lang="en-AU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714356"/>
            <a:ext cx="3811314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10"/>
          <p:cNvGrpSpPr/>
          <p:nvPr/>
        </p:nvGrpSpPr>
        <p:grpSpPr>
          <a:xfrm>
            <a:off x="1357290" y="1643050"/>
            <a:ext cx="6165648" cy="4305233"/>
            <a:chOff x="1500166" y="1500174"/>
            <a:chExt cx="6165648" cy="4305233"/>
          </a:xfrm>
        </p:grpSpPr>
        <p:pic>
          <p:nvPicPr>
            <p:cNvPr id="7171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857356" y="1500174"/>
              <a:ext cx="3071834" cy="6839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172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500297" y="2500306"/>
              <a:ext cx="5165517" cy="7143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7" name="TextBox 6"/>
            <p:cNvSpPr txBox="1"/>
            <p:nvPr/>
          </p:nvSpPr>
          <p:spPr>
            <a:xfrm>
              <a:off x="6929454" y="2857496"/>
              <a:ext cx="285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+</a:t>
              </a:r>
              <a:endParaRPr lang="en-AU" dirty="0"/>
            </a:p>
          </p:txBody>
        </p:sp>
        <p:pic>
          <p:nvPicPr>
            <p:cNvPr id="7173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500166" y="3643314"/>
              <a:ext cx="4929222" cy="714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174" name="Picture 6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643042" y="4786322"/>
              <a:ext cx="400050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175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285984" y="5214950"/>
              <a:ext cx="3857652" cy="5904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39752" y="2636912"/>
            <a:ext cx="58326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0" b="1" dirty="0" smtClean="0">
                <a:solidFill>
                  <a:srgbClr val="00B050"/>
                </a:solidFill>
                <a:latin typeface="Bookman Old Style" pitchFamily="18" charset="0"/>
              </a:rPr>
              <a:t>Thank You.</a:t>
            </a:r>
            <a:endParaRPr lang="en-AU" sz="6000" b="1" dirty="0">
              <a:solidFill>
                <a:srgbClr val="00B050"/>
              </a:solidFill>
              <a:latin typeface="Bookman Old Style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163</TotalTime>
  <Words>188</Words>
  <Application>Microsoft Office PowerPoint</Application>
  <PresentationFormat>On-screen Show (4:3)</PresentationFormat>
  <Paragraphs>46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Flow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NSU</dc:creator>
  <cp:lastModifiedBy>NSU</cp:lastModifiedBy>
  <cp:revision>21</cp:revision>
  <dcterms:created xsi:type="dcterms:W3CDTF">2015-11-07T07:08:14Z</dcterms:created>
  <dcterms:modified xsi:type="dcterms:W3CDTF">2018-07-22T03:40:32Z</dcterms:modified>
</cp:coreProperties>
</file>