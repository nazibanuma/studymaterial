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3" r:id="rId4"/>
    <p:sldId id="262" r:id="rId5"/>
    <p:sldId id="261" r:id="rId6"/>
    <p:sldId id="260" r:id="rId7"/>
    <p:sldId id="259" r:id="rId8"/>
    <p:sldId id="264" r:id="rId9"/>
    <p:sldId id="265" r:id="rId10"/>
    <p:sldId id="266" r:id="rId11"/>
    <p:sldId id="267" r:id="rId12"/>
    <p:sldId id="258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B1BDE-0C7C-42D2-8273-52CAABA0000F}" type="datetimeFigureOut">
              <a:rPr lang="en-US" smtClean="0"/>
              <a:pPr/>
              <a:t>10/29/2018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C3C4E-4567-418B-B354-32A61012914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268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56245-F089-4D29-BA5A-7871BEDDFB5E}" type="datetimeFigureOut">
              <a:rPr lang="en-US" smtClean="0"/>
              <a:pPr/>
              <a:t>10/29/2018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59047-9F5A-471B-8AAB-638FABAF6A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65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A7C23-D660-43D1-922A-1F1C054E0E3A}" type="datetime1">
              <a:rPr lang="en-US" smtClean="0"/>
              <a:pPr/>
              <a:t>10/29/2018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A666A2A5-3C52-4160-86A7-F5389D4C3E21}" type="datetime1">
              <a:rPr lang="en-US" smtClean="0"/>
              <a:pPr algn="r" eaLnBrk="1" latinLnBrk="0" hangingPunct="1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51046-A0B7-4D2A-A2B4-CF8BF83F4A68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5F13-E26C-412E-A874-48E772D0F902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3989B-3339-4F7B-A430-50831EBD0946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CB1A9442-9A88-4039-BB2F-D5127E29FCB1}" type="datetime1">
              <a:rPr lang="en-US" smtClean="0"/>
              <a:pPr algn="r" eaLnBrk="1" latinLnBrk="0" hangingPunct="1"/>
              <a:t>10/29/2018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5D0E2-2DA2-4244-8015-3874545D57E7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3EFF024B-2A2C-4B1D-AEED-BA0467C9E53E}" type="datetime1">
              <a:rPr lang="en-US" smtClean="0"/>
              <a:pPr algn="r" eaLnBrk="1" latinLnBrk="0" hangingPunct="1"/>
              <a:t>10/29/2018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C61E390E-8E1C-4C41-B105-CD6823CB6A54}" type="datetime1">
              <a:rPr lang="en-US" smtClean="0"/>
              <a:pPr algn="r" eaLnBrk="1" latinLnBrk="0" hangingPunct="1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8107-6B55-444D-985B-0312A8B447BD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286D-61CB-4E41-A301-2DEB1534D127}" type="datetime1">
              <a:rPr lang="en-US" smtClean="0"/>
              <a:pPr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9C979CA1-8F09-4FB8-B021-7E7773BEECEC}" type="datetime1">
              <a:rPr lang="en-US" smtClean="0"/>
              <a:pPr algn="r" eaLnBrk="1" latinLnBrk="0" hangingPunct="1"/>
              <a:t>10/29/2018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5.wmf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Higher Order ODEs</a:t>
            </a:r>
          </a:p>
          <a:p>
            <a:r>
              <a:rPr lang="en-AU" b="1" dirty="0" smtClean="0">
                <a:solidFill>
                  <a:srgbClr val="FF0000"/>
                </a:solidFill>
              </a:rPr>
              <a:t>UNDETERMINED COEFFICIENTS</a:t>
            </a:r>
          </a:p>
          <a:p>
            <a:r>
              <a:rPr lang="en-AU" sz="2000" b="1" dirty="0" smtClean="0"/>
              <a:t>Variation of parameters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</a:t>
            </a:r>
            <a:r>
              <a:rPr lang="en-AU" sz="2000" b="1" smtClean="0">
                <a:solidFill>
                  <a:srgbClr val="FF0000"/>
                </a:solidFill>
              </a:rPr>
              <a:t>:  7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2714611" y="928670"/>
            <a:ext cx="423311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2857488" y="2000240"/>
            <a:ext cx="341743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714480" y="1428736"/>
            <a:ext cx="4727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By dividing by the leading coefficient a</a:t>
            </a:r>
            <a:r>
              <a:rPr lang="en-AU" baseline="-25000" dirty="0" smtClean="0"/>
              <a:t>2</a:t>
            </a:r>
            <a:r>
              <a:rPr lang="en-AU" dirty="0" smtClean="0"/>
              <a:t>(x)</a:t>
            </a:r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857224" y="2643182"/>
            <a:ext cx="6715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In (2) we suppose that coefficient functions P(x), Q(x), and f(x) are continuous on some common interval I.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7215206" y="107154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(1)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215206" y="2071678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(2)</a:t>
            </a:r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2857488" y="3714752"/>
            <a:ext cx="283767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3071802" y="4429132"/>
            <a:ext cx="30670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1071538" y="5000636"/>
            <a:ext cx="5500726" cy="841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lum bright="-17000" contrast="35000"/>
          </a:blip>
          <a:srcRect/>
          <a:stretch>
            <a:fillRect/>
          </a:stretch>
        </p:blipFill>
        <p:spPr bwMode="auto">
          <a:xfrm>
            <a:off x="1142976" y="5857892"/>
            <a:ext cx="629674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2357422" y="4429132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</a:t>
            </a:r>
            <a:r>
              <a:rPr lang="en-AU" baseline="-25000" dirty="0" smtClean="0"/>
              <a:t>p</a:t>
            </a:r>
            <a:r>
              <a:rPr lang="en-AU" dirty="0" smtClean="0"/>
              <a:t>(x)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000100" y="3286124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complementary solution is.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142976" y="4143380"/>
            <a:ext cx="6357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assume that the particular solution is of the same type-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358082" y="3643314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(3)</a:t>
            </a:r>
            <a:endParaRPr lang="en-AU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2</a:t>
            </a:fld>
            <a:endParaRPr kumimoji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348" y="500042"/>
            <a:ext cx="7000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Substituting (3) and the foregoing derivatives into (2) and grouping terms yields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785786" y="1214422"/>
            <a:ext cx="6715172" cy="8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3286116" y="2071678"/>
            <a:ext cx="167799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5000628" y="2214554"/>
            <a:ext cx="1643074" cy="308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3786182" y="2643182"/>
            <a:ext cx="3071834" cy="368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19000" contrast="30000"/>
          </a:blip>
          <a:srcRect/>
          <a:stretch>
            <a:fillRect/>
          </a:stretch>
        </p:blipFill>
        <p:spPr bwMode="auto">
          <a:xfrm>
            <a:off x="2357422" y="3212386"/>
            <a:ext cx="6143668" cy="55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lum bright="-19000" contrast="30000"/>
          </a:blip>
          <a:srcRect/>
          <a:stretch>
            <a:fillRect/>
          </a:stretch>
        </p:blipFill>
        <p:spPr bwMode="auto">
          <a:xfrm>
            <a:off x="2000232" y="3959700"/>
            <a:ext cx="6429420" cy="683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 cstate="print">
            <a:lum bright="-19000" contrast="30000"/>
          </a:blip>
          <a:srcRect/>
          <a:stretch>
            <a:fillRect/>
          </a:stretch>
        </p:blipFill>
        <p:spPr bwMode="auto">
          <a:xfrm>
            <a:off x="2143108" y="5214949"/>
            <a:ext cx="5643602" cy="2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57224" y="4786322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also assume,</a:t>
            </a:r>
            <a:endParaRPr lang="en-AU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3</a:t>
            </a:fld>
            <a:endParaRPr kumimoji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24" y="571480"/>
            <a:ext cx="6786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We now have our desired two equations for </a:t>
            </a:r>
            <a:endParaRPr lang="en-AU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470400" y="3200400"/>
          <a:ext cx="20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" imgW="203040" imgH="457200" progId="">
                  <p:embed/>
                </p:oleObj>
              </mc:Choice>
              <mc:Fallback>
                <p:oleObj name="Equation" r:id="rId3" imgW="20304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3200400"/>
                        <a:ext cx="203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5572132" y="500042"/>
          <a:ext cx="428628" cy="455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5" imgW="203040" imgH="215640" progId="">
                  <p:embed/>
                </p:oleObj>
              </mc:Choice>
              <mc:Fallback>
                <p:oleObj name="Equation" r:id="rId5" imgW="203040" imgH="215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2" y="500042"/>
                        <a:ext cx="428628" cy="455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72198" y="57148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</a:t>
            </a:r>
            <a:endParaRPr lang="en-AU" dirty="0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6715140" y="500042"/>
          <a:ext cx="357190" cy="4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7" imgW="164880" imgH="215640" progId="">
                  <p:embed/>
                </p:oleObj>
              </mc:Choice>
              <mc:Fallback>
                <p:oleObj name="Equation" r:id="rId7" imgW="164880" imgH="215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40" y="500042"/>
                        <a:ext cx="357190" cy="4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9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3214678" y="1142984"/>
            <a:ext cx="2428892" cy="903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0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1142976" y="2285992"/>
            <a:ext cx="39814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1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1214414" y="2571744"/>
            <a:ext cx="38004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2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2000232" y="3071810"/>
            <a:ext cx="1214446" cy="664509"/>
          </a:xfrm>
          <a:prstGeom prst="rect">
            <a:avLst/>
          </a:prstGeom>
          <a:noFill/>
          <a:ln w="31750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857619" y="3071810"/>
            <a:ext cx="1046143" cy="642942"/>
          </a:xfrm>
          <a:prstGeom prst="rect">
            <a:avLst/>
          </a:prstGeom>
          <a:noFill/>
          <a:ln w="31750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4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928662" y="3857628"/>
            <a:ext cx="645795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500958" y="121442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(4)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500958" y="300037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(5)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7572396" y="407194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(6)</a:t>
            </a:r>
            <a:endParaRPr lang="en-AU" dirty="0"/>
          </a:p>
        </p:txBody>
      </p:sp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5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785786" y="4859288"/>
            <a:ext cx="6000792" cy="298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6786578" y="485776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(5).</a:t>
            </a:r>
            <a:endParaRPr lang="en-AU" dirty="0"/>
          </a:p>
        </p:txBody>
      </p:sp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6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857224" y="5286389"/>
            <a:ext cx="1785950" cy="355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7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2786050" y="5357826"/>
            <a:ext cx="4714869" cy="27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4</a:t>
            </a:fld>
            <a:endParaRPr kumimoji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357166"/>
            <a:ext cx="35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C00000"/>
                </a:solidFill>
              </a:rPr>
              <a:t>Example-1:</a:t>
            </a:r>
            <a:endParaRPr lang="en-AU" sz="2400" dirty="0">
              <a:solidFill>
                <a:srgbClr val="C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2071670" y="857232"/>
            <a:ext cx="3786214" cy="343161"/>
          </a:xfrm>
          <a:prstGeom prst="rect">
            <a:avLst/>
          </a:prstGeom>
          <a:noFill/>
          <a:ln w="31750">
            <a:solidFill>
              <a:srgbClr val="FF0000">
                <a:alpha val="87000"/>
              </a:srgbClr>
            </a:solidFill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2285984" y="1785926"/>
            <a:ext cx="3132689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57224" y="1285860"/>
            <a:ext cx="457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  The Auxiliary equation is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2857488" y="2571744"/>
            <a:ext cx="2640652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928662" y="3214686"/>
            <a:ext cx="4786346" cy="29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1643042" y="4071942"/>
            <a:ext cx="4857785" cy="87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42910" y="2214554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complementary solution is.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928662" y="3500438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compute the Wornskian as</a:t>
            </a:r>
            <a:endParaRPr lang="en-AU" dirty="0"/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>
            <a:lum bright="-15000" contrast="33000"/>
          </a:blip>
          <a:srcRect/>
          <a:stretch>
            <a:fillRect/>
          </a:stretch>
        </p:blipFill>
        <p:spPr bwMode="auto">
          <a:xfrm>
            <a:off x="3143240" y="5500702"/>
            <a:ext cx="22107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1357290" y="5143512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identify,</a:t>
            </a:r>
            <a:endParaRPr lang="en-AU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5</a:t>
            </a:fld>
            <a:endParaRPr kumimoji="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1357290" y="1071547"/>
            <a:ext cx="552607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1500166" y="2071678"/>
            <a:ext cx="4643470" cy="94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1571604" y="3571876"/>
            <a:ext cx="40005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1714480" y="4429132"/>
            <a:ext cx="32766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lum bright="-13000" contrast="22000"/>
          </a:blip>
          <a:srcRect/>
          <a:stretch>
            <a:fillRect/>
          </a:stretch>
        </p:blipFill>
        <p:spPr bwMode="auto">
          <a:xfrm>
            <a:off x="1285851" y="5286388"/>
            <a:ext cx="5857917" cy="475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28662" y="642918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Then,</a:t>
            </a:r>
            <a:endParaRPr lang="en-A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6</a:t>
            </a:fld>
            <a:endParaRPr kumimoji="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1000100" y="1000108"/>
            <a:ext cx="685574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28000"/>
          </a:blip>
          <a:srcRect/>
          <a:stretch>
            <a:fillRect/>
          </a:stretch>
        </p:blipFill>
        <p:spPr bwMode="auto">
          <a:xfrm>
            <a:off x="1357290" y="2643182"/>
            <a:ext cx="6114252" cy="857256"/>
          </a:xfrm>
          <a:prstGeom prst="rect">
            <a:avLst/>
          </a:prstGeom>
          <a:noFill/>
          <a:ln w="28575" cmpd="sng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85786" y="50004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Hence, the particular solution is: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785786" y="2071678"/>
            <a:ext cx="4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And, the general solution is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7</a:t>
            </a:fld>
            <a:endParaRPr kumimoji="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8</a:t>
            </a:fld>
            <a:endParaRPr kumimoji="0"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928802"/>
            <a:ext cx="7324730" cy="449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lum bright="-10000" contrast="14000"/>
          </a:blip>
          <a:srcRect/>
          <a:stretch>
            <a:fillRect/>
          </a:stretch>
        </p:blipFill>
        <p:spPr bwMode="auto">
          <a:xfrm>
            <a:off x="857224" y="785794"/>
            <a:ext cx="2661066" cy="785818"/>
          </a:xfrm>
          <a:prstGeom prst="rect">
            <a:avLst/>
          </a:prstGeom>
          <a:solidFill>
            <a:schemeClr val="accent1">
              <a:alpha val="69000"/>
            </a:schemeClr>
          </a:solidFill>
          <a:ln w="25400">
            <a:solidFill>
              <a:schemeClr val="accent1">
                <a:alpha val="87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57224" y="357166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Exercise 4.6 ref.  Zill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9</a:t>
            </a:fld>
            <a:endParaRPr kumimoji="0"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643050"/>
            <a:ext cx="8429684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56" y="5357826"/>
            <a:ext cx="5223904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3108" y="6000768"/>
            <a:ext cx="5929491" cy="67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5" cstate="print">
            <a:lum bright="-11000" contrast="19000"/>
          </a:blip>
          <a:srcRect/>
          <a:stretch>
            <a:fillRect/>
          </a:stretch>
        </p:blipFill>
        <p:spPr bwMode="auto">
          <a:xfrm>
            <a:off x="714348" y="428604"/>
            <a:ext cx="3626852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10</a:t>
            </a:fld>
            <a:endParaRPr kumimoji="0"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23000"/>
          </a:blip>
          <a:srcRect/>
          <a:stretch>
            <a:fillRect/>
          </a:stretch>
        </p:blipFill>
        <p:spPr bwMode="auto">
          <a:xfrm>
            <a:off x="571473" y="285728"/>
            <a:ext cx="3143272" cy="5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500041"/>
            <a:ext cx="2286016" cy="35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471" y="1214422"/>
            <a:ext cx="7215239" cy="53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3" y="1928802"/>
            <a:ext cx="411819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57488" y="2928934"/>
            <a:ext cx="4244346" cy="1004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7158" y="4071942"/>
            <a:ext cx="7915938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4348" y="4643446"/>
            <a:ext cx="2214578" cy="408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00364" y="4643446"/>
            <a:ext cx="3500462" cy="371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8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643042" y="5143512"/>
            <a:ext cx="5929259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928926" y="4572008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/>
              <a:t>u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11</a:t>
            </a:fld>
            <a:endParaRPr kumimoji="0"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714356"/>
            <a:ext cx="726748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643050"/>
            <a:ext cx="8057833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8662" y="642918"/>
            <a:ext cx="6643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Solve each differential equation by variation</a:t>
            </a:r>
          </a:p>
          <a:p>
            <a:r>
              <a:rPr lang="en-AU" dirty="0" smtClean="0"/>
              <a:t>of parameters.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857224" y="4214818"/>
            <a:ext cx="6643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solve each differential equation by variation of parameters, subject to the initial conditions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214414" y="3571876"/>
            <a:ext cx="23145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071538" y="1643050"/>
            <a:ext cx="150495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071538" y="2000240"/>
            <a:ext cx="14954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071538" y="2571744"/>
            <a:ext cx="24479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142976" y="3143248"/>
            <a:ext cx="22669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4357686" y="4572008"/>
            <a:ext cx="223106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000100" y="5072074"/>
            <a:ext cx="14954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1000100" y="5500702"/>
            <a:ext cx="2066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 cstate="print">
            <a:lum bright="-18000" contrast="27000"/>
          </a:blip>
          <a:srcRect/>
          <a:stretch>
            <a:fillRect/>
          </a:stretch>
        </p:blipFill>
        <p:spPr bwMode="auto">
          <a:xfrm>
            <a:off x="928662" y="5929330"/>
            <a:ext cx="30384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12</a:t>
            </a:fld>
            <a:endParaRPr kumimoji="0"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91</TotalTime>
  <Words>207</Words>
  <Application>Microsoft Office PowerPoint</Application>
  <PresentationFormat>On-screen Show (4:3)</PresentationFormat>
  <Paragraphs>49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Berlin Sans FB</vt:lpstr>
      <vt:lpstr>Calibri</vt:lpstr>
      <vt:lpstr>Constantia</vt:lpstr>
      <vt:lpstr>Wingdings</vt:lpstr>
      <vt:lpstr>Wingdings 2</vt:lpstr>
      <vt:lpstr>Flow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LUCY</cp:lastModifiedBy>
  <cp:revision>22</cp:revision>
  <dcterms:created xsi:type="dcterms:W3CDTF">2015-10-18T08:57:40Z</dcterms:created>
  <dcterms:modified xsi:type="dcterms:W3CDTF">2018-10-29T12:14:39Z</dcterms:modified>
</cp:coreProperties>
</file>