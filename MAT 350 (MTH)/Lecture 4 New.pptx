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94AEB-1794-41B4-8DCB-BB709C24B73C}" type="datetimeFigureOut">
              <a:rPr lang="en-US" smtClean="0"/>
              <a:pPr/>
              <a:t>6/12/2018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80455E6-4071-45BF-B6EF-9F8109EE077C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700808"/>
            <a:ext cx="7393632" cy="154002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MAT 350</a:t>
            </a:r>
            <a:br>
              <a:rPr lang="en-US" dirty="0" smtClean="0">
                <a:solidFill>
                  <a:srgbClr val="FFC000"/>
                </a:solidFill>
              </a:rPr>
            </a:br>
            <a:r>
              <a:rPr lang="en-US" sz="3600" dirty="0" smtClean="0">
                <a:solidFill>
                  <a:srgbClr val="FFFF00"/>
                </a:solidFill>
              </a:rPr>
              <a:t>Engineering mathematics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43174" y="400050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Lecture:  4</a:t>
            </a:r>
            <a:endParaRPr lang="en-AU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339752" y="278092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AU" b="1" dirty="0" smtClean="0"/>
              <a:t>Second order ODE with const. Coefficients.</a:t>
            </a:r>
            <a:endParaRPr lang="en-AU" b="1" dirty="0"/>
          </a:p>
        </p:txBody>
      </p:sp>
      <p:sp>
        <p:nvSpPr>
          <p:cNvPr id="7" name="Rounded Rectangle 6"/>
          <p:cNvSpPr/>
          <p:nvPr/>
        </p:nvSpPr>
        <p:spPr>
          <a:xfrm>
            <a:off x="2339752" y="4869160"/>
            <a:ext cx="5181600" cy="1295400"/>
          </a:xfrm>
          <a:prstGeom prst="roundRect">
            <a:avLst/>
          </a:prstGeom>
          <a:solidFill>
            <a:schemeClr val="bg2">
              <a:lumMod val="60000"/>
              <a:lumOff val="40000"/>
              <a:alpha val="7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  <a:latin typeface="Berlin Sans FB" pitchFamily="34" charset="0"/>
              </a:rPr>
              <a:t>Dr. M. Sahadet Hossain (MtH)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  <a:latin typeface="Berlin Sans FB" pitchFamily="34" charset="0"/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002060"/>
                </a:solidFill>
                <a:latin typeface="Berlin Sans FB" pitchFamily="34" charset="0"/>
              </a:rPr>
              <a:t>Department of Mathematics and Physics, NSU.</a:t>
            </a:r>
            <a:endParaRPr lang="en-US" dirty="0">
              <a:solidFill>
                <a:srgbClr val="002060"/>
              </a:solidFill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685800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 linear differential equation </a:t>
            </a:r>
            <a:r>
              <a:rPr lang="en-US" dirty="0" smtClean="0"/>
              <a:t>an </a:t>
            </a:r>
            <a:r>
              <a:rPr lang="en-US" b="1" i="1" dirty="0" smtClean="0"/>
              <a:t>nth-order </a:t>
            </a:r>
            <a:r>
              <a:rPr lang="en-US" b="1" i="1" dirty="0"/>
              <a:t>initial-value problem </a:t>
            </a:r>
            <a:r>
              <a:rPr lang="en-US" b="1" i="1" dirty="0" smtClean="0"/>
              <a:t>is</a:t>
            </a:r>
          </a:p>
          <a:p>
            <a:endParaRPr lang="en-US" b="1" i="1" dirty="0" smtClean="0"/>
          </a:p>
          <a:p>
            <a:r>
              <a:rPr lang="en-US" b="1" i="1" dirty="0" smtClean="0"/>
              <a:t>Solve-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685800" y="1397156"/>
            <a:ext cx="6781800" cy="823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29000"/>
          </a:blip>
          <a:srcRect/>
          <a:stretch>
            <a:fillRect/>
          </a:stretch>
        </p:blipFill>
        <p:spPr bwMode="auto">
          <a:xfrm>
            <a:off x="1371600" y="2667000"/>
            <a:ext cx="6424246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09600" y="22860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Subject to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lum bright="-12000" contrast="17000"/>
          </a:blip>
          <a:srcRect/>
          <a:stretch>
            <a:fillRect/>
          </a:stretch>
        </p:blipFill>
        <p:spPr bwMode="auto">
          <a:xfrm>
            <a:off x="381000" y="4495800"/>
            <a:ext cx="8218779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25400"/>
          </a:sp3d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lum bright="-18000" contrast="29000"/>
          </a:blip>
          <a:srcRect/>
          <a:stretch>
            <a:fillRect/>
          </a:stretch>
        </p:blipFill>
        <p:spPr bwMode="auto">
          <a:xfrm>
            <a:off x="685800" y="3443370"/>
            <a:ext cx="7848600" cy="909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33400" y="2286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Higher Order linear differential equations: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16764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(1)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FC1EFCAB-AE2B-499E-817D-90323E1B3EF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3000"/>
          </a:blip>
          <a:srcRect/>
          <a:stretch>
            <a:fillRect/>
          </a:stretch>
        </p:blipFill>
        <p:spPr bwMode="auto">
          <a:xfrm>
            <a:off x="838200" y="914400"/>
            <a:ext cx="642089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3400" y="3810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Boundary Value Problem (BVP)</a:t>
            </a:r>
            <a:endParaRPr lang="en-US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2514600"/>
            <a:ext cx="3657600" cy="4060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229600" y="12192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FC1EFCAB-AE2B-499E-817D-90323E1B3EF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762000" y="990600"/>
            <a:ext cx="7315200" cy="103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971800"/>
            <a:ext cx="692912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Homogeneous ODE of n-</a:t>
            </a:r>
            <a:r>
              <a:rPr lang="en-US" b="1" dirty="0" err="1" smtClean="0"/>
              <a:t>th</a:t>
            </a:r>
            <a:r>
              <a:rPr lang="en-US" b="1" dirty="0" smtClean="0"/>
              <a:t> order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23622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Recall:  </a:t>
            </a:r>
            <a:r>
              <a:rPr lang="en-US" dirty="0" err="1" smtClean="0"/>
              <a:t>Nonhomogeneous</a:t>
            </a:r>
            <a:r>
              <a:rPr lang="en-US" dirty="0" smtClean="0"/>
              <a:t> ODE of n-</a:t>
            </a:r>
            <a:r>
              <a:rPr lang="en-US" dirty="0" err="1" smtClean="0"/>
              <a:t>th</a:t>
            </a:r>
            <a:r>
              <a:rPr lang="en-US" dirty="0" smtClean="0"/>
              <a:t> order: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4364552"/>
            <a:ext cx="4495800" cy="28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4876799"/>
            <a:ext cx="2209800" cy="32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343400" y="4876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6/ x</a:t>
            </a:r>
            <a:r>
              <a:rPr lang="en-US" baseline="30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/ e</a:t>
            </a:r>
            <a:r>
              <a:rPr lang="en-US" baseline="30000" dirty="0" smtClean="0">
                <a:latin typeface="Arial" pitchFamily="34" charset="0"/>
                <a:cs typeface="Arial" pitchFamily="34" charset="0"/>
              </a:rPr>
              <a:t>x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10200" y="4876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Nonhomogeneous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05800" y="12954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(3)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200400"/>
            <a:ext cx="3733800" cy="70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symbol  </a:t>
            </a:r>
            <a:r>
              <a:rPr lang="en-US" i="1" dirty="0" smtClean="0"/>
              <a:t>D</a:t>
            </a:r>
            <a:r>
              <a:rPr lang="en-US" dirty="0" smtClean="0"/>
              <a:t> (for Differentiation) is called </a:t>
            </a:r>
            <a:r>
              <a:rPr lang="en-US" b="1" dirty="0" smtClean="0"/>
              <a:t>differential operator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635760"/>
            <a:ext cx="3886200" cy="34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6999" y="2209800"/>
            <a:ext cx="3276601" cy="31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lum bright="-10000" contrast="13000"/>
          </a:blip>
          <a:srcRect/>
          <a:stretch>
            <a:fillRect/>
          </a:stretch>
        </p:blipFill>
        <p:spPr bwMode="auto">
          <a:xfrm>
            <a:off x="1752600" y="3947160"/>
            <a:ext cx="3810000" cy="77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295400" y="26670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higher order-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381000"/>
            <a:ext cx="571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D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ifferential operator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38200"/>
            <a:ext cx="862148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570704" y="182880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831956"/>
            <a:ext cx="8153401" cy="2625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Homogeneous Linear ODEs of Second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4267200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second-order ODE is called </a:t>
            </a:r>
            <a:r>
              <a:rPr lang="en-US" b="1" dirty="0"/>
              <a:t>linear if it can be written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47800" y="4495800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as (4), and </a:t>
            </a:r>
            <a:r>
              <a:rPr lang="en-US" b="1" dirty="0"/>
              <a:t>nonlinear if it cannot be written in this form.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5257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r(x)=0, it is Homogeneous, if r(x) ≠ 0,</a:t>
            </a:r>
            <a:r>
              <a:rPr lang="en-US" dirty="0" smtClean="0">
                <a:cs typeface="Arial" pitchFamily="34" charset="0"/>
              </a:rPr>
              <a:t> it </a:t>
            </a:r>
            <a:r>
              <a:rPr lang="en-US" dirty="0">
                <a:cs typeface="Arial" pitchFamily="34" charset="0"/>
              </a:rPr>
              <a:t>i</a:t>
            </a:r>
            <a:r>
              <a:rPr lang="en-US" dirty="0" smtClean="0">
                <a:cs typeface="Arial" pitchFamily="34" charset="0"/>
              </a:rPr>
              <a:t>s Nonhomogeneous.</a:t>
            </a:r>
            <a:endParaRPr lang="en-US" dirty="0"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9906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 us, consider (1) up to its second order derivatives,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19200" y="2438400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Considering a</a:t>
            </a:r>
            <a:r>
              <a:rPr lang="en-US" baseline="-25000" dirty="0" smtClean="0"/>
              <a:t>2</a:t>
            </a:r>
            <a:r>
              <a:rPr lang="en-US" dirty="0" smtClean="0"/>
              <a:t>(x)</a:t>
            </a:r>
            <a:r>
              <a:rPr lang="en-US" dirty="0" smtClean="0">
                <a:latin typeface="Algerian"/>
              </a:rPr>
              <a:t>≠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0,and divide both sides with a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(x)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38100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where a(x)=a</a:t>
            </a:r>
            <a:r>
              <a:rPr lang="en-US" baseline="-25000" dirty="0" smtClean="0"/>
              <a:t>1</a:t>
            </a:r>
            <a:r>
              <a:rPr lang="en-US" dirty="0" smtClean="0"/>
              <a:t>(x)/a</a:t>
            </a:r>
            <a:r>
              <a:rPr lang="en-US" baseline="-25000" dirty="0" smtClean="0"/>
              <a:t>2</a:t>
            </a:r>
            <a:r>
              <a:rPr lang="en-US" dirty="0" smtClean="0"/>
              <a:t>(x), b(x)=a</a:t>
            </a:r>
            <a:r>
              <a:rPr lang="en-US" baseline="-25000" dirty="0" smtClean="0"/>
              <a:t>0</a:t>
            </a:r>
            <a:r>
              <a:rPr lang="en-US" dirty="0" smtClean="0"/>
              <a:t>(x)/a</a:t>
            </a:r>
            <a:r>
              <a:rPr lang="en-US" baseline="-25000" dirty="0" smtClean="0"/>
              <a:t>2</a:t>
            </a:r>
            <a:r>
              <a:rPr lang="en-US" dirty="0" smtClean="0"/>
              <a:t>(x), and r(x)=g(x)/a</a:t>
            </a:r>
            <a:r>
              <a:rPr lang="en-US" baseline="-25000" dirty="0" smtClean="0"/>
              <a:t>2</a:t>
            </a:r>
            <a:r>
              <a:rPr lang="en-US" dirty="0" smtClean="0"/>
              <a:t>(x).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924800" y="28956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(4)</a:t>
            </a:r>
            <a:endParaRPr lang="en-US" dirty="0"/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3048000" y="2895600"/>
          <a:ext cx="2540000" cy="762000"/>
        </p:xfrm>
        <a:graphic>
          <a:graphicData uri="http://schemas.openxmlformats.org/presentationml/2006/ole">
            <p:oleObj spid="_x0000_s1026" name="Equation" r:id="rId3" imgW="1269720" imgH="380880" progId="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2667000" y="1524000"/>
          <a:ext cx="4038600" cy="766823"/>
        </p:xfrm>
        <a:graphic>
          <a:graphicData uri="http://schemas.openxmlformats.org/presentationml/2006/ole">
            <p:oleObj spid="_x0000_s1027" name="Equation" r:id="rId4" imgW="2006280" imgH="380880" progId="">
              <p:embed/>
            </p:oleObj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Homogeneous Linear ODEs of Second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62000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Consider second-order homogeneous linear ODEs whose coefficients </a:t>
            </a:r>
            <a:r>
              <a:rPr lang="en-US" i="1" dirty="0" smtClean="0"/>
              <a:t>a and b are constant,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676400"/>
            <a:ext cx="28194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077200" y="17526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(5)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2514600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trial solution of (5) can be considered of the form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20000"/>
          </a:blip>
          <a:srcRect/>
          <a:stretch>
            <a:fillRect/>
          </a:stretch>
        </p:blipFill>
        <p:spPr bwMode="auto">
          <a:xfrm>
            <a:off x="3429000" y="3048000"/>
            <a:ext cx="1133475" cy="385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 rot="10800000" flipV="1">
            <a:off x="8077200" y="3048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(6)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6000" contrast="21000"/>
          </a:blip>
          <a:srcRect/>
          <a:stretch>
            <a:fillRect/>
          </a:stretch>
        </p:blipFill>
        <p:spPr bwMode="auto">
          <a:xfrm>
            <a:off x="2362200" y="3733800"/>
            <a:ext cx="4267200" cy="420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990600" y="3429000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Then,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6000" contrast="17000"/>
          </a:blip>
          <a:srcRect/>
          <a:stretch>
            <a:fillRect/>
          </a:stretch>
        </p:blipFill>
        <p:spPr bwMode="auto">
          <a:xfrm>
            <a:off x="2895600" y="4724400"/>
            <a:ext cx="3124200" cy="471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066800" y="4267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Substituting into (5) gives,</a:t>
            </a:r>
            <a:endParaRPr 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5791200"/>
            <a:ext cx="22860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990600" y="52578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exponential is never zero for any real (and complex) </a:t>
            </a:r>
            <a:r>
              <a:rPr lang="el-GR" dirty="0" smtClean="0"/>
              <a:t>λ</a:t>
            </a:r>
            <a:r>
              <a:rPr lang="en-US" dirty="0" smtClean="0"/>
              <a:t>,  </a:t>
            </a:r>
            <a:endParaRPr lang="en-US" dirty="0"/>
          </a:p>
        </p:txBody>
      </p:sp>
      <p:sp>
        <p:nvSpPr>
          <p:cNvPr id="15" name="Oval Callout 14"/>
          <p:cNvSpPr/>
          <p:nvPr/>
        </p:nvSpPr>
        <p:spPr>
          <a:xfrm>
            <a:off x="5867400" y="6019800"/>
            <a:ext cx="2209800" cy="609600"/>
          </a:xfrm>
          <a:prstGeom prst="wedgeEllipseCallout">
            <a:avLst>
              <a:gd name="adj1" fmla="val -75604"/>
              <a:gd name="adj2" fmla="val -315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Characteristic  Equation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30000"/>
          </a:blip>
          <a:srcRect/>
          <a:stretch>
            <a:fillRect/>
          </a:stretch>
        </p:blipFill>
        <p:spPr bwMode="auto">
          <a:xfrm>
            <a:off x="1524000" y="2362200"/>
            <a:ext cx="620485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600200" y="182880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Roots of the Chr. Eqn. (Auxiliary Equation) are: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1371600" y="4038600"/>
            <a:ext cx="562393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914400"/>
            <a:ext cx="22860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2286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Homogeneous Linear ODEs of Second Order</a:t>
            </a:r>
          </a:p>
        </p:txBody>
      </p:sp>
      <p:sp>
        <p:nvSpPr>
          <p:cNvPr id="7" name="TextBox 6"/>
          <p:cNvSpPr txBox="1"/>
          <p:nvPr/>
        </p:nvSpPr>
        <p:spPr>
          <a:xfrm rot="10800000" flipV="1">
            <a:off x="8153400" y="914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(7)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35052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Equation (7) has the roots of  </a:t>
            </a:r>
            <a:r>
              <a:rPr lang="en-US" dirty="0" smtClean="0">
                <a:solidFill>
                  <a:srgbClr val="FF0000"/>
                </a:solidFill>
              </a:rPr>
              <a:t>three different types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" y="762001"/>
            <a:ext cx="4495800" cy="31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2895600" y="1600200"/>
            <a:ext cx="284870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62000" y="11430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general solution is: 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590800"/>
            <a:ext cx="4343400" cy="28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2819400" y="3429000"/>
            <a:ext cx="3048000" cy="771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838200" y="30480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general solution is: </a:t>
            </a:r>
            <a:endParaRPr lang="en-US" dirty="0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199" y="4419599"/>
            <a:ext cx="5463409" cy="381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2286000" y="5257800"/>
            <a:ext cx="44945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066800" y="48006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general solution is: </a:t>
            </a:r>
            <a:endParaRPr lang="en-US" dirty="0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3600" y="6128044"/>
            <a:ext cx="1676400" cy="310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781800" y="609600"/>
            <a:ext cx="1752600" cy="3693319"/>
          </a:xfrm>
          <a:prstGeom prst="rect">
            <a:avLst/>
          </a:prstGeom>
          <a:solidFill>
            <a:srgbClr val="00B0F0"/>
          </a:solidFill>
          <a:ln w="34925" cmpd="sng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Note: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and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called  Basic solution of (7). Their linear Combination  is called General  Solution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62800" y="988741"/>
            <a:ext cx="990600" cy="48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086600" y="1752600"/>
            <a:ext cx="117157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1524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 Two distinct real roots:</a:t>
            </a:r>
            <a:endParaRPr lang="en-A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1447800" y="762000"/>
            <a:ext cx="600654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57200" y="1447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Solution: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1447800" y="1828800"/>
            <a:ext cx="47434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3352800" y="2895600"/>
            <a:ext cx="2390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5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3352800" y="3290248"/>
            <a:ext cx="266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524000" y="2819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Roots are:</a:t>
            </a:r>
            <a:endParaRPr lang="en-AU" dirty="0"/>
          </a:p>
        </p:txBody>
      </p:sp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6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3428999" y="4011836"/>
            <a:ext cx="2362201" cy="483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57200" y="403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general solution is:</a:t>
            </a:r>
            <a:endParaRPr lang="en-AU" dirty="0"/>
          </a:p>
        </p:txBody>
      </p:sp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7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457199" y="4572000"/>
            <a:ext cx="6019801" cy="369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8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1295400" y="5181600"/>
            <a:ext cx="2743200" cy="92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4" name="Picture 10"/>
          <p:cNvPicPr>
            <a:picLocks noChangeAspect="1" noChangeArrowheads="1"/>
          </p:cNvPicPr>
          <p:nvPr/>
        </p:nvPicPr>
        <p:blipFill>
          <a:blip r:embed="rId9" cstate="print">
            <a:lum bright="-37000" contrast="56000"/>
          </a:blip>
          <a:srcRect/>
          <a:stretch>
            <a:fillRect/>
          </a:stretch>
        </p:blipFill>
        <p:spPr bwMode="auto">
          <a:xfrm>
            <a:off x="914400" y="6240056"/>
            <a:ext cx="6629400" cy="32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1000"/>
          </a:blip>
          <a:srcRect/>
          <a:stretch>
            <a:fillRect/>
          </a:stretch>
        </p:blipFill>
        <p:spPr bwMode="auto">
          <a:xfrm>
            <a:off x="2133600" y="609600"/>
            <a:ext cx="3971925" cy="268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905000" y="4267200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Figure shows that the curve begins at 4</a:t>
            </a:r>
          </a:p>
          <a:p>
            <a:r>
              <a:rPr lang="en-AU" dirty="0" smtClean="0"/>
              <a:t>with a negative slope ( -5 but note that the axes have different scales!), in agreement with the initial</a:t>
            </a:r>
          </a:p>
          <a:p>
            <a:r>
              <a:rPr lang="en-AU" dirty="0" smtClean="0"/>
              <a:t>conditions.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1371600" y="685800"/>
            <a:ext cx="3048000" cy="532984"/>
          </a:xfrm>
          <a:prstGeom prst="rect">
            <a:avLst/>
          </a:prstGeom>
          <a:noFill/>
          <a:ln w="57150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4572001" y="747810"/>
            <a:ext cx="3581400" cy="395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1447800"/>
            <a:ext cx="3998976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2590799" y="1828800"/>
            <a:ext cx="376645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2514599" y="2438400"/>
            <a:ext cx="3581401" cy="364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19200" y="2895600"/>
            <a:ext cx="3276599" cy="32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8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2819400" y="3276600"/>
            <a:ext cx="2723717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9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2133600" y="4191000"/>
            <a:ext cx="478856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914400" y="37338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apply the initial conditions, we need to evaluate</a:t>
            </a:r>
            <a:endParaRPr lang="en-AU" dirty="0"/>
          </a:p>
        </p:txBody>
      </p:sp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10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990600" y="4800600"/>
            <a:ext cx="4724400" cy="33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91" name="Picture 11"/>
          <p:cNvPicPr>
            <a:picLocks noChangeAspect="1" noChangeArrowheads="1"/>
          </p:cNvPicPr>
          <p:nvPr/>
        </p:nvPicPr>
        <p:blipFill>
          <a:blip r:embed="rId11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2895600" y="5181600"/>
            <a:ext cx="1905000" cy="418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92" name="Picture 12"/>
          <p:cNvPicPr>
            <a:picLocks noChangeAspect="1" noChangeArrowheads="1"/>
          </p:cNvPicPr>
          <p:nvPr/>
        </p:nvPicPr>
        <p:blipFill>
          <a:blip r:embed="rId12" cstate="print">
            <a:lum bright="-20000" contrast="39000"/>
          </a:blip>
          <a:srcRect/>
          <a:stretch>
            <a:fillRect/>
          </a:stretch>
        </p:blipFill>
        <p:spPr bwMode="auto">
          <a:xfrm>
            <a:off x="1295400" y="5562600"/>
            <a:ext cx="5486400" cy="469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93" name="Picture 13"/>
          <p:cNvPicPr>
            <a:picLocks noChangeAspect="1" noChangeArrowheads="1"/>
          </p:cNvPicPr>
          <p:nvPr/>
        </p:nvPicPr>
        <p:blipFill>
          <a:blip r:embed="rId13" cstate="print">
            <a:lum bright="-28000" contrast="45000"/>
          </a:blip>
          <a:srcRect/>
          <a:stretch>
            <a:fillRect/>
          </a:stretch>
        </p:blipFill>
        <p:spPr bwMode="auto">
          <a:xfrm>
            <a:off x="762000" y="6096000"/>
            <a:ext cx="7086600" cy="31688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533400" y="228600"/>
            <a:ext cx="3111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</a:t>
            </a:r>
            <a:r>
              <a:rPr lang="en-AU" dirty="0" smtClean="0"/>
              <a:t>: Two same real roots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1447800" y="1295400"/>
            <a:ext cx="637561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752600" y="45720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Graph starts at 3 of y-axis and the slope there is -3,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762000" y="762000"/>
            <a:ext cx="6439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2286000" y="1905000"/>
            <a:ext cx="2495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1676400" y="2743200"/>
            <a:ext cx="4267200" cy="412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3352800" y="3352800"/>
            <a:ext cx="432486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6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1219200" y="3962400"/>
            <a:ext cx="3886200" cy="305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1905000" y="4419600"/>
            <a:ext cx="34290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638800" y="4419600"/>
            <a:ext cx="1371600" cy="28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7" name="Picture 9"/>
          <p:cNvPicPr>
            <a:picLocks noChangeAspect="1" noChangeArrowheads="1"/>
          </p:cNvPicPr>
          <p:nvPr/>
        </p:nvPicPr>
        <p:blipFill>
          <a:blip r:embed="rId9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2133600" y="5105399"/>
            <a:ext cx="3810000" cy="340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8" name="Picture 10"/>
          <p:cNvPicPr>
            <a:picLocks noChangeAspect="1" noChangeArrowheads="1"/>
          </p:cNvPicPr>
          <p:nvPr/>
        </p:nvPicPr>
        <p:blipFill>
          <a:blip r:embed="rId10" cstate="print">
            <a:lum bright="-17000" contrast="27000"/>
          </a:blip>
          <a:srcRect/>
          <a:stretch>
            <a:fillRect/>
          </a:stretch>
        </p:blipFill>
        <p:spPr bwMode="auto">
          <a:xfrm>
            <a:off x="838200" y="5634502"/>
            <a:ext cx="6324600" cy="356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762000" y="304800"/>
            <a:ext cx="3074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Example:</a:t>
            </a:r>
            <a:r>
              <a:rPr lang="en-AU" dirty="0" smtClean="0"/>
              <a:t> Two complex roots: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1295400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133600" y="1447800"/>
            <a:ext cx="449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Chr. Equation is: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066800" y="22860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Solving we have two complex roots: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990600" y="3352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Hence, Gen. Sol. is: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FCAB-AE2B-499E-817D-90323E1B3EF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066800"/>
            <a:ext cx="339969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24000"/>
          </a:blip>
          <a:srcRect/>
          <a:stretch>
            <a:fillRect/>
          </a:stretch>
        </p:blipFill>
        <p:spPr bwMode="auto">
          <a:xfrm>
            <a:off x="2286000" y="1676400"/>
            <a:ext cx="415940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36000"/>
          </a:blip>
          <a:srcRect/>
          <a:stretch>
            <a:fillRect/>
          </a:stretch>
        </p:blipFill>
        <p:spPr bwMode="auto">
          <a:xfrm>
            <a:off x="2133600" y="2286000"/>
            <a:ext cx="4267200" cy="4086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62000" y="304800"/>
            <a:ext cx="3296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Example: Two complex roots: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228600" y="1447800"/>
            <a:ext cx="8456046" cy="3609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5" y="642918"/>
            <a:ext cx="4000529" cy="39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1285860"/>
            <a:ext cx="2846090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4414" y="1714488"/>
            <a:ext cx="2714644" cy="381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57290" y="2214554"/>
            <a:ext cx="244621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786" y="3214686"/>
            <a:ext cx="542552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357166"/>
            <a:ext cx="39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Exercise 4.3 (</a:t>
            </a:r>
            <a:r>
              <a:rPr lang="en-AU" b="1" dirty="0" err="1" smtClean="0"/>
              <a:t>Zill</a:t>
            </a:r>
            <a:r>
              <a:rPr lang="en-AU" b="1" dirty="0" smtClean="0"/>
              <a:t> 10</a:t>
            </a:r>
            <a:r>
              <a:rPr lang="en-AU" b="1" baseline="30000" dirty="0" smtClean="0"/>
              <a:t>th</a:t>
            </a:r>
            <a:r>
              <a:rPr lang="en-AU" b="1" dirty="0" smtClean="0"/>
              <a:t> ed.)</a:t>
            </a:r>
            <a:endParaRPr lang="en-AU" b="1" dirty="0"/>
          </a:p>
        </p:txBody>
      </p:sp>
      <p:sp>
        <p:nvSpPr>
          <p:cNvPr id="4" name="Rectangle 3"/>
          <p:cNvSpPr/>
          <p:nvPr/>
        </p:nvSpPr>
        <p:spPr>
          <a:xfrm>
            <a:off x="642910" y="928670"/>
            <a:ext cx="7786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Find the general solution of the given  second-order differential equation.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714348" y="2786058"/>
            <a:ext cx="46434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Solve the given initial-value problem.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714348" y="5357826"/>
            <a:ext cx="4786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Solve the given boundary-value problem</a:t>
            </a:r>
            <a:endParaRPr lang="en-A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785786" y="1428735"/>
            <a:ext cx="2357454" cy="411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714348" y="2000240"/>
            <a:ext cx="2559862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3786182" y="1500174"/>
            <a:ext cx="2623499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5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3786182" y="2071677"/>
            <a:ext cx="2428892" cy="35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6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857224" y="3071810"/>
            <a:ext cx="4500594" cy="63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7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857224" y="3643314"/>
            <a:ext cx="4929222" cy="120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8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928662" y="4857760"/>
            <a:ext cx="4429156" cy="40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4" name="Picture 10"/>
          <p:cNvPicPr>
            <a:picLocks noChangeAspect="1" noChangeArrowheads="1"/>
          </p:cNvPicPr>
          <p:nvPr/>
        </p:nvPicPr>
        <p:blipFill>
          <a:blip r:embed="rId9" cstate="print">
            <a:lum bright="-14000" contrast="40000"/>
          </a:blip>
          <a:srcRect/>
          <a:stretch>
            <a:fillRect/>
          </a:stretch>
        </p:blipFill>
        <p:spPr bwMode="auto">
          <a:xfrm>
            <a:off x="928662" y="5929330"/>
            <a:ext cx="4429156" cy="39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</TotalTime>
  <Words>490</Words>
  <Application>Microsoft Office PowerPoint</Application>
  <PresentationFormat>On-screen Show (4:3)</PresentationFormat>
  <Paragraphs>90</Paragraphs>
  <Slides>20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Flow</vt:lpstr>
      <vt:lpstr>Equation</vt:lpstr>
      <vt:lpstr> MAT 350 Engineering mathematics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 350 Engineering mathematics</dc:title>
  <dc:creator>NSU</dc:creator>
  <cp:lastModifiedBy>NSU</cp:lastModifiedBy>
  <cp:revision>3</cp:revision>
  <dcterms:created xsi:type="dcterms:W3CDTF">2016-09-07T06:32:42Z</dcterms:created>
  <dcterms:modified xsi:type="dcterms:W3CDTF">2018-06-12T03:05:49Z</dcterms:modified>
</cp:coreProperties>
</file>