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669088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12AF3-085E-4398-BA42-E54BC7E8084C}" type="datetimeFigureOut">
              <a:rPr lang="en-US" smtClean="0"/>
              <a:pPr/>
              <a:t>7/24/2018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103F8-FA0B-4A9E-B03F-87A58C84E5F7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7/24/2018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8.pn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5.bin"/><Relationship Id="rId4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43108" y="500042"/>
            <a:ext cx="6172200" cy="189436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350</a:t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Engineering mathematics</a:t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Associate Professor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00298" y="3071810"/>
            <a:ext cx="5286412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 smtClean="0">
                <a:solidFill>
                  <a:srgbClr val="FFFF00"/>
                </a:solidFill>
              </a:rPr>
              <a:t>System of Linear ODEs: 2</a:t>
            </a:r>
            <a:r>
              <a:rPr lang="en-AU" sz="2000" b="1" baseline="30000" dirty="0" smtClean="0">
                <a:solidFill>
                  <a:srgbClr val="FFFF00"/>
                </a:solidFill>
              </a:rPr>
              <a:t>nd</a:t>
            </a:r>
            <a:r>
              <a:rPr lang="en-AU" sz="2000" b="1" dirty="0" smtClean="0">
                <a:solidFill>
                  <a:srgbClr val="FFFF00"/>
                </a:solidFill>
              </a:rPr>
              <a:t> lecture</a:t>
            </a:r>
          </a:p>
          <a:p>
            <a:r>
              <a:rPr lang="en-AU" sz="1100" b="1" dirty="0" smtClean="0">
                <a:solidFill>
                  <a:srgbClr val="FFFF00"/>
                </a:solidFill>
              </a:rPr>
              <a:t>NONHOMOGENEOUS LINEAR SYSTEMS</a:t>
            </a:r>
          </a:p>
          <a:p>
            <a:endParaRPr lang="en-AU" sz="2000" b="1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43174" y="4286256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 smtClean="0">
                <a:solidFill>
                  <a:srgbClr val="FF0000"/>
                </a:solidFill>
              </a:rPr>
              <a:t>Lecture: 12</a:t>
            </a:r>
            <a:endParaRPr lang="en-AU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0034" y="500042"/>
            <a:ext cx="63579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smtClean="0">
                <a:solidFill>
                  <a:srgbClr val="C00000"/>
                </a:solidFill>
              </a:rPr>
              <a:t>NONHOMOGENEOUS LINEAR SYSTEMS</a:t>
            </a:r>
            <a:endParaRPr lang="en-AU" b="1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8662" y="1000108"/>
            <a:ext cx="70009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 general solution of a </a:t>
            </a:r>
            <a:r>
              <a:rPr lang="en-AU" dirty="0" err="1" smtClean="0"/>
              <a:t>nonhomogeneous</a:t>
            </a:r>
            <a:r>
              <a:rPr lang="en-AU" dirty="0" smtClean="0"/>
              <a:t> linear</a:t>
            </a:r>
          </a:p>
          <a:p>
            <a:r>
              <a:rPr lang="en-AU" dirty="0" smtClean="0"/>
              <a:t>system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3240" y="1714488"/>
            <a:ext cx="1857388" cy="35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0298" y="2285992"/>
            <a:ext cx="2857520" cy="255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2976" y="2779921"/>
            <a:ext cx="3500462" cy="300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2786058"/>
            <a:ext cx="3071834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42976" y="3071810"/>
            <a:ext cx="3095647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857224" y="4500570"/>
            <a:ext cx="75009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 methods of </a:t>
            </a:r>
            <a:r>
              <a:rPr lang="en-AU" b="1" dirty="0" smtClean="0"/>
              <a:t>undetermined coefficient and variation of parameters are used to  </a:t>
            </a:r>
            <a:r>
              <a:rPr lang="en-AU" dirty="0" smtClean="0"/>
              <a:t>find  the particular solutions of </a:t>
            </a:r>
            <a:r>
              <a:rPr lang="en-AU" dirty="0" err="1" smtClean="0"/>
              <a:t>nonhomogeneous</a:t>
            </a:r>
            <a:r>
              <a:rPr lang="en-AU" dirty="0" smtClean="0"/>
              <a:t> linear ODEs. We only focus on of </a:t>
            </a:r>
            <a:r>
              <a:rPr lang="en-AU" b="1" dirty="0" smtClean="0">
                <a:solidFill>
                  <a:srgbClr val="0070C0"/>
                </a:solidFill>
              </a:rPr>
              <a:t>undetermined coefficient.</a:t>
            </a:r>
            <a:r>
              <a:rPr lang="en-AU" dirty="0" smtClean="0">
                <a:solidFill>
                  <a:srgbClr val="0070C0"/>
                </a:solidFill>
              </a:rPr>
              <a:t> </a:t>
            </a:r>
            <a:endParaRPr lang="en-AU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428604"/>
            <a:ext cx="4371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 smtClean="0">
                <a:solidFill>
                  <a:srgbClr val="C00000"/>
                </a:solidFill>
              </a:rPr>
              <a:t>UNDETERMINED COEFFICIENTS</a:t>
            </a:r>
            <a:endParaRPr lang="en-AU" b="1" dirty="0">
              <a:solidFill>
                <a:srgbClr val="C0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lum bright="-16000" contrast="29000"/>
          </a:blip>
          <a:srcRect/>
          <a:stretch>
            <a:fillRect/>
          </a:stretch>
        </p:blipFill>
        <p:spPr bwMode="auto">
          <a:xfrm>
            <a:off x="642910" y="928669"/>
            <a:ext cx="5857916" cy="341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1571604" y="4643446"/>
            <a:ext cx="5357850" cy="777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2571736" y="5000636"/>
          <a:ext cx="355602" cy="285752"/>
        </p:xfrm>
        <a:graphic>
          <a:graphicData uri="http://schemas.openxmlformats.org/presentationml/2006/ole">
            <p:oleObj spid="_x0000_s3076" name="Equation" r:id="rId5" imgW="139680" imgH="177480" progId="">
              <p:embed/>
            </p:oleObj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5572132" y="5000636"/>
          <a:ext cx="355600" cy="285750"/>
        </p:xfrm>
        <a:graphic>
          <a:graphicData uri="http://schemas.openxmlformats.org/presentationml/2006/ole">
            <p:oleObj spid="_x0000_s3077" name="Equation" r:id="rId6" imgW="139680" imgH="177480" progId="">
              <p:embed/>
            </p:oleObj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4071934" y="4786322"/>
          <a:ext cx="355600" cy="285750"/>
        </p:xfrm>
        <a:graphic>
          <a:graphicData uri="http://schemas.openxmlformats.org/presentationml/2006/ole">
            <p:oleObj spid="_x0000_s3078" name="Equation" r:id="rId7" imgW="139680" imgH="177480" progId="">
              <p:embed/>
            </p:oleObj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4945946" y="5157580"/>
          <a:ext cx="355600" cy="285750"/>
        </p:xfrm>
        <a:graphic>
          <a:graphicData uri="http://schemas.openxmlformats.org/presentationml/2006/ole">
            <p:oleObj spid="_x0000_s3079" name="Equation" r:id="rId8" imgW="139680" imgH="177480" progId="">
              <p:embed/>
            </p:oleObj>
          </a:graphicData>
        </a:graphic>
      </p:graphicFrame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9" cstate="print">
            <a:lum bright="-12000" contrast="19000"/>
          </a:blip>
          <a:srcRect/>
          <a:stretch>
            <a:fillRect/>
          </a:stretch>
        </p:blipFill>
        <p:spPr bwMode="auto">
          <a:xfrm>
            <a:off x="857224" y="5572140"/>
            <a:ext cx="6072230" cy="41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081" name="Object 9"/>
          <p:cNvGraphicFramePr>
            <a:graphicFrameLocks noChangeAspect="1"/>
          </p:cNvGraphicFramePr>
          <p:nvPr/>
        </p:nvGraphicFramePr>
        <p:xfrm>
          <a:off x="5930912" y="5643578"/>
          <a:ext cx="355600" cy="285750"/>
        </p:xfrm>
        <a:graphic>
          <a:graphicData uri="http://schemas.openxmlformats.org/presentationml/2006/ole">
            <p:oleObj spid="_x0000_s3081" name="Equation" r:id="rId10" imgW="139680" imgH="177480" progId="">
              <p:embed/>
            </p:oleObj>
          </a:graphicData>
        </a:graphic>
      </p:graphicFrame>
      <p:graphicFrame>
        <p:nvGraphicFramePr>
          <p:cNvPr id="3082" name="Object 10"/>
          <p:cNvGraphicFramePr>
            <a:graphicFrameLocks noChangeAspect="1"/>
          </p:cNvGraphicFramePr>
          <p:nvPr/>
        </p:nvGraphicFramePr>
        <p:xfrm>
          <a:off x="5287970" y="5671714"/>
          <a:ext cx="355600" cy="285750"/>
        </p:xfrm>
        <a:graphic>
          <a:graphicData uri="http://schemas.openxmlformats.org/presentationml/2006/ole">
            <p:oleObj spid="_x0000_s3082" name="Equation" r:id="rId11" imgW="139680" imgH="177480" progId="">
              <p:embed/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34000"/>
          </a:blip>
          <a:srcRect/>
          <a:stretch>
            <a:fillRect/>
          </a:stretch>
        </p:blipFill>
        <p:spPr bwMode="auto">
          <a:xfrm>
            <a:off x="1571604" y="1714488"/>
            <a:ext cx="4929222" cy="872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4" cstate="print">
            <a:lum bright="-12000" contrast="19000"/>
          </a:blip>
          <a:srcRect/>
          <a:stretch>
            <a:fillRect/>
          </a:stretch>
        </p:blipFill>
        <p:spPr bwMode="auto">
          <a:xfrm>
            <a:off x="1000100" y="642918"/>
            <a:ext cx="6072230" cy="41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5430846" y="714356"/>
          <a:ext cx="355600" cy="285750"/>
        </p:xfrm>
        <a:graphic>
          <a:graphicData uri="http://schemas.openxmlformats.org/presentationml/2006/ole">
            <p:oleObj spid="_x0000_s4100" name="Equation" r:id="rId5" imgW="139680" imgH="177480" progId="">
              <p:embed/>
            </p:oleObj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6073788" y="785796"/>
          <a:ext cx="355600" cy="285750"/>
        </p:xfrm>
        <a:graphic>
          <a:graphicData uri="http://schemas.openxmlformats.org/presentationml/2006/ole">
            <p:oleObj spid="_x0000_s4101" name="Equation" r:id="rId6" imgW="139680" imgH="177480" progId="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00298" y="1214422"/>
            <a:ext cx="307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Note that </a:t>
            </a:r>
            <a:r>
              <a:rPr lang="el-GR" dirty="0" smtClean="0"/>
              <a:t>α</a:t>
            </a:r>
            <a:r>
              <a:rPr lang="en-AU" dirty="0" smtClean="0"/>
              <a:t>=  0, and   </a:t>
            </a:r>
            <a:r>
              <a:rPr lang="el-GR" dirty="0" smtClean="0"/>
              <a:t>β</a:t>
            </a:r>
            <a:r>
              <a:rPr lang="en-AU" dirty="0" smtClean="0"/>
              <a:t>=1</a:t>
            </a: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928662" y="2857496"/>
            <a:ext cx="75724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Now since F(t) is a constant vector, we assume a constant</a:t>
            </a:r>
          </a:p>
          <a:p>
            <a:r>
              <a:rPr lang="en-AU" dirty="0" smtClean="0"/>
              <a:t>particular solution vector</a:t>
            </a:r>
            <a:endParaRPr lang="en-AU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 cstate="print">
            <a:lum bright="-16000" contrast="29000"/>
          </a:blip>
          <a:srcRect/>
          <a:stretch>
            <a:fillRect/>
          </a:stretch>
        </p:blipFill>
        <p:spPr bwMode="auto">
          <a:xfrm>
            <a:off x="3786182" y="3357562"/>
            <a:ext cx="1214446" cy="656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857224" y="4286256"/>
            <a:ext cx="73581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Substituting this latter assumption into the original system and equating entries leads to</a:t>
            </a:r>
            <a:endParaRPr lang="en-AU" dirty="0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 cstate="print">
            <a:lum bright="-13000" contrast="27000"/>
          </a:blip>
          <a:srcRect/>
          <a:stretch>
            <a:fillRect/>
          </a:stretch>
        </p:blipFill>
        <p:spPr bwMode="auto">
          <a:xfrm>
            <a:off x="3571868" y="4929198"/>
            <a:ext cx="2071702" cy="802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 cstate="print">
            <a:lum bright="-13000" contrast="27000"/>
          </a:blip>
          <a:srcRect/>
          <a:stretch>
            <a:fillRect/>
          </a:stretch>
        </p:blipFill>
        <p:spPr bwMode="auto">
          <a:xfrm>
            <a:off x="1214414" y="5857892"/>
            <a:ext cx="5286412" cy="310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857224" y="642918"/>
            <a:ext cx="2428892" cy="242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7554" y="428604"/>
            <a:ext cx="12763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785786" y="1142984"/>
            <a:ext cx="60483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785786" y="1428736"/>
            <a:ext cx="28765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1500166" y="2000240"/>
            <a:ext cx="5485774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43702" y="3071810"/>
            <a:ext cx="40957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357158" y="357166"/>
            <a:ext cx="6000792" cy="1474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357158" y="2071678"/>
            <a:ext cx="8081870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2500299" y="3714752"/>
            <a:ext cx="3429024" cy="715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285720" y="4643446"/>
            <a:ext cx="5702158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7158" y="5214950"/>
            <a:ext cx="2071702" cy="461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7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2428860" y="5357826"/>
            <a:ext cx="5786477" cy="3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8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2643174" y="5639009"/>
            <a:ext cx="2000264" cy="81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35000"/>
          </a:blip>
          <a:srcRect/>
          <a:stretch>
            <a:fillRect/>
          </a:stretch>
        </p:blipFill>
        <p:spPr bwMode="auto">
          <a:xfrm>
            <a:off x="642910" y="642917"/>
            <a:ext cx="6786610" cy="207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lum bright="-14000" contrast="35000"/>
          </a:blip>
          <a:srcRect/>
          <a:stretch>
            <a:fillRect/>
          </a:stretch>
        </p:blipFill>
        <p:spPr bwMode="auto">
          <a:xfrm>
            <a:off x="857223" y="3429000"/>
            <a:ext cx="7164211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lum bright="-14000" contrast="35000"/>
          </a:blip>
          <a:srcRect/>
          <a:stretch>
            <a:fillRect/>
          </a:stretch>
        </p:blipFill>
        <p:spPr bwMode="auto">
          <a:xfrm>
            <a:off x="785786" y="4929198"/>
            <a:ext cx="6895751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7224" y="5357826"/>
            <a:ext cx="857256" cy="292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 cstate="print">
            <a:lum bright="-14000" contrast="35000"/>
          </a:blip>
          <a:srcRect/>
          <a:stretch>
            <a:fillRect/>
          </a:stretch>
        </p:blipFill>
        <p:spPr bwMode="auto">
          <a:xfrm>
            <a:off x="1785918" y="5429264"/>
            <a:ext cx="43148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 cstate="print">
            <a:lum bright="-14000" contrast="35000"/>
          </a:blip>
          <a:srcRect/>
          <a:stretch>
            <a:fillRect/>
          </a:stretch>
        </p:blipFill>
        <p:spPr bwMode="auto">
          <a:xfrm>
            <a:off x="928662" y="5786454"/>
            <a:ext cx="20288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806" y="357166"/>
            <a:ext cx="13525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32000"/>
          </a:blip>
          <a:srcRect/>
          <a:stretch>
            <a:fillRect/>
          </a:stretch>
        </p:blipFill>
        <p:spPr bwMode="auto">
          <a:xfrm>
            <a:off x="1850862" y="357166"/>
            <a:ext cx="2435386" cy="399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lum bright="-15000" contrast="32000"/>
          </a:blip>
          <a:srcRect/>
          <a:stretch>
            <a:fillRect/>
          </a:stretch>
        </p:blipFill>
        <p:spPr bwMode="auto">
          <a:xfrm>
            <a:off x="500034" y="1071546"/>
            <a:ext cx="48006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>
            <a:lum bright="-15000" contrast="32000"/>
          </a:blip>
          <a:srcRect/>
          <a:stretch>
            <a:fillRect/>
          </a:stretch>
        </p:blipFill>
        <p:spPr bwMode="auto">
          <a:xfrm>
            <a:off x="2571736" y="1428736"/>
            <a:ext cx="2357454" cy="1104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 cstate="print">
            <a:lum bright="-15000" contrast="32000"/>
          </a:blip>
          <a:srcRect/>
          <a:stretch>
            <a:fillRect/>
          </a:stretch>
        </p:blipFill>
        <p:spPr bwMode="auto">
          <a:xfrm>
            <a:off x="642910" y="2857495"/>
            <a:ext cx="7143800" cy="1851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72396" y="4714884"/>
            <a:ext cx="466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18" y="1271772"/>
            <a:ext cx="6215106" cy="1299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7" y="2643182"/>
            <a:ext cx="6315119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8662" y="3214686"/>
            <a:ext cx="3000396" cy="40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14612" y="4000504"/>
            <a:ext cx="4357718" cy="979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28662" y="5143512"/>
            <a:ext cx="661463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85984" y="5500702"/>
            <a:ext cx="5072098" cy="1122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4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28662" y="142852"/>
            <a:ext cx="3535658" cy="1214422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500042"/>
            <a:ext cx="952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4612" y="571480"/>
            <a:ext cx="1214446" cy="1034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4348" y="1643049"/>
            <a:ext cx="2000264" cy="290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14678" y="1857364"/>
            <a:ext cx="1071570" cy="139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85853" y="3500438"/>
            <a:ext cx="5643602" cy="32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71603" y="4143380"/>
            <a:ext cx="6416509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 cstate="print">
            <a:lum bright="-15000" contrast="26000"/>
          </a:blip>
          <a:srcRect/>
          <a:stretch>
            <a:fillRect/>
          </a:stretch>
        </p:blipFill>
        <p:spPr bwMode="auto">
          <a:xfrm>
            <a:off x="857224" y="357166"/>
            <a:ext cx="6286544" cy="2141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3605213" y="2781300"/>
            <a:ext cx="2609861" cy="1748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4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1214414" y="4500569"/>
            <a:ext cx="5572164" cy="1021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5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1357290" y="5929331"/>
            <a:ext cx="341314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lum bright="-20000" contrast="27000"/>
          </a:blip>
          <a:srcRect/>
          <a:stretch>
            <a:fillRect/>
          </a:stretch>
        </p:blipFill>
        <p:spPr bwMode="auto">
          <a:xfrm>
            <a:off x="2285984" y="3714752"/>
            <a:ext cx="4099306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>
            <a:lum bright="-20000" contrast="27000"/>
          </a:blip>
          <a:srcRect/>
          <a:stretch>
            <a:fillRect/>
          </a:stretch>
        </p:blipFill>
        <p:spPr bwMode="auto">
          <a:xfrm>
            <a:off x="1857356" y="4714884"/>
            <a:ext cx="482603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 cstate="print">
            <a:lum bright="-20000" contrast="27000"/>
          </a:blip>
          <a:srcRect/>
          <a:stretch>
            <a:fillRect/>
          </a:stretch>
        </p:blipFill>
        <p:spPr bwMode="auto">
          <a:xfrm>
            <a:off x="1785918" y="5500702"/>
            <a:ext cx="581922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034" y="642918"/>
            <a:ext cx="6715172" cy="3110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68</TotalTime>
  <Words>112</Words>
  <Application>Microsoft Office PowerPoint</Application>
  <PresentationFormat>On-screen Show (4:3)</PresentationFormat>
  <Paragraphs>16</Paragraphs>
  <Slides>12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Flow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NSU</dc:creator>
  <cp:lastModifiedBy>NSU</cp:lastModifiedBy>
  <cp:revision>14</cp:revision>
  <dcterms:created xsi:type="dcterms:W3CDTF">2015-11-22T10:22:04Z</dcterms:created>
  <dcterms:modified xsi:type="dcterms:W3CDTF">2018-07-24T03:41:18Z</dcterms:modified>
</cp:coreProperties>
</file>