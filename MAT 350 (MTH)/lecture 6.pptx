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49.wmf"/><Relationship Id="rId1" Type="http://schemas.openxmlformats.org/officeDocument/2006/relationships/image" Target="../media/image50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93885-0FF2-4127-A306-C2D31BDF95A1}" type="datetimeFigureOut">
              <a:rPr lang="en-US" smtClean="0"/>
              <a:pPr/>
              <a:t>6/25/2018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25BBD-2140-428D-ADE2-8DB7F97D04CE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755EB-D199-4B17-9547-C06CEC0095B1}" type="datetimeFigureOut">
              <a:rPr lang="en-US" smtClean="0"/>
              <a:pPr/>
              <a:t>6/25/2018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BE40F-C624-42E0-88B6-53EAAB51014C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B114-40A3-4E91-9CF1-65B53E0A88FE}" type="datetime1">
              <a:rPr lang="en-US" smtClean="0"/>
              <a:pPr/>
              <a:t>6/25/2018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90AB8565-A5A4-495E-9F53-177EB08F3EF3}" type="datetime1">
              <a:rPr lang="en-US" smtClean="0"/>
              <a:pPr algn="r" eaLnBrk="1" latinLnBrk="0" hangingPunct="1"/>
              <a:t>6/25/2018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D007E-B925-4B47-AFAD-A1CF4293926A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BE05B-7D6F-4739-A7BE-F456636DB8C5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AE31-D9E5-4B5E-86F7-6AC42FC1001A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D7E7B03C-4CD0-485C-8264-4FE37004F225}" type="datetime1">
              <a:rPr lang="en-US" smtClean="0"/>
              <a:pPr algn="r" eaLnBrk="1" latinLnBrk="0" hangingPunct="1"/>
              <a:t>6/25/2018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F93A-6ACC-409F-9F67-8B8DB08169E7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2083FC7C-D4B1-4BD7-A549-52B8E1F38161}" type="datetime1">
              <a:rPr lang="en-US" smtClean="0"/>
              <a:pPr algn="r" eaLnBrk="1" latinLnBrk="0" hangingPunct="1"/>
              <a:t>6/25/2018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CAB6EED4-F46A-4A04-B1BF-4CC382504845}" type="datetime1">
              <a:rPr lang="en-US" smtClean="0"/>
              <a:pPr algn="r" eaLnBrk="1" latinLnBrk="0" hangingPunct="1"/>
              <a:t>6/25/2018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B5FF-3FD6-4699-B52B-47C7446146C8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AAD3-EFBE-438A-A543-C6F67ECC0293}" type="datetime1">
              <a:rPr lang="en-US" smtClean="0"/>
              <a:pPr/>
              <a:t>6/25/2018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9E4C77E2-97BF-41A4-B73D-6E02942A5473}" type="datetime1">
              <a:rPr lang="en-US" smtClean="0"/>
              <a:pPr algn="r" eaLnBrk="1" latinLnBrk="0" hangingPunct="1"/>
              <a:t>6/25/2018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123728" y="1484784"/>
            <a:ext cx="6172200" cy="1894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MAT 350</a:t>
            </a:r>
            <a:br>
              <a:rPr lang="en-US" dirty="0" smtClean="0"/>
            </a:br>
            <a:r>
              <a:rPr lang="en-US" dirty="0" smtClean="0">
                <a:solidFill>
                  <a:srgbClr val="0070C0"/>
                </a:solidFill>
              </a:rPr>
              <a:t>Engineering mathematics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286000" y="5334000"/>
            <a:ext cx="6172200" cy="109267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Dr. M. </a:t>
            </a:r>
            <a:r>
              <a:rPr lang="en-US" b="0" dirty="0" err="1" smtClean="0">
                <a:solidFill>
                  <a:srgbClr val="002060"/>
                </a:solidFill>
                <a:latin typeface="Berlin Sans FB" pitchFamily="34" charset="0"/>
              </a:rPr>
              <a:t>Sahadet</a:t>
            </a: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 </a:t>
            </a:r>
            <a:r>
              <a:rPr lang="en-US" b="0" dirty="0" err="1" smtClean="0">
                <a:solidFill>
                  <a:srgbClr val="002060"/>
                </a:solidFill>
                <a:latin typeface="Berlin Sans FB" pitchFamily="34" charset="0"/>
              </a:rPr>
              <a:t>Hossain</a:t>
            </a: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 (</a:t>
            </a:r>
            <a:r>
              <a:rPr lang="en-US" b="0" dirty="0" err="1" smtClean="0">
                <a:solidFill>
                  <a:srgbClr val="002060"/>
                </a:solidFill>
                <a:latin typeface="Berlin Sans FB" pitchFamily="34" charset="0"/>
              </a:rPr>
              <a:t>Mth</a:t>
            </a: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b="0" dirty="0" smtClean="0">
                <a:solidFill>
                  <a:srgbClr val="002060"/>
                </a:solidFill>
                <a:latin typeface="Berlin Sans FB" pitchFamily="34" charset="0"/>
              </a:rPr>
              <a:t>Department of Mathematics and Physics, NSU.</a:t>
            </a:r>
            <a:endParaRPr lang="en-US" b="0" dirty="0">
              <a:solidFill>
                <a:srgbClr val="002060"/>
              </a:solidFill>
              <a:latin typeface="Berlin Sans FB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4EBAD-2618-4E40-B501-223697A9A4E6}" type="slidenum">
              <a:rPr lang="en-AU" smtClean="0"/>
              <a:pPr/>
              <a:t>1</a:t>
            </a:fld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 smtClean="0">
                <a:solidFill>
                  <a:srgbClr val="FFC000"/>
                </a:solidFill>
              </a:rPr>
              <a:t>Higher Order ODEs</a:t>
            </a:r>
          </a:p>
          <a:p>
            <a:r>
              <a:rPr lang="en-AU" b="1" dirty="0" smtClean="0">
                <a:solidFill>
                  <a:srgbClr val="FFC000"/>
                </a:solidFill>
              </a:rPr>
              <a:t>UNDETERMINED COEFFICIENTS</a:t>
            </a:r>
            <a:endParaRPr lang="en-AU" b="1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71736" y="400050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6</a:t>
            </a:r>
            <a:endParaRPr lang="en-AU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785794"/>
            <a:ext cx="69294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To solve a nonhomogeneous linear differential equation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00100" y="2357430"/>
            <a:ext cx="70723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The solution y has two parts: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	• the complementary function </a:t>
            </a:r>
            <a:r>
              <a:rPr lang="en-AU" sz="1600" i="1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AU" sz="1600" i="1" baseline="-250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AU" sz="1600" i="1" dirty="0" smtClean="0">
                <a:latin typeface="Arial" pitchFamily="34" charset="0"/>
                <a:cs typeface="Arial" pitchFamily="34" charset="0"/>
              </a:rPr>
              <a:t> and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	• any</a:t>
            </a:r>
            <a:r>
              <a:rPr lang="en-AU" sz="16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particular solution y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of the nonhomogeneous equation (1).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5918" y="3643314"/>
            <a:ext cx="42862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The general solution of (1) is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y = y</a:t>
            </a:r>
            <a:r>
              <a:rPr lang="en-AU" sz="1600" b="1" baseline="-250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+ y</a:t>
            </a:r>
            <a:r>
              <a:rPr lang="en-AU" sz="1600" b="1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1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22000" contrast="16000"/>
          </a:blip>
          <a:srcRect/>
          <a:stretch>
            <a:fillRect/>
          </a:stretch>
        </p:blipFill>
        <p:spPr bwMode="auto">
          <a:xfrm>
            <a:off x="1500166" y="1285860"/>
            <a:ext cx="5643602" cy="494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001024" y="135729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(1)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500034" y="4071942"/>
            <a:ext cx="7572428" cy="2286016"/>
          </a:xfrm>
          <a:prstGeom prst="roundRect">
            <a:avLst/>
          </a:prstGeom>
          <a:solidFill>
            <a:srgbClr val="0070C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142976" y="4143380"/>
            <a:ext cx="6643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* </a:t>
            </a:r>
            <a:r>
              <a:rPr lang="en-AU" sz="2400" dirty="0" smtClean="0"/>
              <a:t>y</a:t>
            </a:r>
            <a:r>
              <a:rPr lang="en-AU" baseline="-25000" dirty="0" smtClean="0"/>
              <a:t>c</a:t>
            </a:r>
            <a:r>
              <a:rPr lang="en-AU" dirty="0" smtClean="0"/>
              <a:t> is obtained from the homogeneous part: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25000" contrast="22000"/>
          </a:blip>
          <a:srcRect/>
          <a:stretch>
            <a:fillRect/>
          </a:stretch>
        </p:blipFill>
        <p:spPr bwMode="auto">
          <a:xfrm>
            <a:off x="2000232" y="4643446"/>
            <a:ext cx="4714908" cy="426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285852" y="5143512"/>
            <a:ext cx="62865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AU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can be obtained by many methods. Few familiar approaches: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  -Superposition approach, Annihilator method, Variation of    parameters, and more...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2</a:t>
            </a:fld>
            <a:endParaRPr kumimoji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7158" y="357166"/>
            <a:ext cx="6955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 of Undetermined Coefficient: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Superposition approach</a:t>
            </a:r>
            <a:endParaRPr lang="en-AU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642909" y="857233"/>
            <a:ext cx="4533057" cy="536168"/>
          </a:xfrm>
          <a:prstGeom prst="rect">
            <a:avLst/>
          </a:prstGeom>
          <a:noFill/>
          <a:ln w="2857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3071803" y="2000240"/>
            <a:ext cx="2357454" cy="315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71472" y="1500174"/>
            <a:ext cx="564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 For y</a:t>
            </a:r>
            <a:r>
              <a:rPr lang="en-AU" baseline="-25000" dirty="0" smtClean="0"/>
              <a:t>c</a:t>
            </a:r>
            <a:r>
              <a:rPr lang="en-AU" dirty="0" smtClean="0"/>
              <a:t> we find the solution of 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14348" y="2500306"/>
            <a:ext cx="48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auxiliary equation is </a:t>
            </a:r>
            <a:endParaRPr lang="en-A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3071802" y="3071810"/>
            <a:ext cx="207170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2428861" y="3786190"/>
            <a:ext cx="4000528" cy="31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57224" y="3357562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Roots are:</a:t>
            </a:r>
            <a:endParaRPr lang="en-AU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>
            <a:lum bright="-15000" contrast="24000"/>
          </a:blip>
          <a:srcRect/>
          <a:stretch>
            <a:fillRect/>
          </a:stretch>
        </p:blipFill>
        <p:spPr bwMode="auto">
          <a:xfrm>
            <a:off x="2500298" y="4643446"/>
            <a:ext cx="4579552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928662" y="4286256"/>
            <a:ext cx="507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complementary function is:</a:t>
            </a:r>
            <a:endParaRPr lang="en-AU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3</a:t>
            </a:fld>
            <a:endParaRPr kumimoji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642918"/>
            <a:ext cx="764386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We assume that y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has the same form as g(x).</a:t>
            </a:r>
          </a:p>
          <a:p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Now, because the function g(x) is a quadratic polynomial, let us assume a particular solution that is also in the form of a quadratic polynomial: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2500298" y="2000240"/>
            <a:ext cx="2357454" cy="405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1928794" y="2500306"/>
            <a:ext cx="4128364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731855" y="3357562"/>
            <a:ext cx="7642123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000100" y="2928934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Substitute into the original ODE: 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785786" y="3929066"/>
            <a:ext cx="5929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Equating the coefficients from both sides, gives</a:t>
            </a:r>
            <a:endParaRPr lang="en-AU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2357422" y="4357694"/>
            <a:ext cx="3872306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2571736" y="4929198"/>
            <a:ext cx="2643206" cy="65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>
            <a:lum bright="-10000" contrast="14000"/>
          </a:blip>
          <a:srcRect/>
          <a:stretch>
            <a:fillRect/>
          </a:stretch>
        </p:blipFill>
        <p:spPr bwMode="auto">
          <a:xfrm>
            <a:off x="785786" y="5572140"/>
            <a:ext cx="4567702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lum bright="-21000" contrast="40000"/>
          </a:blip>
          <a:srcRect/>
          <a:stretch>
            <a:fillRect/>
          </a:stretch>
        </p:blipFill>
        <p:spPr bwMode="auto">
          <a:xfrm>
            <a:off x="642910" y="5929330"/>
            <a:ext cx="7143800" cy="724734"/>
          </a:xfrm>
          <a:prstGeom prst="rect">
            <a:avLst/>
          </a:prstGeom>
          <a:noFill/>
          <a:ln w="57150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428596" y="214290"/>
            <a:ext cx="6737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 of Undetermined Coefficient: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Superposition approach</a:t>
            </a:r>
            <a:endParaRPr lang="en-AU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4</a:t>
            </a:fld>
            <a:endParaRPr kumimoji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714348" y="714356"/>
            <a:ext cx="677141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00034" y="285728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 of Undetermined Coefficient</a:t>
            </a:r>
            <a:endParaRPr lang="en-AU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3143240" y="1857364"/>
            <a:ext cx="2500330" cy="135732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Try yourself</a:t>
            </a:r>
            <a:endParaRPr lang="en-AU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5</a:t>
            </a:fld>
            <a:endParaRPr kumimoji="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500034" y="571480"/>
            <a:ext cx="5000661" cy="603095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3071802" y="1500174"/>
            <a:ext cx="238781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1285852" y="2143116"/>
            <a:ext cx="5000660" cy="4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1285852" y="2714620"/>
            <a:ext cx="2000264" cy="43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1357290" y="3286124"/>
            <a:ext cx="6131594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857224" y="4214818"/>
            <a:ext cx="6879438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6500826" y="4643446"/>
            <a:ext cx="2071702" cy="427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9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1000100" y="5286388"/>
            <a:ext cx="2845300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0" cstate="print">
            <a:lum bright="-19000" contrast="34000"/>
          </a:blip>
          <a:srcRect/>
          <a:stretch>
            <a:fillRect/>
          </a:stretch>
        </p:blipFill>
        <p:spPr bwMode="auto">
          <a:xfrm>
            <a:off x="4429124" y="5072074"/>
            <a:ext cx="3929090" cy="81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1" cstate="print">
            <a:lum bright="-21000" contrast="34000"/>
          </a:blip>
          <a:srcRect/>
          <a:stretch>
            <a:fillRect/>
          </a:stretch>
        </p:blipFill>
        <p:spPr bwMode="auto">
          <a:xfrm>
            <a:off x="1857356" y="5857892"/>
            <a:ext cx="5234935" cy="785818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71472" y="1142984"/>
            <a:ext cx="314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Hints for solution</a:t>
            </a:r>
            <a:r>
              <a:rPr lang="en-AU" dirty="0" smtClean="0"/>
              <a:t>:</a:t>
            </a:r>
            <a:endParaRPr lang="en-AU" dirty="0"/>
          </a:p>
        </p:txBody>
      </p:sp>
      <p:sp>
        <p:nvSpPr>
          <p:cNvPr id="13" name="Rectangle 12"/>
          <p:cNvSpPr/>
          <p:nvPr/>
        </p:nvSpPr>
        <p:spPr>
          <a:xfrm>
            <a:off x="428596" y="214290"/>
            <a:ext cx="6737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 of Undetermined Coefficient: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Superposition approach</a:t>
            </a:r>
            <a:endParaRPr lang="en-AU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6</a:t>
            </a:fld>
            <a:endParaRPr kumimoji="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22000" contrast="21000"/>
          </a:blip>
          <a:srcRect/>
          <a:stretch>
            <a:fillRect/>
          </a:stretch>
        </p:blipFill>
        <p:spPr bwMode="auto">
          <a:xfrm>
            <a:off x="214282" y="773053"/>
            <a:ext cx="8643998" cy="4921214"/>
          </a:xfrm>
          <a:prstGeom prst="rect">
            <a:avLst/>
          </a:prstGeom>
          <a:noFill/>
          <a:ln w="28575" cap="rnd" cmpd="sng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500034" y="285728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Method of Undetermined Coefficient</a:t>
            </a:r>
            <a:endParaRPr lang="en-AU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7</a:t>
            </a:fld>
            <a:endParaRPr kumimoji="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285728"/>
            <a:ext cx="70009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Inverse Operator Method</a:t>
            </a:r>
            <a:endParaRPr lang="en-AU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8662" y="1428736"/>
            <a:ext cx="3817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smtClean="0">
                <a:latin typeface="Arial" pitchFamily="34" charset="0"/>
                <a:cs typeface="Arial" pitchFamily="34" charset="0"/>
              </a:rPr>
              <a:t>Differential operator: D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Example: D(2x) = 2, D(</a:t>
            </a:r>
            <a:r>
              <a:rPr lang="en-AU" sz="1600" i="1" dirty="0" err="1" smtClean="0">
                <a:latin typeface="Arial" pitchFamily="34" charset="0"/>
                <a:cs typeface="Arial" pitchFamily="34" charset="0"/>
              </a:rPr>
              <a:t>sin</a:t>
            </a:r>
            <a:r>
              <a:rPr lang="en-AU" sz="1600" dirty="0" err="1" smtClean="0">
                <a:latin typeface="Arial" pitchFamily="34" charset="0"/>
                <a:cs typeface="Arial" pitchFamily="34" charset="0"/>
              </a:rPr>
              <a:t>x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) =</a:t>
            </a:r>
            <a:r>
              <a:rPr lang="en-AU" sz="16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600" i="1" dirty="0" err="1" smtClean="0">
                <a:latin typeface="Arial" pitchFamily="34" charset="0"/>
                <a:cs typeface="Arial" pitchFamily="34" charset="0"/>
              </a:rPr>
              <a:t>cosx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, etc.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0100" y="2285992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Inverse Differential operator: 1/D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357422" y="2714620"/>
          <a:ext cx="985842" cy="602459"/>
        </p:xfrm>
        <a:graphic>
          <a:graphicData uri="http://schemas.openxmlformats.org/presentationml/2006/ole">
            <p:oleObj spid="_x0000_s7172" name="Equation" r:id="rId3" imgW="685800" imgH="419040" progId="">
              <p:embed/>
            </p:oleObj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4000496" y="2786058"/>
          <a:ext cx="1548593" cy="571504"/>
        </p:xfrm>
        <a:graphic>
          <a:graphicData uri="http://schemas.openxmlformats.org/presentationml/2006/ole">
            <p:oleObj spid="_x0000_s7174" name="Equation" r:id="rId4" imgW="1066680" imgH="393480" progId="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2976" y="3571876"/>
            <a:ext cx="507209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 Technique:</a:t>
            </a:r>
          </a:p>
          <a:p>
            <a:r>
              <a:rPr lang="en-AU" dirty="0" smtClean="0"/>
              <a:t>y= y</a:t>
            </a:r>
            <a:r>
              <a:rPr lang="en-AU" baseline="-25000" dirty="0" smtClean="0"/>
              <a:t>c </a:t>
            </a:r>
            <a:r>
              <a:rPr lang="en-AU" dirty="0" smtClean="0"/>
              <a:t>+y</a:t>
            </a:r>
            <a:r>
              <a:rPr lang="en-AU" baseline="-25000" dirty="0" smtClean="0"/>
              <a:t>p </a:t>
            </a:r>
            <a:r>
              <a:rPr lang="en-AU" dirty="0" smtClean="0"/>
              <a:t> where</a:t>
            </a:r>
          </a:p>
          <a:p>
            <a:endParaRPr lang="en-AU" dirty="0" smtClean="0"/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Yc= from homogeneous form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Yp= write the ODE as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           f(D)y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p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= g(x)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               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                     y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p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= g(x)/f(D) =</a:t>
            </a:r>
            <a:r>
              <a:rPr lang="en-AU" sz="1600" baseline="-25000" dirty="0" smtClean="0">
                <a:latin typeface="Arial" pitchFamily="34" charset="0"/>
                <a:cs typeface="Arial" pitchFamily="34" charset="0"/>
              </a:rPr>
              <a:t> </a:t>
            </a:r>
            <a:endParaRPr lang="en-AU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baseline="-25000" dirty="0" smtClean="0"/>
              <a:t> </a:t>
            </a:r>
            <a:endParaRPr lang="en-AU" baseline="-25000" dirty="0"/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3786182" y="5286388"/>
          <a:ext cx="1357322" cy="384912"/>
        </p:xfrm>
        <a:graphic>
          <a:graphicData uri="http://schemas.openxmlformats.org/presentationml/2006/ole">
            <p:oleObj spid="_x0000_s7176" name="Equation" r:id="rId5" imgW="850680" imgH="241200" progId="">
              <p:embed/>
            </p:oleObj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8</a:t>
            </a:fld>
            <a:endParaRPr kumimoji="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928794" y="1000108"/>
          <a:ext cx="4572032" cy="1621727"/>
        </p:xfrm>
        <a:graphic>
          <a:graphicData uri="http://schemas.openxmlformats.org/presentationml/2006/ole">
            <p:oleObj spid="_x0000_s8194" name="Equation" r:id="rId3" imgW="1892160" imgH="965160" progId="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28662" y="428604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Few inversion formulae</a:t>
            </a:r>
            <a:r>
              <a:rPr lang="en-AU" dirty="0" smtClean="0"/>
              <a:t>: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14414" y="3214686"/>
            <a:ext cx="45720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Example: </a:t>
            </a:r>
          </a:p>
          <a:p>
            <a:r>
              <a:rPr lang="en-AU" sz="1600" dirty="0" smtClean="0">
                <a:latin typeface="Arial" pitchFamily="34" charset="0"/>
                <a:cs typeface="Arial" pitchFamily="34" charset="0"/>
              </a:rPr>
              <a:t>(1-D)</a:t>
            </a:r>
            <a:r>
              <a:rPr lang="en-AU" sz="1600" baseline="30000" dirty="0" smtClean="0">
                <a:latin typeface="Arial" pitchFamily="34" charset="0"/>
                <a:cs typeface="Arial" pitchFamily="34" charset="0"/>
              </a:rPr>
              <a:t>-1 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(x</a:t>
            </a:r>
            <a:r>
              <a:rPr lang="en-AU" sz="1600" baseline="30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 ) =?</a:t>
            </a:r>
            <a:endParaRPr lang="en-AU" sz="1600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6" name="TextBox 5"/>
          <p:cNvSpPr txBox="1"/>
          <p:nvPr/>
        </p:nvSpPr>
        <p:spPr>
          <a:xfrm>
            <a:off x="6156176" y="209034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285728"/>
            <a:ext cx="71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Inverse Operator Method</a:t>
            </a:r>
            <a:endParaRPr lang="en-AU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714356"/>
            <a:ext cx="492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Type -1:  g(x) is algebraic function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142976" y="3429000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y</a:t>
            </a:r>
            <a:r>
              <a:rPr lang="en-AU" baseline="-25000" dirty="0" smtClean="0"/>
              <a:t>p</a:t>
            </a:r>
            <a:r>
              <a:rPr lang="en-AU" dirty="0" smtClean="0"/>
              <a:t>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85786" y="1714488"/>
            <a:ext cx="407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Solution: Auxiliary equation is:</a:t>
            </a:r>
            <a:endParaRPr lang="en-AU" dirty="0"/>
          </a:p>
        </p:txBody>
      </p: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2928926" y="3540693"/>
          <a:ext cx="3143272" cy="2590056"/>
        </p:xfrm>
        <a:graphic>
          <a:graphicData uri="http://schemas.openxmlformats.org/presentationml/2006/ole">
            <p:oleObj spid="_x0000_s9224" name="Equation" r:id="rId3" imgW="1587240" imgH="1307880" progId="">
              <p:embed/>
            </p:oleObj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/>
        </p:nvGraphicFramePr>
        <p:xfrm>
          <a:off x="2357422" y="1214422"/>
          <a:ext cx="2786082" cy="353788"/>
        </p:xfrm>
        <a:graphic>
          <a:graphicData uri="http://schemas.openxmlformats.org/presentationml/2006/ole">
            <p:oleObj spid="_x0000_s9227" name="Equation" r:id="rId4" imgW="1600200" imgH="203040" progId="">
              <p:embed/>
            </p:oleObj>
          </a:graphicData>
        </a:graphic>
      </p:graphicFrame>
      <p:graphicFrame>
        <p:nvGraphicFramePr>
          <p:cNvPr id="9228" name="Object 12"/>
          <p:cNvGraphicFramePr>
            <a:graphicFrameLocks noChangeAspect="1"/>
          </p:cNvGraphicFramePr>
          <p:nvPr/>
        </p:nvGraphicFramePr>
        <p:xfrm>
          <a:off x="1736725" y="2051050"/>
          <a:ext cx="3483347" cy="1382530"/>
        </p:xfrm>
        <a:graphic>
          <a:graphicData uri="http://schemas.openxmlformats.org/presentationml/2006/ole">
            <p:oleObj spid="_x0000_s9228" name="Equation" r:id="rId5" imgW="1536480" imgH="736560" progId="">
              <p:embed/>
            </p:oleObj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067944" y="2996952"/>
            <a:ext cx="115212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071802" y="2000240"/>
          <a:ext cx="4555980" cy="812804"/>
        </p:xfrm>
        <a:graphic>
          <a:graphicData uri="http://schemas.openxmlformats.org/presentationml/2006/ole">
            <p:oleObj spid="_x0000_s10245" name="Equation" r:id="rId3" imgW="2705040" imgH="482400" progId="">
              <p:embed/>
            </p:oleObj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3143240" y="2928934"/>
          <a:ext cx="3098202" cy="768354"/>
        </p:xfrm>
        <a:graphic>
          <a:graphicData uri="http://schemas.openxmlformats.org/presentationml/2006/ole">
            <p:oleObj spid="_x0000_s10246" name="Equation" r:id="rId4" imgW="1587240" imgH="393480" progId="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71802" y="3714752"/>
            <a:ext cx="371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= 2x+3</a:t>
            </a:r>
            <a:endParaRPr lang="en-AU" dirty="0"/>
          </a:p>
        </p:txBody>
      </p:sp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786050" y="1142984"/>
          <a:ext cx="3071834" cy="835873"/>
        </p:xfrm>
        <a:graphic>
          <a:graphicData uri="http://schemas.openxmlformats.org/presentationml/2006/ole">
            <p:oleObj spid="_x0000_s10247" name="Equation" r:id="rId5" imgW="1866600" imgH="507960" progId="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57290" y="4429132"/>
            <a:ext cx="376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general solution is y= yc + yp</a:t>
            </a:r>
            <a:endParaRPr lang="en-AU" dirty="0"/>
          </a:p>
        </p:txBody>
      </p:sp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3071802" y="5072074"/>
          <a:ext cx="3194866" cy="500066"/>
        </p:xfrm>
        <a:graphic>
          <a:graphicData uri="http://schemas.openxmlformats.org/presentationml/2006/ole">
            <p:oleObj spid="_x0000_s10250" name="Equation" r:id="rId6" imgW="1460160" imgH="228600" progId="">
              <p:embed/>
            </p:oleObj>
          </a:graphicData>
        </a:graphic>
      </p:graphicFrame>
      <p:sp>
        <p:nvSpPr>
          <p:cNvPr id="13" name="Rectangle 12"/>
          <p:cNvSpPr/>
          <p:nvPr/>
        </p:nvSpPr>
        <p:spPr>
          <a:xfrm>
            <a:off x="500034" y="285728"/>
            <a:ext cx="71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Inverse Operator Method</a:t>
            </a:r>
            <a:endParaRPr lang="en-AU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11</a:t>
            </a:fld>
            <a:endParaRPr kumimoji="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714356"/>
            <a:ext cx="492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Type -2:  g(x) is exponential function</a:t>
            </a:r>
            <a:r>
              <a:rPr lang="en-AU" dirty="0" smtClean="0"/>
              <a:t>.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500034" y="285728"/>
            <a:ext cx="71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Methods of substitution</a:t>
            </a:r>
            <a:endParaRPr lang="en-AU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357422" y="1785926"/>
          <a:ext cx="1571636" cy="730479"/>
        </p:xfrm>
        <a:graphic>
          <a:graphicData uri="http://schemas.openxmlformats.org/presentationml/2006/ole">
            <p:oleObj spid="_x0000_s11268" name="Equation" r:id="rId3" imgW="901440" imgH="419040" progId="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7224" y="2786058"/>
            <a:ext cx="514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</a:t>
            </a:r>
            <a:r>
              <a:rPr lang="en-AU" i="1" dirty="0" smtClean="0"/>
              <a:t>f</a:t>
            </a:r>
            <a:r>
              <a:rPr lang="en-AU" dirty="0" smtClean="0"/>
              <a:t>(a) ≠ 0, then</a:t>
            </a:r>
            <a:endParaRPr lang="en-AU" dirty="0"/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2643174" y="2898274"/>
          <a:ext cx="1571636" cy="897106"/>
        </p:xfrm>
        <a:graphic>
          <a:graphicData uri="http://schemas.openxmlformats.org/presentationml/2006/ole">
            <p:oleObj spid="_x0000_s11269" name="Equation" r:id="rId4" imgW="863280" imgH="419040" progId="">
              <p:embed/>
            </p:oleObj>
          </a:graphicData>
        </a:graphic>
      </p:graphicFrame>
      <p:sp>
        <p:nvSpPr>
          <p:cNvPr id="8" name="Rectangle 7"/>
          <p:cNvSpPr/>
          <p:nvPr/>
        </p:nvSpPr>
        <p:spPr>
          <a:xfrm>
            <a:off x="857224" y="3786190"/>
            <a:ext cx="17908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If </a:t>
            </a:r>
            <a:r>
              <a:rPr lang="en-AU" i="1" dirty="0" smtClean="0"/>
              <a:t>f</a:t>
            </a:r>
            <a:r>
              <a:rPr lang="en-AU" dirty="0" smtClean="0"/>
              <a:t>(a) = 0, then</a:t>
            </a:r>
            <a:endParaRPr lang="en-AU" dirty="0"/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2428860" y="4429132"/>
          <a:ext cx="2500330" cy="801077"/>
        </p:xfrm>
        <a:graphic>
          <a:graphicData uri="http://schemas.openxmlformats.org/presentationml/2006/ole">
            <p:oleObj spid="_x0000_s11270" name="Equation" r:id="rId5" imgW="1307880" imgH="419040" progId="">
              <p:embed/>
            </p:oleObj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2357422" y="1214422"/>
          <a:ext cx="1714512" cy="504269"/>
        </p:xfrm>
        <a:graphic>
          <a:graphicData uri="http://schemas.openxmlformats.org/presentationml/2006/ole">
            <p:oleObj spid="_x0000_s11271" name="Equation" r:id="rId6" imgW="863280" imgH="253800" progId="">
              <p:embed/>
            </p:oleObj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12</a:t>
            </a:fld>
            <a:endParaRPr kumimoji="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3071802" y="2285992"/>
          <a:ext cx="2425320" cy="500066"/>
        </p:xfrm>
        <a:graphic>
          <a:graphicData uri="http://schemas.openxmlformats.org/presentationml/2006/ole">
            <p:oleObj spid="_x0000_s31749" name="Equation" r:id="rId3" imgW="1231560" imgH="253800" progId="">
              <p:embed/>
            </p:oleObj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3094038" y="2857500"/>
          <a:ext cx="2600325" cy="817563"/>
        </p:xfrm>
        <a:graphic>
          <a:graphicData uri="http://schemas.openxmlformats.org/presentationml/2006/ole">
            <p:oleObj spid="_x0000_s31750" name="Equation" r:id="rId4" imgW="1333440" imgH="419040" progId="">
              <p:embed/>
            </p:oleObj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3428992" y="3786190"/>
          <a:ext cx="2357454" cy="810375"/>
        </p:xfrm>
        <a:graphic>
          <a:graphicData uri="http://schemas.openxmlformats.org/presentationml/2006/ole">
            <p:oleObj spid="_x0000_s31751" name="Equation" r:id="rId5" imgW="1218960" imgH="419040" progId="">
              <p:embed/>
            </p:oleObj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3500430" y="4572008"/>
          <a:ext cx="2571768" cy="701391"/>
        </p:xfrm>
        <a:graphic>
          <a:graphicData uri="http://schemas.openxmlformats.org/presentationml/2006/ole">
            <p:oleObj spid="_x0000_s31753" name="Equation" r:id="rId6" imgW="1536480" imgH="419040" progId="">
              <p:embed/>
            </p:oleObj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2786050" y="642918"/>
          <a:ext cx="2857520" cy="393701"/>
        </p:xfrm>
        <a:graphic>
          <a:graphicData uri="http://schemas.openxmlformats.org/presentationml/2006/ole">
            <p:oleObj spid="_x0000_s31755" name="Equation" r:id="rId7" imgW="1498320" imgH="228600" progId="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5074" y="3000372"/>
            <a:ext cx="214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 that, a=1</a:t>
            </a:r>
          </a:p>
          <a:p>
            <a:r>
              <a:rPr lang="en-AU" i="1" dirty="0" smtClean="0"/>
              <a:t>and f</a:t>
            </a:r>
            <a:r>
              <a:rPr lang="en-AU" dirty="0" smtClean="0"/>
              <a:t>(a) ≠ 0. 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1142976" y="5429264"/>
            <a:ext cx="3760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The general solution is y= </a:t>
            </a:r>
            <a:r>
              <a:rPr lang="en-AU" dirty="0" err="1" smtClean="0"/>
              <a:t>yc</a:t>
            </a:r>
            <a:r>
              <a:rPr lang="en-AU" dirty="0" smtClean="0"/>
              <a:t> + </a:t>
            </a:r>
            <a:r>
              <a:rPr lang="en-AU" dirty="0" err="1" smtClean="0"/>
              <a:t>yp</a:t>
            </a:r>
            <a:endParaRPr lang="en-AU" dirty="0"/>
          </a:p>
        </p:txBody>
      </p:sp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3428992" y="5715016"/>
          <a:ext cx="2571768" cy="724771"/>
        </p:xfrm>
        <a:graphic>
          <a:graphicData uri="http://schemas.openxmlformats.org/presentationml/2006/ole">
            <p:oleObj spid="_x0000_s31757" name="Equation" r:id="rId8" imgW="1396800" imgH="393480" progId="">
              <p:embed/>
            </p:oleObj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3214678" y="1357298"/>
          <a:ext cx="2428892" cy="556011"/>
        </p:xfrm>
        <a:graphic>
          <a:graphicData uri="http://schemas.openxmlformats.org/presentationml/2006/ole">
            <p:oleObj spid="_x0000_s31758" name="Equation" r:id="rId9" imgW="1054080" imgH="241200" progId="">
              <p:embed/>
            </p:oleObj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14348" y="1071546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comp. solution: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14348" y="2000240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part. solution:</a:t>
            </a:r>
            <a:endParaRPr lang="en-AU" dirty="0"/>
          </a:p>
        </p:txBody>
      </p:sp>
      <p:sp>
        <p:nvSpPr>
          <p:cNvPr id="21" name="Rectangle 20"/>
          <p:cNvSpPr/>
          <p:nvPr/>
        </p:nvSpPr>
        <p:spPr>
          <a:xfrm>
            <a:off x="500034" y="214290"/>
            <a:ext cx="71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Substitution method</a:t>
            </a:r>
            <a:endParaRPr lang="en-AU" sz="1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13</a:t>
            </a:fld>
            <a:endParaRPr kumimoji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3071802" y="714356"/>
          <a:ext cx="2905145" cy="428628"/>
        </p:xfrm>
        <a:graphic>
          <a:graphicData uri="http://schemas.openxmlformats.org/presentationml/2006/ole">
            <p:oleObj spid="_x0000_s32771" name="Equation" r:id="rId3" imgW="1549080" imgH="228600" progId="">
              <p:embed/>
            </p:oleObj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3214678" y="1357298"/>
          <a:ext cx="2428892" cy="556011"/>
        </p:xfrm>
        <a:graphic>
          <a:graphicData uri="http://schemas.openxmlformats.org/presentationml/2006/ole">
            <p:oleObj spid="_x0000_s32773" name="Equation" r:id="rId4" imgW="1054080" imgH="241200" progId="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4348" y="1071546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comp. solution: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14348" y="2000240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part. solution:</a:t>
            </a:r>
            <a:endParaRPr lang="en-AU" dirty="0"/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3214678" y="2285992"/>
          <a:ext cx="2286016" cy="448238"/>
        </p:xfrm>
        <a:graphic>
          <a:graphicData uri="http://schemas.openxmlformats.org/presentationml/2006/ole">
            <p:oleObj spid="_x0000_s32775" name="Equation" r:id="rId5" imgW="1295280" imgH="253800" progId="">
              <p:embed/>
            </p:oleObj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3286116" y="2857496"/>
          <a:ext cx="2238386" cy="703493"/>
        </p:xfrm>
        <a:graphic>
          <a:graphicData uri="http://schemas.openxmlformats.org/presentationml/2006/ole">
            <p:oleObj spid="_x0000_s32776" name="Equation" r:id="rId6" imgW="1333440" imgH="419040" progId="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5074" y="3000372"/>
            <a:ext cx="214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 that, a= -1</a:t>
            </a:r>
          </a:p>
          <a:p>
            <a:r>
              <a:rPr lang="en-AU" i="1" dirty="0" smtClean="0"/>
              <a:t>and f</a:t>
            </a:r>
            <a:r>
              <a:rPr lang="en-AU" dirty="0" smtClean="0"/>
              <a:t>(a) = 0. </a:t>
            </a:r>
            <a:endParaRPr lang="en-AU" dirty="0"/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/>
        </p:nvGraphicFramePr>
        <p:xfrm>
          <a:off x="3500430" y="3643314"/>
          <a:ext cx="3000396" cy="1522589"/>
        </p:xfrm>
        <a:graphic>
          <a:graphicData uri="http://schemas.openxmlformats.org/presentationml/2006/ole">
            <p:oleObj spid="_x0000_s32778" name="Equation" r:id="rId7" imgW="1701720" imgH="863280" progId="">
              <p:embed/>
            </p:oleObj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/>
        </p:nvGraphicFramePr>
        <p:xfrm>
          <a:off x="3643306" y="5214950"/>
          <a:ext cx="2357454" cy="1311974"/>
        </p:xfrm>
        <a:graphic>
          <a:graphicData uri="http://schemas.openxmlformats.org/presentationml/2006/ole">
            <p:oleObj spid="_x0000_s32780" name="Equation" r:id="rId8" imgW="1460160" imgH="812520" progId="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72264" y="4143380"/>
            <a:ext cx="2286016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Note: (D+1)=0, for a= -1. Hence D it is replaced there by (</a:t>
            </a:r>
            <a:r>
              <a:rPr lang="en-AU" dirty="0" err="1" smtClean="0"/>
              <a:t>D+a</a:t>
            </a:r>
            <a:r>
              <a:rPr lang="en-AU" dirty="0" smtClean="0"/>
              <a:t>).</a:t>
            </a:r>
            <a:endParaRPr lang="en-AU" dirty="0"/>
          </a:p>
        </p:txBody>
      </p:sp>
      <p:graphicFrame>
        <p:nvGraphicFramePr>
          <p:cNvPr id="32781" name="Object 13"/>
          <p:cNvGraphicFramePr>
            <a:graphicFrameLocks noChangeAspect="1"/>
          </p:cNvGraphicFramePr>
          <p:nvPr/>
        </p:nvGraphicFramePr>
        <p:xfrm>
          <a:off x="571472" y="5857892"/>
          <a:ext cx="2781300" cy="725487"/>
        </p:xfrm>
        <a:graphic>
          <a:graphicData uri="http://schemas.openxmlformats.org/presentationml/2006/ole">
            <p:oleObj spid="_x0000_s32781" name="Equation" r:id="rId9" imgW="1511280" imgH="393480" progId="">
              <p:embed/>
            </p:oleObj>
          </a:graphicData>
        </a:graphic>
      </p:graphicFrame>
      <p:sp>
        <p:nvSpPr>
          <p:cNvPr id="18" name="Rectangle 17"/>
          <p:cNvSpPr/>
          <p:nvPr/>
        </p:nvSpPr>
        <p:spPr>
          <a:xfrm>
            <a:off x="500034" y="285728"/>
            <a:ext cx="71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UNDETERMINED COEFFICIENTS —</a:t>
            </a:r>
            <a:r>
              <a:rPr lang="en-AU" sz="16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Substitution method</a:t>
            </a:r>
            <a:endParaRPr lang="en-AU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14</a:t>
            </a:fld>
            <a:endParaRPr kumimoji="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3" name="TextBox 2"/>
          <p:cNvSpPr txBox="1"/>
          <p:nvPr/>
        </p:nvSpPr>
        <p:spPr>
          <a:xfrm>
            <a:off x="500034" y="428604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Exercise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On Superposition approach</a:t>
            </a:r>
            <a:endParaRPr lang="en-AU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20056" y="1213231"/>
            <a:ext cx="2619728" cy="35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20397" y="1829559"/>
            <a:ext cx="2516992" cy="35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90573" y="2373650"/>
            <a:ext cx="2897116" cy="431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5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92312" y="2937432"/>
            <a:ext cx="2373162" cy="565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6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89691" y="3588097"/>
            <a:ext cx="3164222" cy="431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7" cstate="print">
            <a:lum bright="-20000" contrast="37000"/>
          </a:blip>
          <a:srcRect/>
          <a:stretch>
            <a:fillRect/>
          </a:stretch>
        </p:blipFill>
        <p:spPr bwMode="auto">
          <a:xfrm>
            <a:off x="1482848" y="4221837"/>
            <a:ext cx="5232292" cy="503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8" cstate="print">
            <a:lum bright="-19000" contrast="26000"/>
          </a:blip>
          <a:srcRect/>
          <a:stretch>
            <a:fillRect/>
          </a:stretch>
        </p:blipFill>
        <p:spPr bwMode="auto">
          <a:xfrm>
            <a:off x="1142976" y="5214949"/>
            <a:ext cx="3786214" cy="1068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3" name="Rectangle 2"/>
          <p:cNvSpPr/>
          <p:nvPr/>
        </p:nvSpPr>
        <p:spPr>
          <a:xfrm>
            <a:off x="642910" y="357166"/>
            <a:ext cx="6694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Exercise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On </a:t>
            </a:r>
            <a:r>
              <a:rPr lang="en-AU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Inverse Operator Method/Substitution method</a:t>
            </a:r>
            <a:endParaRPr lang="en-AU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1928794" y="1214422"/>
            <a:ext cx="214314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1928794" y="1857364"/>
            <a:ext cx="2582758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2071670" y="2388246"/>
            <a:ext cx="2143140" cy="35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2071670" y="3328811"/>
            <a:ext cx="2500330" cy="457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6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2071670" y="2875622"/>
            <a:ext cx="2571768" cy="40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7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2071670" y="3857628"/>
            <a:ext cx="432951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8" cstate="print">
            <a:lum bright="-24000" contrast="41000"/>
          </a:blip>
          <a:srcRect/>
          <a:stretch>
            <a:fillRect/>
          </a:stretch>
        </p:blipFill>
        <p:spPr bwMode="auto">
          <a:xfrm>
            <a:off x="2071670" y="4429132"/>
            <a:ext cx="3906766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Explosion 1 10"/>
          <p:cNvSpPr/>
          <p:nvPr/>
        </p:nvSpPr>
        <p:spPr>
          <a:xfrm>
            <a:off x="3428992" y="5214950"/>
            <a:ext cx="1357322" cy="9144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End</a:t>
            </a:r>
            <a:endParaRPr lang="en-A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17</a:t>
            </a:fld>
            <a:endParaRPr kumimoji="0"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383</TotalTime>
  <Words>472</Words>
  <Application>Microsoft Office PowerPoint</Application>
  <PresentationFormat>On-screen Show (4:3)</PresentationFormat>
  <Paragraphs>93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Flow</vt:lpstr>
      <vt:lpstr>Equation</vt:lpstr>
      <vt:lpstr> MAT 350 Engineering mathematics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82</cp:revision>
  <dcterms:created xsi:type="dcterms:W3CDTF">2015-10-04T06:37:22Z</dcterms:created>
  <dcterms:modified xsi:type="dcterms:W3CDTF">2018-06-25T08:26:45Z</dcterms:modified>
</cp:coreProperties>
</file>