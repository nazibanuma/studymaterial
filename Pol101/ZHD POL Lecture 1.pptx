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4073F-C506-44EB-A4D5-2BBDE2356FD2}" v="6" dt="2025-05-23T13:19:35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3987" autoAdjust="0"/>
  </p:normalViewPr>
  <p:slideViewPr>
    <p:cSldViewPr snapToGrid="0">
      <p:cViewPr varScale="1">
        <p:scale>
          <a:sx n="102" d="100"/>
          <a:sy n="102" d="100"/>
        </p:scale>
        <p:origin x="9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4B7A2-58BC-4BFA-ACF5-3F2E4A5EE2C3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EFEA2-F8EC-4A49-85A3-886ECF9DCD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448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EFEA2-F8EC-4A49-85A3-886ECF9DCD19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796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EFEA2-F8EC-4A49-85A3-886ECF9DCD19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240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640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363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909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506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687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131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014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27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8077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87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18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2698727-EEEC-405A-A369-13F00DB2030D}" type="datetimeFigureOut">
              <a:rPr lang="en-CA" smtClean="0"/>
              <a:t>2026-01-25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13DF274-AC6F-4146-BE04-B13D67029F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2461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75A5-DCFC-16BC-3C1A-574F8FD77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NSU 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POL. 101</a:t>
            </a:r>
            <a:b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Lecture: 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85612-2B06-17F1-13B3-FBBB3C57F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What is Politics? Why It Matters?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Is Political Science a Science?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Video 4" descr="Floating Numbers And Letters On Top Of A Book">
            <a:extLst>
              <a:ext uri="{FF2B5EF4-FFF2-40B4-BE49-F238E27FC236}">
                <a16:creationId xmlns:a16="http://schemas.microsoft.com/office/drawing/2014/main" id="{3DC415E3-8A3E-CBC7-247F-34E6E0B4591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1" b="285"/>
          <a:stretch>
            <a:fillRect/>
          </a:stretch>
        </p:blipFill>
        <p:spPr>
          <a:xfrm>
            <a:off x="5911532" y="2896975"/>
            <a:ext cx="5150277" cy="288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62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353F-EAE2-9D2D-69FD-6C7D80AE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CA" sz="4800" dirty="0">
                <a:solidFill>
                  <a:srgbClr val="FFFFFF"/>
                </a:solidFill>
              </a:rPr>
              <a:t>The word Politics has originated from Greek Word Polis which means City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67809-6BE1-298E-11DC-1296D2DD8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 fontScale="47500" lnSpcReduction="20000"/>
          </a:bodyPr>
          <a:lstStyle/>
          <a:p>
            <a:r>
              <a:rPr lang="en-CA" sz="2000" dirty="0">
                <a:solidFill>
                  <a:schemeClr val="tx1">
                    <a:alpha val="80000"/>
                  </a:schemeClr>
                </a:solidFill>
              </a:rPr>
              <a:t>Definition:</a:t>
            </a:r>
          </a:p>
          <a:p>
            <a:endParaRPr lang="en-CA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CA" sz="40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CA" sz="5600" dirty="0">
                <a:solidFill>
                  <a:schemeClr val="tx1">
                    <a:alpha val="80000"/>
                  </a:schemeClr>
                </a:solidFill>
              </a:rPr>
              <a:t>“Who   gets   what  when,  and How”-Harold D. Lasswell</a:t>
            </a:r>
          </a:p>
          <a:p>
            <a:pPr marL="0" indent="0">
              <a:buNone/>
            </a:pPr>
            <a:endParaRPr lang="en-CA" sz="5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CA" sz="5600" dirty="0">
                <a:solidFill>
                  <a:schemeClr val="tx1">
                    <a:alpha val="80000"/>
                  </a:schemeClr>
                </a:solidFill>
              </a:rPr>
              <a:t>“Authoritative  Allocation of Values-”---David Easton</a:t>
            </a:r>
          </a:p>
          <a:p>
            <a:pPr marL="0" indent="0">
              <a:buNone/>
            </a:pPr>
            <a:endParaRPr lang="en-CA" sz="5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CA" sz="5600" dirty="0">
                <a:solidFill>
                  <a:schemeClr val="tx1">
                    <a:alpha val="80000"/>
                  </a:schemeClr>
                </a:solidFill>
              </a:rPr>
              <a:t>Struggle for Dominance</a:t>
            </a:r>
          </a:p>
          <a:p>
            <a:endParaRPr lang="en-CA" sz="56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CA" sz="5600" dirty="0">
                <a:solidFill>
                  <a:schemeClr val="tx1">
                    <a:alpha val="80000"/>
                  </a:schemeClr>
                </a:solidFill>
              </a:rPr>
              <a:t>A Process of Reaching Consensus through Conflict</a:t>
            </a:r>
          </a:p>
          <a:p>
            <a:endParaRPr lang="en-CA" sz="56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56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4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2000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00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D805-C0D6-CDFC-8CF5-381798B0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Political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5BBE9-6377-2447-BD5B-AD4DE8B66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Political Science is a Social Science</a:t>
            </a:r>
          </a:p>
          <a:p>
            <a:r>
              <a:rPr lang="en-CA" dirty="0"/>
              <a:t>It deals with politics</a:t>
            </a:r>
          </a:p>
          <a:p>
            <a:r>
              <a:rPr lang="en-CA" dirty="0"/>
              <a:t>It deals with political behaviour of individuals and groups</a:t>
            </a:r>
          </a:p>
          <a:p>
            <a:r>
              <a:rPr lang="en-CA" dirty="0"/>
              <a:t>Political behavior includes  individual and group behaviour</a:t>
            </a:r>
          </a:p>
          <a:p>
            <a:r>
              <a:rPr lang="en-CA" dirty="0"/>
              <a:t> Behaviour involves  all kinds  of political activities</a:t>
            </a:r>
          </a:p>
          <a:p>
            <a:r>
              <a:rPr lang="en-CA" dirty="0"/>
              <a:t> It  deals with policymaking and  decision making  by public means</a:t>
            </a:r>
          </a:p>
          <a:p>
            <a:r>
              <a:rPr lang="en-CA" dirty="0"/>
              <a:t>It deals with the political role of the people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9566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BA83-50AF-E115-4A14-2676F7872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287682"/>
            <a:ext cx="9823768" cy="4270963"/>
          </a:xfrm>
        </p:spPr>
        <p:txBody>
          <a:bodyPr anchor="ctr">
            <a:normAutofit/>
          </a:bodyPr>
          <a:lstStyle/>
          <a:p>
            <a:pPr algn="ctr"/>
            <a:r>
              <a:rPr lang="en-CA" sz="2800" dirty="0">
                <a:solidFill>
                  <a:srgbClr val="FFFFFF"/>
                </a:solidFill>
              </a:rPr>
              <a:t>Why Political Science Matters</a:t>
            </a: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br>
              <a:rPr lang="en-CA" sz="1800" dirty="0">
                <a:solidFill>
                  <a:srgbClr val="FFFFFF"/>
                </a:solidFill>
              </a:rPr>
            </a:br>
            <a:endParaRPr lang="en-CA" sz="1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6A31-B539-4853-0E80-6E3199876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08" y="-1279304"/>
            <a:ext cx="4560978" cy="5837949"/>
          </a:xfrm>
        </p:spPr>
        <p:txBody>
          <a:bodyPr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CA" sz="800" b="1" dirty="0">
                <a:solidFill>
                  <a:schemeClr val="tx1">
                    <a:alpha val="80000"/>
                  </a:schemeClr>
                </a:solidFill>
              </a:rPr>
              <a:t>It deals with  Politics</a:t>
            </a: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86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CA" sz="8600" b="1" dirty="0">
                <a:solidFill>
                  <a:schemeClr val="tx1">
                    <a:alpha val="80000"/>
                  </a:schemeClr>
                </a:solidFill>
              </a:rPr>
              <a:t>It deals with politics</a:t>
            </a:r>
          </a:p>
          <a:p>
            <a:pPr marL="0" indent="0">
              <a:buNone/>
            </a:pPr>
            <a:r>
              <a:rPr lang="en-CA" sz="8600" b="1" dirty="0">
                <a:solidFill>
                  <a:schemeClr val="tx1">
                    <a:alpha val="80000"/>
                  </a:schemeClr>
                </a:solidFill>
              </a:rPr>
              <a:t>It  teaches us about authoritative allocation of values</a:t>
            </a:r>
          </a:p>
          <a:p>
            <a:pPr marL="0" indent="0">
              <a:buNone/>
            </a:pPr>
            <a:r>
              <a:rPr lang="en-CA" sz="8600" b="1" dirty="0">
                <a:solidFill>
                  <a:schemeClr val="tx1">
                    <a:alpha val="80000"/>
                  </a:schemeClr>
                </a:solidFill>
              </a:rPr>
              <a:t>It deals with human behavior</a:t>
            </a:r>
          </a:p>
          <a:p>
            <a:pPr marL="0" indent="0">
              <a:buNone/>
            </a:pPr>
            <a:r>
              <a:rPr lang="en-CA" sz="8600" b="1" dirty="0">
                <a:solidFill>
                  <a:schemeClr val="tx1">
                    <a:alpha val="80000"/>
                  </a:schemeClr>
                </a:solidFill>
              </a:rPr>
              <a:t>Politics affects people either as an actor or as a subject</a:t>
            </a:r>
          </a:p>
          <a:p>
            <a:pPr marL="0" indent="0">
              <a:buNone/>
            </a:pPr>
            <a:r>
              <a:rPr lang="en-CA" sz="8600" b="1" dirty="0">
                <a:solidFill>
                  <a:schemeClr val="tx1">
                    <a:alpha val="80000"/>
                  </a:schemeClr>
                </a:solidFill>
              </a:rPr>
              <a:t>It deals with the political role of the people</a:t>
            </a:r>
          </a:p>
          <a:p>
            <a:pPr marL="0" indent="0">
              <a:buNone/>
            </a:pPr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  <a:p>
            <a:endParaRPr lang="en-CA" sz="800" b="1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6F0A5-92F4-EF3A-2DC5-853534D196A1}"/>
              </a:ext>
            </a:extLst>
          </p:cNvPr>
          <p:cNvSpPr txBox="1"/>
          <p:nvPr/>
        </p:nvSpPr>
        <p:spPr>
          <a:xfrm>
            <a:off x="7194116" y="1639670"/>
            <a:ext cx="3942283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chemeClr val="tx1">
                    <a:alpha val="80000"/>
                  </a:schemeClr>
                </a:solidFill>
              </a:rPr>
              <a:t>It deals with Government’s actions and public policies</a:t>
            </a:r>
          </a:p>
          <a:p>
            <a:pPr marL="0" indent="0">
              <a:buNone/>
            </a:pPr>
            <a:r>
              <a:rPr lang="en-CA" sz="2000" b="1" dirty="0">
                <a:solidFill>
                  <a:schemeClr val="tx1">
                    <a:alpha val="80000"/>
                  </a:schemeClr>
                </a:solidFill>
              </a:rPr>
              <a:t>It deals with dispute and dispute resolution</a:t>
            </a:r>
          </a:p>
          <a:p>
            <a:pPr marL="0" indent="0">
              <a:buNone/>
            </a:pPr>
            <a:r>
              <a:rPr lang="en-CA" sz="2000" b="1" dirty="0">
                <a:solidFill>
                  <a:schemeClr val="tx1">
                    <a:alpha val="80000"/>
                  </a:schemeClr>
                </a:solidFill>
              </a:rPr>
              <a:t> It teaches us  about rights and responsibilities of a citizen</a:t>
            </a:r>
          </a:p>
          <a:p>
            <a:pPr marL="0" indent="0">
              <a:buNone/>
            </a:pPr>
            <a:r>
              <a:rPr lang="en-CA" sz="2000" b="1" dirty="0">
                <a:solidFill>
                  <a:schemeClr val="tx1">
                    <a:alpha val="80000"/>
                  </a:schemeClr>
                </a:solidFill>
              </a:rPr>
              <a:t>It teaches us the ability to think freely</a:t>
            </a:r>
          </a:p>
          <a:p>
            <a:pPr marL="0" indent="0">
              <a:buNone/>
            </a:pPr>
            <a:r>
              <a:rPr lang="en-CA" sz="2000" b="1" dirty="0">
                <a:solidFill>
                  <a:schemeClr val="tx1">
                    <a:alpha val="80000"/>
                  </a:schemeClr>
                </a:solidFill>
              </a:rPr>
              <a:t>Alternative perspectives</a:t>
            </a: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1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1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CA" sz="100" b="1" dirty="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18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F324-AF98-BEEE-FC64-23EFED78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CA" sz="5600" dirty="0">
                <a:solidFill>
                  <a:srgbClr val="FFFFFF"/>
                </a:solidFill>
              </a:rPr>
              <a:t>Is Political Science 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B3E1-564F-D87F-9090-4DB3F4BC9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CA" sz="2000" b="1" dirty="0">
                <a:solidFill>
                  <a:schemeClr val="tx1">
                    <a:alpha val="80000"/>
                  </a:schemeClr>
                </a:solidFill>
              </a:rPr>
              <a:t>Science is Empirical and Quantitative and based on hard facts</a:t>
            </a:r>
          </a:p>
          <a:p>
            <a:r>
              <a:rPr lang="en-CA" sz="2000" dirty="0">
                <a:solidFill>
                  <a:schemeClr val="tx1">
                    <a:alpha val="80000"/>
                  </a:schemeClr>
                </a:solidFill>
              </a:rPr>
              <a:t>But Political Science is Social Science  based on facts and values</a:t>
            </a:r>
          </a:p>
          <a:p>
            <a:r>
              <a:rPr lang="en-CA" sz="2000" dirty="0">
                <a:solidFill>
                  <a:schemeClr val="tx1">
                    <a:alpha val="80000"/>
                  </a:schemeClr>
                </a:solidFill>
              </a:rPr>
              <a:t>It is both normative and empirical</a:t>
            </a:r>
          </a:p>
          <a:p>
            <a:r>
              <a:rPr lang="en-CA" sz="2000" dirty="0">
                <a:solidFill>
                  <a:schemeClr val="tx1">
                    <a:alpha val="80000"/>
                  </a:schemeClr>
                </a:solidFill>
              </a:rPr>
              <a:t>It is a </a:t>
            </a:r>
            <a:r>
              <a:rPr lang="en-CA" sz="2000" dirty="0" err="1">
                <a:solidFill>
                  <a:schemeClr val="tx1">
                    <a:alpha val="80000"/>
                  </a:schemeClr>
                </a:solidFill>
              </a:rPr>
              <a:t>baehavioral</a:t>
            </a:r>
            <a:r>
              <a:rPr lang="en-CA" sz="2000" dirty="0">
                <a:solidFill>
                  <a:schemeClr val="tx1">
                    <a:alpha val="80000"/>
                  </a:schemeClr>
                </a:solidFill>
              </a:rPr>
              <a:t> Science, </a:t>
            </a:r>
            <a:r>
              <a:rPr lang="en-CA" sz="2000">
                <a:solidFill>
                  <a:schemeClr val="tx1">
                    <a:alpha val="80000"/>
                  </a:schemeClr>
                </a:solidFill>
              </a:rPr>
              <a:t>not a natural </a:t>
            </a:r>
            <a:r>
              <a:rPr lang="en-CA" sz="2000" dirty="0">
                <a:solidFill>
                  <a:schemeClr val="tx1">
                    <a:alpha val="80000"/>
                  </a:schemeClr>
                </a:solidFill>
              </a:rPr>
              <a:t>science</a:t>
            </a:r>
          </a:p>
        </p:txBody>
      </p:sp>
    </p:spTree>
    <p:extLst>
      <p:ext uri="{BB962C8B-B14F-4D97-AF65-F5344CB8AC3E}">
        <p14:creationId xmlns:p14="http://schemas.microsoft.com/office/powerpoint/2010/main" val="2056298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266</Words>
  <Application>Microsoft Macintosh PowerPoint</Application>
  <PresentationFormat>Widescreen</PresentationFormat>
  <Paragraphs>74</Paragraphs>
  <Slides>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NSU  POL. 101 Lecture: One</vt:lpstr>
      <vt:lpstr>The word Politics has originated from Greek Word Polis which means City State</vt:lpstr>
      <vt:lpstr>What is Political Science?</vt:lpstr>
      <vt:lpstr>Why Political Science Matters           </vt:lpstr>
      <vt:lpstr>Is Political Science a Science?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NSU  POL. 101 Lecture: One</dc:title>
  <dc:creator>Zaglul Haider</dc:creator>
  <cp:lastModifiedBy>Farah Chowdhury</cp:lastModifiedBy>
  <cp:revision>10</cp:revision>
  <dcterms:created xsi:type="dcterms:W3CDTF">2025-05-23T09:15:12Z</dcterms:created>
  <dcterms:modified xsi:type="dcterms:W3CDTF">2026-01-25T14:06:25Z</dcterms:modified>
</cp:coreProperties>
</file>