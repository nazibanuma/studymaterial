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29"/>
  </p:normalViewPr>
  <p:slideViewPr>
    <p:cSldViewPr snapToGrid="0">
      <p:cViewPr>
        <p:scale>
          <a:sx n="112" d="100"/>
          <a:sy n="112" d="100"/>
        </p:scale>
        <p:origin x="5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AB29-A8EB-CA57-3D71-0E1D2B2A6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16FC0-FE7D-B19F-B4EF-C1DBBD93A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50AE4-5BFA-E02D-4347-627CA984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9627E-8017-CC93-C935-F0EEF6BA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6C5E9-9FC1-0D3E-7CB5-31B9C58A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109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17B8-7436-FFA5-DB2E-669B5DD7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A518-1C3E-EC98-5824-60B0D0182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1CD88-1635-4F47-2C89-9D785795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1B4A6-922F-0AF4-598B-C422E783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BAD9E-2268-BF64-0587-2584B020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644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4BDA-9D44-CDAA-2822-4B8E43EF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915D-4A65-CE61-5461-5D9C5FC98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B10F-4476-1BFD-DE2C-5B7223D1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62EB4-6904-ED17-DBD4-254FDA97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EB52-8FA7-C200-F770-7FD3F812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29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8E6F-B18B-A211-6674-AA9F52C7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97DC-CF0C-F226-CEF1-7C900FF97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2AB88-87C9-12EF-F4A9-391911F4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7B2B6-2F23-C960-185E-44A56545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03F1-09B7-4552-D0B2-F1D706F8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78D3E-B06C-ED13-5AC7-75B37762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67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01F9-5376-8FBF-5577-7AF4D8982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83B5C-8BFA-E96B-0EBA-8143EBE20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015FE-0F5D-2BAB-2873-E08324D93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0AE70-7379-E92A-4410-4BEEAA8B4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128BE-DBCC-AE46-F6A9-B85346A5C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61BD2-F30C-AA7E-8C6E-C114186C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862BA-9591-108E-A58D-D18D50A9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6335A-40DC-AB39-AB7C-7E2275C0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683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17A2-4FB9-3BDE-9EB9-7660DACE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6DF38-3D49-D2DA-B742-064EBBEF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CE5C6-B509-5301-7FA4-A53633A0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1AD35-5BF7-CFC0-FD4A-3D129610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953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45E66-2869-8CC8-C3BA-BDCF680E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971D5-8676-5C71-0869-7BD37191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65DA1-C5BD-C78E-021B-80F49A19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618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2512-B57B-5636-A822-D1115EC1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CABAF-567B-1645-77A9-A5FAFEA2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29081-A64E-3501-E2A7-CA6907459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F87CB-EF39-6B22-B8CF-E975EAF1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6A0C9-2CBD-0C04-29B9-09D0639C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B7130-1661-16B1-7AB8-2A8E4C2D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653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E1A4-6DC4-11F8-5A07-C3ADB4BE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CEF54-CEE4-09A4-7996-921D592A7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A8449-515B-41EB-D8DB-82B397AC3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C3D58-BC37-706D-4AD4-991BF2E2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74746-98DB-D1D9-0C05-2E0E20AE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DD8D2-3488-D1AB-6F9E-8C9775B7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05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ED2E-AE25-CED9-6530-19101D54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DB37F-ECF5-DC38-320A-91299295D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9D11-E9AD-BDAB-B0FA-674FDD29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AAC3-3E33-6B6F-E38E-8806E351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8775C-2176-75CF-8DBF-1D6D38A7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90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E91F5-E152-3B00-99E4-4FC21DD95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36147-F516-7F39-D0CC-DC6A99E13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6204-727B-6A0F-35C3-87AA8B5C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A64D-7B14-9BDE-7418-9414E985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1BA7E-D40D-5227-6A81-5D6EF035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695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58CDA-93BE-A57E-5D20-FE3364D1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C07BE-A40A-C1D8-4B3A-4635D0177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6511-591A-F703-7A95-9D4A5EBA5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3C1A5-C5C1-473F-BB28-12BA547AB566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7AAC-6AF3-EC2F-9F54-99202E1F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7F5F6-0F1F-1CC1-6199-91364A4CC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5C403-3A51-4A06-8DB4-D2F903765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1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C786-63E9-DE80-088C-6E3EEEFB4C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Democracy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68347-F993-E7CA-88E0-D16BA9CAB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Originated from the Greek words, </a:t>
            </a:r>
            <a:r>
              <a:rPr lang="en-CA" i="1" dirty="0"/>
              <a:t>Demos and Kratos </a:t>
            </a:r>
            <a:r>
              <a:rPr lang="en-CA" dirty="0"/>
              <a:t>which mean people and power respectively.  Democracy thus   means  power of the people</a:t>
            </a:r>
          </a:p>
          <a:p>
            <a:r>
              <a:rPr lang="en-CA" dirty="0"/>
              <a:t>Democracy is the product of the 18th-century French Revolution and 19</a:t>
            </a:r>
            <a:r>
              <a:rPr lang="en-CA" baseline="30000" dirty="0"/>
              <a:t>th-</a:t>
            </a:r>
            <a:r>
              <a:rPr lang="en-CA" dirty="0"/>
              <a:t> century Industrial Revolution</a:t>
            </a:r>
          </a:p>
        </p:txBody>
      </p:sp>
    </p:spTree>
    <p:extLst>
      <p:ext uri="{BB962C8B-B14F-4D97-AF65-F5344CB8AC3E}">
        <p14:creationId xmlns:p14="http://schemas.microsoft.com/office/powerpoint/2010/main" val="41334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F642-8439-13D6-C064-596086A0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C719-B64B-6BB3-8572-9D0A9CB62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Seymour Martin </a:t>
            </a:r>
            <a:r>
              <a:rPr lang="en-GB" b="0" i="0" dirty="0" err="1">
                <a:solidFill>
                  <a:srgbClr val="1F1F1F"/>
                </a:solidFill>
                <a:effectLst/>
                <a:latin typeface="Google Sans"/>
              </a:rPr>
              <a:t>Lipset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CA" dirty="0"/>
              <a:t>has defined democracy  as a political system  which provides regular constitutional opportunities  for changing government officials</a:t>
            </a:r>
          </a:p>
          <a:p>
            <a:r>
              <a:rPr lang="en-CA" dirty="0"/>
              <a:t>Robert Dhal used polyarchy as synonym for democracy.  For Dhal, the ideal type of political system is polyarchy which is characterized by competition and full participation</a:t>
            </a:r>
          </a:p>
          <a:p>
            <a:r>
              <a:rPr lang="en-CA" dirty="0"/>
              <a:t>In summary, democracy is the rule of the people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093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7A98-384A-A2F3-478F-021F0CBC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Democracy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0719-6F54-FE13-DB3D-D8CF68874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1. Direct Democracy: Examples: The city-state of Athens in the ancient Greece: Modern times: Referendum.</a:t>
            </a:r>
          </a:p>
          <a:p>
            <a:endParaRPr lang="en-CA" dirty="0"/>
          </a:p>
          <a:p>
            <a:r>
              <a:rPr lang="en-CA" dirty="0"/>
              <a:t>Direct Democracy is a political system in which citizen hold power directly rather than through elected or appointed  representatives.</a:t>
            </a:r>
          </a:p>
          <a:p>
            <a:r>
              <a:rPr lang="en-CA" dirty="0"/>
              <a:t>2.  Representative Democracy:  A political system in which citizen hold power  indirectly by selecting representatives  who take public decisions  on behalf of the people in the assemblies. </a:t>
            </a:r>
          </a:p>
        </p:txBody>
      </p:sp>
    </p:spTree>
    <p:extLst>
      <p:ext uri="{BB962C8B-B14F-4D97-AF65-F5344CB8AC3E}">
        <p14:creationId xmlns:p14="http://schemas.microsoft.com/office/powerpoint/2010/main" val="350186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FBF0-93DE-F34C-9E06-B317E00A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Characteristics of democracy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0AADE-9CF0-DFED-9742-A4B9BC3F1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legitimate authority having popular mandate</a:t>
            </a:r>
          </a:p>
          <a:p>
            <a:r>
              <a:rPr lang="en-CA" dirty="0"/>
              <a:t>Accountable to the people</a:t>
            </a:r>
          </a:p>
          <a:p>
            <a:r>
              <a:rPr lang="en-CA" dirty="0"/>
              <a:t>Functions in an environment of consensus</a:t>
            </a:r>
          </a:p>
          <a:p>
            <a:r>
              <a:rPr lang="en-CA" dirty="0"/>
              <a:t>Having capacity for conflict management</a:t>
            </a:r>
          </a:p>
          <a:p>
            <a:r>
              <a:rPr lang="en-CA" dirty="0"/>
              <a:t>Protects the maximum welfare of the people</a:t>
            </a:r>
          </a:p>
          <a:p>
            <a:r>
              <a:rPr lang="en-CA" dirty="0"/>
              <a:t>Stability and orderly change of the Government</a:t>
            </a:r>
          </a:p>
          <a:p>
            <a:r>
              <a:rPr lang="en-CA" dirty="0"/>
              <a:t>Permits the majority of the population  to influence decision</a:t>
            </a:r>
          </a:p>
          <a:p>
            <a:r>
              <a:rPr lang="en-CA" dirty="0"/>
              <a:t>Permits the existence of the opposition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054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6A5A-B5F0-379E-EE91-112C6793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Characteristics  of Democracy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C967C-C3B1-2971-FE47-DDAA6CA5B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Democracy functions where  effective and autonomous political institutions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260818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8956-82FF-BF80-09D3-22222DA1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Huntington’s Third Wave Democracy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584D-1C70-75D2-AD4D-7839F1DCA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b="1" dirty="0"/>
              <a:t>First Wave Democratization( 1828-1926</a:t>
            </a:r>
            <a:r>
              <a:rPr lang="en-CA" dirty="0"/>
              <a:t>)</a:t>
            </a:r>
          </a:p>
          <a:p>
            <a:r>
              <a:rPr lang="en-CA" dirty="0"/>
              <a:t>The first wave had its roots in the American and French Revolution. In many countries democratic institutions developed during this time</a:t>
            </a:r>
          </a:p>
          <a:p>
            <a:r>
              <a:rPr lang="en-CA" b="1" dirty="0"/>
              <a:t>First reverse wave democratization(1922-42) </a:t>
            </a:r>
          </a:p>
          <a:p>
            <a:r>
              <a:rPr lang="en-CA" dirty="0"/>
              <a:t>Shift away from democracy to authoritarianism/totalitarianism</a:t>
            </a:r>
          </a:p>
          <a:p>
            <a:r>
              <a:rPr lang="en-CA" b="1" dirty="0"/>
              <a:t>Second Wave Democratization (1943-62</a:t>
            </a:r>
            <a:r>
              <a:rPr lang="en-CA" dirty="0"/>
              <a:t>)</a:t>
            </a:r>
          </a:p>
          <a:p>
            <a:r>
              <a:rPr lang="en-CA" dirty="0"/>
              <a:t> It started after second World War</a:t>
            </a:r>
          </a:p>
          <a:p>
            <a:r>
              <a:rPr lang="en-CA" dirty="0"/>
              <a:t>Emergence of new states</a:t>
            </a:r>
          </a:p>
          <a:p>
            <a:r>
              <a:rPr lang="en-CA" dirty="0"/>
              <a:t>Democracy introduced </a:t>
            </a:r>
          </a:p>
          <a:p>
            <a:r>
              <a:rPr lang="en-CA" b="1" dirty="0"/>
              <a:t>Second reverse wave</a:t>
            </a:r>
            <a:r>
              <a:rPr lang="en-CA" dirty="0"/>
              <a:t>: By the early 1960’s  the second wave of democratization had exhausted itself</a:t>
            </a:r>
          </a:p>
          <a:p>
            <a:r>
              <a:rPr lang="en-CA" dirty="0"/>
              <a:t>Returned to authoritarianism </a:t>
            </a:r>
          </a:p>
        </p:txBody>
      </p:sp>
    </p:spTree>
    <p:extLst>
      <p:ext uri="{BB962C8B-B14F-4D97-AF65-F5344CB8AC3E}">
        <p14:creationId xmlns:p14="http://schemas.microsoft.com/office/powerpoint/2010/main" val="313818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F204-CD1C-28B0-F697-45449E6F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Huntington’s Third Wave Democracy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E3D1-AEF7-D852-B2C8-39280FCA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The Third Wave  democratization</a:t>
            </a:r>
            <a:r>
              <a:rPr lang="en-CA" dirty="0"/>
              <a:t>:  Democratic regime replaced authoritarianism</a:t>
            </a:r>
          </a:p>
          <a:p>
            <a:pPr lvl="1"/>
            <a:r>
              <a:rPr lang="en-CA" dirty="0"/>
              <a:t>Examples: Former Soviet Union, East European Countries, South Asian Countries </a:t>
            </a:r>
          </a:p>
        </p:txBody>
      </p:sp>
    </p:spTree>
    <p:extLst>
      <p:ext uri="{BB962C8B-B14F-4D97-AF65-F5344CB8AC3E}">
        <p14:creationId xmlns:p14="http://schemas.microsoft.com/office/powerpoint/2010/main" val="167840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6701-0D2B-BD1B-6070-436A1782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Authoritarianism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1EF4-D530-5BC8-6F7F-B5A30958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term authoritarianism  is used to describe a political system  that contrast with democracy</a:t>
            </a:r>
          </a:p>
          <a:p>
            <a:r>
              <a:rPr lang="en-CA" dirty="0"/>
              <a:t>It rests more on  obedience of the citizen  than their consent</a:t>
            </a:r>
          </a:p>
          <a:p>
            <a:r>
              <a:rPr lang="en-CA" dirty="0"/>
              <a:t>Such regime imposes one political group or interest on everyone else</a:t>
            </a:r>
          </a:p>
          <a:p>
            <a:r>
              <a:rPr lang="en-CA" dirty="0"/>
              <a:t>It restricts pluralism  and limit public participation </a:t>
            </a:r>
          </a:p>
          <a:p>
            <a:r>
              <a:rPr lang="en-CA" dirty="0"/>
              <a:t>It uses high degree of coercion to obtain obedience </a:t>
            </a:r>
          </a:p>
          <a:p>
            <a:r>
              <a:rPr lang="en-CA" dirty="0"/>
              <a:t>It does not allow free and competitive elections</a:t>
            </a:r>
          </a:p>
        </p:txBody>
      </p:sp>
    </p:spTree>
    <p:extLst>
      <p:ext uri="{BB962C8B-B14F-4D97-AF65-F5344CB8AC3E}">
        <p14:creationId xmlns:p14="http://schemas.microsoft.com/office/powerpoint/2010/main" val="96352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E53B-C2A3-3363-7A37-AC4F2637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Authoritarianism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69EC-18A7-9359-62DF-60A522DC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determine the degree of support for the government</a:t>
            </a:r>
          </a:p>
          <a:p>
            <a:r>
              <a:rPr lang="en-CA" dirty="0"/>
              <a:t>All political activities are dominated and manipulated by elites</a:t>
            </a:r>
          </a:p>
          <a:p>
            <a:r>
              <a:rPr lang="en-CA" dirty="0"/>
              <a:t>Power is organized by elites  through the military, bureaucracy, religious leaders  or similar authorities</a:t>
            </a:r>
          </a:p>
          <a:p>
            <a:r>
              <a:rPr lang="en-CA" dirty="0"/>
              <a:t>Media is carefully controlled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386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EDC9-7053-C6CE-4AC9-B6FFEDA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types of authoritarianism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EC714-0117-1A4F-5624-F7A13772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Dictatorship</a:t>
            </a:r>
          </a:p>
          <a:p>
            <a:r>
              <a:rPr lang="en-CA" dirty="0"/>
              <a:t>Totalitarianism </a:t>
            </a:r>
          </a:p>
          <a:p>
            <a:endParaRPr lang="en-CA" dirty="0"/>
          </a:p>
          <a:p>
            <a:r>
              <a:rPr lang="en-CA" dirty="0"/>
              <a:t>Varieties of Authoritarianism: </a:t>
            </a:r>
          </a:p>
          <a:p>
            <a:r>
              <a:rPr lang="en-CA" dirty="0"/>
              <a:t> Communist Regime</a:t>
            </a:r>
          </a:p>
          <a:p>
            <a:r>
              <a:rPr lang="en-CA" dirty="0"/>
              <a:t> One party state</a:t>
            </a:r>
          </a:p>
          <a:p>
            <a:r>
              <a:rPr lang="en-CA" dirty="0"/>
              <a:t> Military rule</a:t>
            </a:r>
          </a:p>
          <a:p>
            <a:r>
              <a:rPr lang="en-CA" dirty="0"/>
              <a:t>Dynastic rule</a:t>
            </a:r>
          </a:p>
          <a:p>
            <a:r>
              <a:rPr lang="en-CA" dirty="0"/>
              <a:t> Theocratic Rule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178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473</Words>
  <Application>Microsoft Macintosh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</vt:lpstr>
      <vt:lpstr>Office Theme</vt:lpstr>
      <vt:lpstr>Democracy</vt:lpstr>
      <vt:lpstr>Definition</vt:lpstr>
      <vt:lpstr>Types of Democracy</vt:lpstr>
      <vt:lpstr>Characteristics of democracy</vt:lpstr>
      <vt:lpstr>Characteristics  of Democracy</vt:lpstr>
      <vt:lpstr>Huntington’s Third Wave Democracy</vt:lpstr>
      <vt:lpstr>Huntington’s Third Wave Democracy</vt:lpstr>
      <vt:lpstr>Authoritarianism </vt:lpstr>
      <vt:lpstr>Authoritarianism</vt:lpstr>
      <vt:lpstr>Two types of authoritarianism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Democracy</dc:title>
  <dc:creator>Zaglul Haider</dc:creator>
  <cp:lastModifiedBy>Farah Chowdhury</cp:lastModifiedBy>
  <cp:revision>24</cp:revision>
  <dcterms:created xsi:type="dcterms:W3CDTF">2025-06-19T13:40:43Z</dcterms:created>
  <dcterms:modified xsi:type="dcterms:W3CDTF">2025-06-20T02:04:15Z</dcterms:modified>
</cp:coreProperties>
</file>