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0" r:id="rId5"/>
    <p:sldId id="271" r:id="rId6"/>
    <p:sldId id="259"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94620"/>
  </p:normalViewPr>
  <p:slideViewPr>
    <p:cSldViewPr snapToGrid="0">
      <p:cViewPr>
        <p:scale>
          <a:sx n="107" d="100"/>
          <a:sy n="107" d="100"/>
        </p:scale>
        <p:origin x="776"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1569863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59873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1841813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19A8A0-DBC2-4EB9-912A-B5BB3F2FB099}" type="datetimeFigureOut">
              <a:rPr lang="en-CA" smtClean="0"/>
              <a:t>2025-06-03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891021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19A8A0-DBC2-4EB9-912A-B5BB3F2FB099}" type="datetimeFigureOut">
              <a:rPr lang="en-CA" smtClean="0"/>
              <a:t>2025-06-03</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3481020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3"/>
          <p:cNvSpPr>
            <a:spLocks noGrp="1"/>
          </p:cNvSpPr>
          <p:nvPr>
            <p:ph type="ftr" sz="quarter" idx="11"/>
          </p:nvPr>
        </p:nvSpPr>
        <p:spPr/>
        <p:txBody>
          <a:bodyPr/>
          <a:lstStyle/>
          <a:p>
            <a:endParaRPr lang="en-CA"/>
          </a:p>
        </p:txBody>
      </p:sp>
      <p:sp>
        <p:nvSpPr>
          <p:cNvPr id="6" name="Slide Number Placeholder 4"/>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959955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2"/>
          <p:cNvSpPr>
            <a:spLocks noGrp="1"/>
          </p:cNvSpPr>
          <p:nvPr>
            <p:ph type="ftr" sz="quarter" idx="11"/>
          </p:nvPr>
        </p:nvSpPr>
        <p:spPr/>
        <p:txBody>
          <a:bodyPr/>
          <a:lstStyle/>
          <a:p>
            <a:endParaRPr lang="en-CA"/>
          </a:p>
        </p:txBody>
      </p:sp>
      <p:sp>
        <p:nvSpPr>
          <p:cNvPr id="6" name="Slide Number Placeholder 3"/>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338053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5"/>
          <p:cNvSpPr>
            <a:spLocks noGrp="1"/>
          </p:cNvSpPr>
          <p:nvPr>
            <p:ph type="ftr" sz="quarter" idx="11"/>
          </p:nvPr>
        </p:nvSpPr>
        <p:spPr/>
        <p:txBody>
          <a:bodyPr/>
          <a:lstStyle/>
          <a:p>
            <a:endParaRPr lang="en-CA"/>
          </a:p>
        </p:txBody>
      </p:sp>
      <p:sp>
        <p:nvSpPr>
          <p:cNvPr id="6" name="Slide Number Placeholder 6"/>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1230676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19A8A0-DBC2-4EB9-912A-B5BB3F2FB099}" type="datetimeFigureOut">
              <a:rPr lang="en-CA" smtClean="0"/>
              <a:t>2025-06-03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1261537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19A8A0-DBC2-4EB9-912A-B5BB3F2FB099}" type="datetimeFigureOut">
              <a:rPr lang="en-CA" smtClean="0"/>
              <a:t>2025-06-03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1298842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24888821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DB58845-AF72-48B4-8AD5-A7B39B2ECEE3}" type="slidenum">
              <a:rPr lang="en-CA" smtClean="0"/>
              <a:t>‹#›</a:t>
            </a:fld>
            <a:endParaRPr lang="en-CA"/>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6256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2581829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F19A8A0-DBC2-4EB9-912A-B5BB3F2FB099}" type="datetimeFigureOut">
              <a:rPr lang="en-CA" smtClean="0"/>
              <a:t>2025-06-03</a:t>
            </a:fld>
            <a:endParaRPr lang="en-CA"/>
          </a:p>
        </p:txBody>
      </p:sp>
      <p:sp>
        <p:nvSpPr>
          <p:cNvPr id="4"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1293051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F19A8A0-DBC2-4EB9-912A-B5BB3F2FB099}" type="datetimeFigureOut">
              <a:rPr lang="en-CA" smtClean="0"/>
              <a:t>2025-06-03</a:t>
            </a:fld>
            <a:endParaRPr lang="en-CA"/>
          </a:p>
        </p:txBody>
      </p:sp>
      <p:sp>
        <p:nvSpPr>
          <p:cNvPr id="4"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5367409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44216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19A8A0-DBC2-4EB9-912A-B5BB3F2FB099}" type="datetimeFigureOut">
              <a:rPr lang="en-CA" smtClean="0"/>
              <a:t>2025-06-03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DB58845-AF72-48B4-8AD5-A7B39B2ECEE3}" type="slidenum">
              <a:rPr lang="en-CA" smtClean="0"/>
              <a:t>‹#›</a:t>
            </a:fld>
            <a:endParaRPr lang="en-CA"/>
          </a:p>
        </p:txBody>
      </p:sp>
    </p:spTree>
    <p:extLst>
      <p:ext uri="{BB962C8B-B14F-4D97-AF65-F5344CB8AC3E}">
        <p14:creationId xmlns:p14="http://schemas.microsoft.com/office/powerpoint/2010/main" val="2526878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F19A8A0-DBC2-4EB9-912A-B5BB3F2FB099}" type="datetimeFigureOut">
              <a:rPr lang="en-CA" smtClean="0"/>
              <a:t>2025-06-03</a:t>
            </a:fld>
            <a:endParaRPr lang="en-C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CA"/>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DB58845-AF72-48B4-8AD5-A7B39B2ECEE3}" type="slidenum">
              <a:rPr lang="en-CA" smtClean="0"/>
              <a:t>‹#›</a:t>
            </a:fld>
            <a:endParaRPr lang="en-CA"/>
          </a:p>
        </p:txBody>
      </p:sp>
    </p:spTree>
    <p:extLst>
      <p:ext uri="{BB962C8B-B14F-4D97-AF65-F5344CB8AC3E}">
        <p14:creationId xmlns:p14="http://schemas.microsoft.com/office/powerpoint/2010/main" val="349063466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DDD79-1275-9A49-C4E8-6B7B9BB45C62}"/>
              </a:ext>
            </a:extLst>
          </p:cNvPr>
          <p:cNvSpPr>
            <a:spLocks noGrp="1"/>
          </p:cNvSpPr>
          <p:nvPr>
            <p:ph type="ctrTitle"/>
          </p:nvPr>
        </p:nvSpPr>
        <p:spPr/>
        <p:txBody>
          <a:bodyPr/>
          <a:lstStyle/>
          <a:p>
            <a:r>
              <a:rPr lang="en-CA" dirty="0"/>
              <a:t>State</a:t>
            </a:r>
          </a:p>
        </p:txBody>
      </p:sp>
      <p:sp>
        <p:nvSpPr>
          <p:cNvPr id="3" name="Subtitle 2">
            <a:extLst>
              <a:ext uri="{FF2B5EF4-FFF2-40B4-BE49-F238E27FC236}">
                <a16:creationId xmlns:a16="http://schemas.microsoft.com/office/drawing/2014/main" id="{EA3DA875-70EB-162B-02B1-AC3DD0E83133}"/>
              </a:ext>
            </a:extLst>
          </p:cNvPr>
          <p:cNvSpPr>
            <a:spLocks noGrp="1"/>
          </p:cNvSpPr>
          <p:nvPr>
            <p:ph type="subTitle" idx="1"/>
          </p:nvPr>
        </p:nvSpPr>
        <p:spPr/>
        <p:txBody>
          <a:bodyPr>
            <a:normAutofit fontScale="32500" lnSpcReduction="20000"/>
          </a:bodyPr>
          <a:lstStyle/>
          <a:p>
            <a:r>
              <a:rPr lang="en-CA" sz="5300" dirty="0"/>
              <a:t>What is a State?</a:t>
            </a:r>
          </a:p>
          <a:p>
            <a:r>
              <a:rPr lang="en-CA" sz="5300" dirty="0"/>
              <a:t>A state is a form of political organization consisting of population, territory, government,  and Sovereignty</a:t>
            </a:r>
          </a:p>
          <a:p>
            <a:endParaRPr lang="en-CA" dirty="0"/>
          </a:p>
        </p:txBody>
      </p:sp>
    </p:spTree>
    <p:extLst>
      <p:ext uri="{BB962C8B-B14F-4D97-AF65-F5344CB8AC3E}">
        <p14:creationId xmlns:p14="http://schemas.microsoft.com/office/powerpoint/2010/main" val="342309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FF786-D664-8829-19D5-9C770C51404C}"/>
              </a:ext>
            </a:extLst>
          </p:cNvPr>
          <p:cNvSpPr>
            <a:spLocks noGrp="1"/>
          </p:cNvSpPr>
          <p:nvPr>
            <p:ph type="title"/>
          </p:nvPr>
        </p:nvSpPr>
        <p:spPr/>
        <p:txBody>
          <a:bodyPr/>
          <a:lstStyle/>
          <a:p>
            <a:r>
              <a:rPr lang="en-CA" dirty="0"/>
              <a:t>Elements of a State</a:t>
            </a:r>
            <a:br>
              <a:rPr lang="en-CA" dirty="0"/>
            </a:br>
            <a:endParaRPr lang="en-CA" dirty="0"/>
          </a:p>
        </p:txBody>
      </p:sp>
      <p:sp>
        <p:nvSpPr>
          <p:cNvPr id="3" name="Content Placeholder 2">
            <a:extLst>
              <a:ext uri="{FF2B5EF4-FFF2-40B4-BE49-F238E27FC236}">
                <a16:creationId xmlns:a16="http://schemas.microsoft.com/office/drawing/2014/main" id="{4643622D-CD63-54D3-095B-634E9CCB26E0}"/>
              </a:ext>
            </a:extLst>
          </p:cNvPr>
          <p:cNvSpPr>
            <a:spLocks noGrp="1"/>
          </p:cNvSpPr>
          <p:nvPr>
            <p:ph idx="1"/>
          </p:nvPr>
        </p:nvSpPr>
        <p:spPr/>
        <p:txBody>
          <a:bodyPr/>
          <a:lstStyle/>
          <a:p>
            <a:r>
              <a:rPr lang="en-CA" dirty="0"/>
              <a:t>Population:  A group of individuals within a specified geographic boundary, defined by specific characteristics (ex. nationality, age, ethnicity, </a:t>
            </a:r>
            <a:r>
              <a:rPr lang="en-CA" dirty="0" err="1"/>
              <a:t>etc</a:t>
            </a:r>
            <a:r>
              <a:rPr lang="en-CA" dirty="0"/>
              <a:t>). </a:t>
            </a:r>
          </a:p>
          <a:p>
            <a:r>
              <a:rPr lang="en-CA" dirty="0"/>
              <a:t>The state requires an optimum number of population. </a:t>
            </a:r>
          </a:p>
          <a:p>
            <a:r>
              <a:rPr lang="en-CA" dirty="0"/>
              <a:t>The population must be sufficient in meeting the needs of the state, such as  in defense,  economy, polity, and society.  Without population, a state will be a real estate.</a:t>
            </a:r>
          </a:p>
          <a:p>
            <a:r>
              <a:rPr lang="en-CA" dirty="0"/>
              <a:t> Territory: a state operates within a fixed territory.  It is a geo-political entity</a:t>
            </a:r>
          </a:p>
          <a:p>
            <a:r>
              <a:rPr lang="en-CA" dirty="0"/>
              <a:t>Government: a government drives the state towards prosperity.</a:t>
            </a:r>
          </a:p>
          <a:p>
            <a:pPr marL="0" indent="0">
              <a:buNone/>
            </a:pPr>
            <a:r>
              <a:rPr lang="en-CA" dirty="0"/>
              <a:t>  A  government   is composed  of executive, legislature and  judiciary</a:t>
            </a:r>
          </a:p>
          <a:p>
            <a:pPr marL="0" indent="0">
              <a:buNone/>
            </a:pPr>
            <a:endParaRPr lang="en-CA" dirty="0"/>
          </a:p>
          <a:p>
            <a:endParaRPr lang="en-CA" dirty="0"/>
          </a:p>
        </p:txBody>
      </p:sp>
    </p:spTree>
    <p:extLst>
      <p:ext uri="{BB962C8B-B14F-4D97-AF65-F5344CB8AC3E}">
        <p14:creationId xmlns:p14="http://schemas.microsoft.com/office/powerpoint/2010/main" val="2545582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71D33-F3E1-9A2C-1B0C-EE1F59249ADE}"/>
              </a:ext>
            </a:extLst>
          </p:cNvPr>
          <p:cNvSpPr>
            <a:spLocks noGrp="1"/>
          </p:cNvSpPr>
          <p:nvPr>
            <p:ph type="title"/>
          </p:nvPr>
        </p:nvSpPr>
        <p:spPr/>
        <p:txBody>
          <a:bodyPr/>
          <a:lstStyle/>
          <a:p>
            <a:r>
              <a:rPr lang="en-CA" dirty="0"/>
              <a:t>Functions of Government</a:t>
            </a:r>
          </a:p>
        </p:txBody>
      </p:sp>
      <p:sp>
        <p:nvSpPr>
          <p:cNvPr id="3" name="Content Placeholder 2">
            <a:extLst>
              <a:ext uri="{FF2B5EF4-FFF2-40B4-BE49-F238E27FC236}">
                <a16:creationId xmlns:a16="http://schemas.microsoft.com/office/drawing/2014/main" id="{F78C6CAE-AA06-40E1-2543-A1401436D8A1}"/>
              </a:ext>
            </a:extLst>
          </p:cNvPr>
          <p:cNvSpPr>
            <a:spLocks noGrp="1"/>
          </p:cNvSpPr>
          <p:nvPr>
            <p:ph idx="1"/>
          </p:nvPr>
        </p:nvSpPr>
        <p:spPr/>
        <p:txBody>
          <a:bodyPr/>
          <a:lstStyle/>
          <a:p>
            <a:r>
              <a:rPr lang="en-CA" dirty="0"/>
              <a:t>According to Gabriel A. Almond: A state performs three functions</a:t>
            </a:r>
          </a:p>
          <a:p>
            <a:r>
              <a:rPr lang="en-CA" dirty="0"/>
              <a:t>1 Legislature:  Rule Making</a:t>
            </a:r>
          </a:p>
          <a:p>
            <a:r>
              <a:rPr lang="en-CA" dirty="0"/>
              <a:t>2. Executive: Rule Application</a:t>
            </a:r>
          </a:p>
          <a:p>
            <a:r>
              <a:rPr lang="en-CA" dirty="0"/>
              <a:t>3. Judiciary: Rule Adjudication</a:t>
            </a:r>
          </a:p>
          <a:p>
            <a:endParaRPr lang="en-CA" dirty="0"/>
          </a:p>
          <a:p>
            <a:pPr marL="0" indent="0">
              <a:buNone/>
            </a:pPr>
            <a:endParaRPr lang="en-CA" dirty="0"/>
          </a:p>
        </p:txBody>
      </p:sp>
    </p:spTree>
    <p:extLst>
      <p:ext uri="{BB962C8B-B14F-4D97-AF65-F5344CB8AC3E}">
        <p14:creationId xmlns:p14="http://schemas.microsoft.com/office/powerpoint/2010/main" val="656430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FF10-CDA0-FEB8-C8DA-B066FB8FCC47}"/>
              </a:ext>
            </a:extLst>
          </p:cNvPr>
          <p:cNvSpPr>
            <a:spLocks noGrp="1"/>
          </p:cNvSpPr>
          <p:nvPr>
            <p:ph type="title"/>
          </p:nvPr>
        </p:nvSpPr>
        <p:spPr/>
        <p:txBody>
          <a:bodyPr/>
          <a:lstStyle/>
          <a:p>
            <a:r>
              <a:rPr lang="en-CA" dirty="0"/>
              <a:t>Sovereignty</a:t>
            </a:r>
          </a:p>
        </p:txBody>
      </p:sp>
      <p:sp>
        <p:nvSpPr>
          <p:cNvPr id="3" name="Content Placeholder 2">
            <a:extLst>
              <a:ext uri="{FF2B5EF4-FFF2-40B4-BE49-F238E27FC236}">
                <a16:creationId xmlns:a16="http://schemas.microsoft.com/office/drawing/2014/main" id="{C63B6826-92B9-DADF-F6A3-9FAD7AF79558}"/>
              </a:ext>
            </a:extLst>
          </p:cNvPr>
          <p:cNvSpPr>
            <a:spLocks noGrp="1"/>
          </p:cNvSpPr>
          <p:nvPr>
            <p:ph idx="1"/>
          </p:nvPr>
        </p:nvSpPr>
        <p:spPr/>
        <p:txBody>
          <a:bodyPr/>
          <a:lstStyle/>
          <a:p>
            <a:pPr marL="0" indent="0">
              <a:buNone/>
            </a:pPr>
            <a:r>
              <a:rPr lang="en-CA" dirty="0"/>
              <a:t> Sovereignty is the absolute power over the state</a:t>
            </a:r>
          </a:p>
          <a:p>
            <a:pPr marL="0" indent="0">
              <a:buNone/>
            </a:pPr>
            <a:r>
              <a:rPr lang="en-CA" dirty="0"/>
              <a:t> In a democratic system, sovereignty belongs to people and people are represented by the Government</a:t>
            </a:r>
          </a:p>
          <a:p>
            <a:pPr marL="0" indent="0">
              <a:buNone/>
            </a:pPr>
            <a:endParaRPr lang="en-CA" dirty="0"/>
          </a:p>
        </p:txBody>
      </p:sp>
    </p:spTree>
    <p:extLst>
      <p:ext uri="{BB962C8B-B14F-4D97-AF65-F5344CB8AC3E}">
        <p14:creationId xmlns:p14="http://schemas.microsoft.com/office/powerpoint/2010/main" val="3814079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F6331-E3E1-429F-E8E2-5094D60A64A3}"/>
              </a:ext>
            </a:extLst>
          </p:cNvPr>
          <p:cNvSpPr>
            <a:spLocks noGrp="1"/>
          </p:cNvSpPr>
          <p:nvPr>
            <p:ph type="title"/>
          </p:nvPr>
        </p:nvSpPr>
        <p:spPr/>
        <p:txBody>
          <a:bodyPr/>
          <a:lstStyle/>
          <a:p>
            <a:r>
              <a:rPr lang="en-CA" dirty="0"/>
              <a:t>Types Of Sovereignty</a:t>
            </a:r>
          </a:p>
        </p:txBody>
      </p:sp>
      <p:sp>
        <p:nvSpPr>
          <p:cNvPr id="3" name="Content Placeholder 2">
            <a:extLst>
              <a:ext uri="{FF2B5EF4-FFF2-40B4-BE49-F238E27FC236}">
                <a16:creationId xmlns:a16="http://schemas.microsoft.com/office/drawing/2014/main" id="{D6C8DAFE-F871-61A9-ED5E-72954B695272}"/>
              </a:ext>
            </a:extLst>
          </p:cNvPr>
          <p:cNvSpPr>
            <a:spLocks noGrp="1"/>
          </p:cNvSpPr>
          <p:nvPr>
            <p:ph idx="1"/>
          </p:nvPr>
        </p:nvSpPr>
        <p:spPr/>
        <p:txBody>
          <a:bodyPr/>
          <a:lstStyle/>
          <a:p>
            <a:pPr marL="0" indent="0">
              <a:buNone/>
            </a:pPr>
            <a:r>
              <a:rPr lang="en-CA" dirty="0"/>
              <a:t>Internal Sovereignty</a:t>
            </a:r>
          </a:p>
          <a:p>
            <a:pPr marL="0" indent="0">
              <a:buNone/>
            </a:pPr>
            <a:r>
              <a:rPr lang="en-CA" dirty="0"/>
              <a:t>External Sovereignty</a:t>
            </a:r>
          </a:p>
          <a:p>
            <a:endParaRPr lang="en-CA" dirty="0"/>
          </a:p>
        </p:txBody>
      </p:sp>
    </p:spTree>
    <p:extLst>
      <p:ext uri="{BB962C8B-B14F-4D97-AF65-F5344CB8AC3E}">
        <p14:creationId xmlns:p14="http://schemas.microsoft.com/office/powerpoint/2010/main" val="2486486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CC751-6BF0-310B-6242-AA653D182F0E}"/>
              </a:ext>
            </a:extLst>
          </p:cNvPr>
          <p:cNvSpPr>
            <a:spLocks noGrp="1"/>
          </p:cNvSpPr>
          <p:nvPr>
            <p:ph type="title"/>
          </p:nvPr>
        </p:nvSpPr>
        <p:spPr/>
        <p:txBody>
          <a:bodyPr/>
          <a:lstStyle/>
          <a:p>
            <a:r>
              <a:rPr lang="en-CA" dirty="0"/>
              <a:t>Evolution of a State</a:t>
            </a:r>
          </a:p>
        </p:txBody>
      </p:sp>
      <p:sp>
        <p:nvSpPr>
          <p:cNvPr id="3" name="Content Placeholder 2">
            <a:extLst>
              <a:ext uri="{FF2B5EF4-FFF2-40B4-BE49-F238E27FC236}">
                <a16:creationId xmlns:a16="http://schemas.microsoft.com/office/drawing/2014/main" id="{7076053B-1276-2E33-CE52-86C48FC24868}"/>
              </a:ext>
            </a:extLst>
          </p:cNvPr>
          <p:cNvSpPr>
            <a:spLocks noGrp="1"/>
          </p:cNvSpPr>
          <p:nvPr>
            <p:ph idx="1"/>
          </p:nvPr>
        </p:nvSpPr>
        <p:spPr/>
        <p:txBody>
          <a:bodyPr/>
          <a:lstStyle/>
          <a:p>
            <a:pPr marL="0" indent="0">
              <a:buNone/>
            </a:pPr>
            <a:r>
              <a:rPr lang="en-CA" dirty="0"/>
              <a:t>1. State of the Nature: “Lives are solitary, poor, nasty,  brutish and short” –Thomas Hobbes</a:t>
            </a:r>
          </a:p>
          <a:p>
            <a:pPr marL="0" indent="0">
              <a:buNone/>
            </a:pPr>
            <a:r>
              <a:rPr lang="en-CA" dirty="0"/>
              <a:t>2. Protective State: A state of nature is replaced by a protective state.  A State emerged as a form of organized power toward which we can all turn our loyalty, because it protects us from the state of nature.</a:t>
            </a:r>
          </a:p>
          <a:p>
            <a:pPr marL="0" indent="0">
              <a:buNone/>
            </a:pPr>
            <a:r>
              <a:rPr lang="en-CA" dirty="0"/>
              <a:t>It secures us from the war of “ all against  all”.</a:t>
            </a:r>
          </a:p>
          <a:p>
            <a:pPr marL="0" indent="0">
              <a:buNone/>
            </a:pPr>
            <a:r>
              <a:rPr lang="en-CA" dirty="0"/>
              <a:t>It expands the  economic, political, and cultural interests of people</a:t>
            </a:r>
          </a:p>
          <a:p>
            <a:pPr marL="0" indent="0">
              <a:buNone/>
            </a:pPr>
            <a:r>
              <a:rPr lang="en-CA" dirty="0"/>
              <a:t>It defends the right to own private property and freedom of speech</a:t>
            </a:r>
          </a:p>
          <a:p>
            <a:pPr marL="0" indent="0">
              <a:buNone/>
            </a:pPr>
            <a:endParaRPr lang="en-CA" dirty="0"/>
          </a:p>
        </p:txBody>
      </p:sp>
    </p:spTree>
    <p:extLst>
      <p:ext uri="{BB962C8B-B14F-4D97-AF65-F5344CB8AC3E}">
        <p14:creationId xmlns:p14="http://schemas.microsoft.com/office/powerpoint/2010/main" val="2042905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437C8-E6FE-6059-0EEC-21BECD701240}"/>
              </a:ext>
            </a:extLst>
          </p:cNvPr>
          <p:cNvSpPr>
            <a:spLocks noGrp="1"/>
          </p:cNvSpPr>
          <p:nvPr>
            <p:ph type="title"/>
          </p:nvPr>
        </p:nvSpPr>
        <p:spPr/>
        <p:txBody>
          <a:bodyPr/>
          <a:lstStyle/>
          <a:p>
            <a:r>
              <a:rPr lang="en-CA" dirty="0"/>
              <a:t>Types of State</a:t>
            </a:r>
          </a:p>
        </p:txBody>
      </p:sp>
      <p:sp>
        <p:nvSpPr>
          <p:cNvPr id="3" name="Content Placeholder 2">
            <a:extLst>
              <a:ext uri="{FF2B5EF4-FFF2-40B4-BE49-F238E27FC236}">
                <a16:creationId xmlns:a16="http://schemas.microsoft.com/office/drawing/2014/main" id="{AA979034-58BC-608D-36CA-2F12CA1FF127}"/>
              </a:ext>
            </a:extLst>
          </p:cNvPr>
          <p:cNvSpPr>
            <a:spLocks noGrp="1"/>
          </p:cNvSpPr>
          <p:nvPr>
            <p:ph idx="1"/>
          </p:nvPr>
        </p:nvSpPr>
        <p:spPr/>
        <p:txBody>
          <a:bodyPr/>
          <a:lstStyle/>
          <a:p>
            <a:r>
              <a:rPr lang="en-CA" dirty="0"/>
              <a:t>City State: Athens, Vatican City, Singapore etc.,</a:t>
            </a:r>
          </a:p>
          <a:p>
            <a:r>
              <a:rPr lang="en-CA" dirty="0"/>
              <a:t>Nation State: Treaty of Westphalia(1648). This treaty ended the 30 year war in 1648. This treaty formally recognized states in Europe as the legitimate sovereign entity beyond the control and influence of the Roman Catholic Church for their authority.</a:t>
            </a:r>
          </a:p>
          <a:p>
            <a:endParaRPr lang="en-CA" dirty="0"/>
          </a:p>
        </p:txBody>
      </p:sp>
    </p:spTree>
    <p:extLst>
      <p:ext uri="{BB962C8B-B14F-4D97-AF65-F5344CB8AC3E}">
        <p14:creationId xmlns:p14="http://schemas.microsoft.com/office/powerpoint/2010/main" val="3546402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5878B-DC0D-89D7-A68D-9809B01FE2BD}"/>
              </a:ext>
            </a:extLst>
          </p:cNvPr>
          <p:cNvSpPr>
            <a:spLocks noGrp="1"/>
          </p:cNvSpPr>
          <p:nvPr>
            <p:ph type="title"/>
          </p:nvPr>
        </p:nvSpPr>
        <p:spPr/>
        <p:txBody>
          <a:bodyPr/>
          <a:lstStyle/>
          <a:p>
            <a:r>
              <a:rPr lang="en-CA" dirty="0"/>
              <a:t>Aristotle’s Classification of Government</a:t>
            </a:r>
          </a:p>
        </p:txBody>
      </p:sp>
      <p:graphicFrame>
        <p:nvGraphicFramePr>
          <p:cNvPr id="4" name="Content Placeholder 3">
            <a:extLst>
              <a:ext uri="{FF2B5EF4-FFF2-40B4-BE49-F238E27FC236}">
                <a16:creationId xmlns:a16="http://schemas.microsoft.com/office/drawing/2014/main" id="{B8EF961E-63D6-D9A5-43AA-F4FDCF99953C}"/>
              </a:ext>
            </a:extLst>
          </p:cNvPr>
          <p:cNvGraphicFramePr>
            <a:graphicFrameLocks noGrp="1"/>
          </p:cNvGraphicFramePr>
          <p:nvPr>
            <p:ph idx="1"/>
            <p:extLst>
              <p:ext uri="{D42A27DB-BD31-4B8C-83A1-F6EECF244321}">
                <p14:modId xmlns:p14="http://schemas.microsoft.com/office/powerpoint/2010/main" val="3780439991"/>
              </p:ext>
            </p:extLst>
          </p:nvPr>
        </p:nvGraphicFramePr>
        <p:xfrm>
          <a:off x="1103313" y="2052638"/>
          <a:ext cx="8947146" cy="3672840"/>
        </p:xfrm>
        <a:graphic>
          <a:graphicData uri="http://schemas.openxmlformats.org/drawingml/2006/table">
            <a:tbl>
              <a:tblPr firstRow="1" bandRow="1">
                <a:tableStyleId>{5C22544A-7EE6-4342-B048-85BDC9FD1C3A}</a:tableStyleId>
              </a:tblPr>
              <a:tblGrid>
                <a:gridCol w="2982382">
                  <a:extLst>
                    <a:ext uri="{9D8B030D-6E8A-4147-A177-3AD203B41FA5}">
                      <a16:colId xmlns:a16="http://schemas.microsoft.com/office/drawing/2014/main" val="3435104550"/>
                    </a:ext>
                  </a:extLst>
                </a:gridCol>
                <a:gridCol w="2982382">
                  <a:extLst>
                    <a:ext uri="{9D8B030D-6E8A-4147-A177-3AD203B41FA5}">
                      <a16:colId xmlns:a16="http://schemas.microsoft.com/office/drawing/2014/main" val="2397692076"/>
                    </a:ext>
                  </a:extLst>
                </a:gridCol>
                <a:gridCol w="2982382">
                  <a:extLst>
                    <a:ext uri="{9D8B030D-6E8A-4147-A177-3AD203B41FA5}">
                      <a16:colId xmlns:a16="http://schemas.microsoft.com/office/drawing/2014/main" val="3275816225"/>
                    </a:ext>
                  </a:extLst>
                </a:gridCol>
              </a:tblGrid>
              <a:tr h="370840">
                <a:tc>
                  <a:txBody>
                    <a:bodyPr/>
                    <a:lstStyle/>
                    <a:p>
                      <a:r>
                        <a:rPr lang="en-CA" dirty="0"/>
                        <a:t>Number of Ruler</a:t>
                      </a:r>
                    </a:p>
                  </a:txBody>
                  <a:tcPr marL="77801" marR="77801">
                    <a:lnB w="12700" cap="flat" cmpd="sng" algn="ctr">
                      <a:solidFill>
                        <a:schemeClr val="tx1"/>
                      </a:solidFill>
                      <a:prstDash val="solid"/>
                      <a:round/>
                      <a:headEnd type="none" w="med" len="med"/>
                      <a:tailEnd type="none" w="med" len="med"/>
                    </a:lnB>
                  </a:tcPr>
                </a:tc>
                <a:tc>
                  <a:txBody>
                    <a:bodyPr/>
                    <a:lstStyle/>
                    <a:p>
                      <a:r>
                        <a:rPr lang="en-CA" dirty="0"/>
                        <a:t>Form </a:t>
                      </a:r>
                      <a:r>
                        <a:rPr lang="en-CA" dirty="0" err="1"/>
                        <a:t>og</a:t>
                      </a:r>
                      <a:r>
                        <a:rPr lang="en-CA" dirty="0"/>
                        <a:t> Government</a:t>
                      </a:r>
                    </a:p>
                  </a:txBody>
                  <a:tcPr marL="77801" marR="77801"/>
                </a:tc>
                <a:tc>
                  <a:txBody>
                    <a:bodyPr/>
                    <a:lstStyle/>
                    <a:p>
                      <a:r>
                        <a:rPr lang="en-CA" dirty="0"/>
                        <a:t>Goal of the Ruler</a:t>
                      </a:r>
                    </a:p>
                  </a:txBody>
                  <a:tcPr marL="77801" marR="77801"/>
                </a:tc>
                <a:extLst>
                  <a:ext uri="{0D108BD9-81ED-4DB2-BD59-A6C34878D82A}">
                    <a16:rowId xmlns:a16="http://schemas.microsoft.com/office/drawing/2014/main" val="1158813726"/>
                  </a:ext>
                </a:extLst>
              </a:tr>
              <a:tr h="370840">
                <a:tc>
                  <a:txBody>
                    <a:bodyPr/>
                    <a:lstStyle/>
                    <a:p>
                      <a:r>
                        <a:rPr lang="en-CA" dirty="0"/>
                        <a:t>Rule by one</a:t>
                      </a:r>
                    </a:p>
                  </a:txBody>
                  <a:tcPr marL="77801" marR="77801">
                    <a:lnT w="12700" cap="flat" cmpd="sng" algn="ctr">
                      <a:solidFill>
                        <a:schemeClr val="tx1"/>
                      </a:solidFill>
                      <a:prstDash val="solid"/>
                      <a:round/>
                      <a:headEnd type="none" w="med" len="med"/>
                      <a:tailEnd type="none" w="med" len="med"/>
                    </a:lnT>
                  </a:tcPr>
                </a:tc>
                <a:tc>
                  <a:txBody>
                    <a:bodyPr/>
                    <a:lstStyle/>
                    <a:p>
                      <a:r>
                        <a:rPr lang="en-CA" dirty="0"/>
                        <a:t>Monarchy/Kingship</a:t>
                      </a:r>
                    </a:p>
                  </a:txBody>
                  <a:tcPr marL="77801" marR="77801"/>
                </a:tc>
                <a:tc>
                  <a:txBody>
                    <a:bodyPr/>
                    <a:lstStyle/>
                    <a:p>
                      <a:r>
                        <a:rPr lang="en-CA" dirty="0"/>
                        <a:t>Interest of the common people</a:t>
                      </a:r>
                    </a:p>
                  </a:txBody>
                  <a:tcPr marL="77801" marR="77801"/>
                </a:tc>
                <a:extLst>
                  <a:ext uri="{0D108BD9-81ED-4DB2-BD59-A6C34878D82A}">
                    <a16:rowId xmlns:a16="http://schemas.microsoft.com/office/drawing/2014/main" val="3687642749"/>
                  </a:ext>
                </a:extLst>
              </a:tr>
              <a:tr h="370840">
                <a:tc>
                  <a:txBody>
                    <a:bodyPr/>
                    <a:lstStyle/>
                    <a:p>
                      <a:r>
                        <a:rPr lang="en-CA" dirty="0"/>
                        <a:t>Rule by one</a:t>
                      </a:r>
                    </a:p>
                  </a:txBody>
                  <a:tcPr marL="77801" marR="77801"/>
                </a:tc>
                <a:tc>
                  <a:txBody>
                    <a:bodyPr/>
                    <a:lstStyle/>
                    <a:p>
                      <a:r>
                        <a:rPr lang="en-CA" dirty="0"/>
                        <a:t>Tyranny</a:t>
                      </a:r>
                    </a:p>
                  </a:txBody>
                  <a:tcPr marL="77801" marR="77801"/>
                </a:tc>
                <a:tc>
                  <a:txBody>
                    <a:bodyPr/>
                    <a:lstStyle/>
                    <a:p>
                      <a:r>
                        <a:rPr lang="en-CA" dirty="0"/>
                        <a:t>Interest of the rulers</a:t>
                      </a:r>
                    </a:p>
                  </a:txBody>
                  <a:tcPr marL="77801" marR="77801"/>
                </a:tc>
                <a:extLst>
                  <a:ext uri="{0D108BD9-81ED-4DB2-BD59-A6C34878D82A}">
                    <a16:rowId xmlns:a16="http://schemas.microsoft.com/office/drawing/2014/main" val="1800242790"/>
                  </a:ext>
                </a:extLst>
              </a:tr>
              <a:tr h="370840">
                <a:tc>
                  <a:txBody>
                    <a:bodyPr/>
                    <a:lstStyle/>
                    <a:p>
                      <a:r>
                        <a:rPr lang="en-CA" dirty="0"/>
                        <a:t>Rule by few</a:t>
                      </a:r>
                    </a:p>
                  </a:txBody>
                  <a:tcPr marL="77801" marR="77801"/>
                </a:tc>
                <a:tc>
                  <a:txBody>
                    <a:bodyPr/>
                    <a:lstStyle/>
                    <a:p>
                      <a:r>
                        <a:rPr lang="en-CA" dirty="0"/>
                        <a:t>Aristocracy</a:t>
                      </a:r>
                    </a:p>
                  </a:txBody>
                  <a:tcPr marL="77801" marR="77801"/>
                </a:tc>
                <a:tc>
                  <a:txBody>
                    <a:bodyPr/>
                    <a:lstStyle/>
                    <a:p>
                      <a:r>
                        <a:rPr lang="en-CA" dirty="0"/>
                        <a:t>In the interest of Common people</a:t>
                      </a:r>
                    </a:p>
                  </a:txBody>
                  <a:tcPr marL="77801" marR="77801"/>
                </a:tc>
                <a:extLst>
                  <a:ext uri="{0D108BD9-81ED-4DB2-BD59-A6C34878D82A}">
                    <a16:rowId xmlns:a16="http://schemas.microsoft.com/office/drawing/2014/main" val="4239532001"/>
                  </a:ext>
                </a:extLst>
              </a:tr>
              <a:tr h="370840">
                <a:tc>
                  <a:txBody>
                    <a:bodyPr/>
                    <a:lstStyle/>
                    <a:p>
                      <a:r>
                        <a:rPr lang="en-CA" dirty="0"/>
                        <a:t>Rule by few </a:t>
                      </a:r>
                    </a:p>
                  </a:txBody>
                  <a:tcPr marL="77801" marR="77801"/>
                </a:tc>
                <a:tc>
                  <a:txBody>
                    <a:bodyPr/>
                    <a:lstStyle/>
                    <a:p>
                      <a:r>
                        <a:rPr lang="en-CA" dirty="0"/>
                        <a:t>Oligarchy</a:t>
                      </a:r>
                    </a:p>
                  </a:txBody>
                  <a:tcPr marL="77801" marR="77801"/>
                </a:tc>
                <a:tc>
                  <a:txBody>
                    <a:bodyPr/>
                    <a:lstStyle/>
                    <a:p>
                      <a:r>
                        <a:rPr lang="en-CA" dirty="0"/>
                        <a:t> In the interest of the rulers</a:t>
                      </a:r>
                    </a:p>
                  </a:txBody>
                  <a:tcPr marL="77801" marR="77801"/>
                </a:tc>
                <a:extLst>
                  <a:ext uri="{0D108BD9-81ED-4DB2-BD59-A6C34878D82A}">
                    <a16:rowId xmlns:a16="http://schemas.microsoft.com/office/drawing/2014/main" val="2649153858"/>
                  </a:ext>
                </a:extLst>
              </a:tr>
              <a:tr h="370840">
                <a:tc>
                  <a:txBody>
                    <a:bodyPr/>
                    <a:lstStyle/>
                    <a:p>
                      <a:r>
                        <a:rPr lang="en-CA" dirty="0"/>
                        <a:t>Rule by many</a:t>
                      </a:r>
                    </a:p>
                  </a:txBody>
                  <a:tcPr marL="77801" marR="77801"/>
                </a:tc>
                <a:tc>
                  <a:txBody>
                    <a:bodyPr/>
                    <a:lstStyle/>
                    <a:p>
                      <a:r>
                        <a:rPr lang="en-CA" dirty="0"/>
                        <a:t>Polity</a:t>
                      </a:r>
                    </a:p>
                  </a:txBody>
                  <a:tcPr marL="77801" marR="77801"/>
                </a:tc>
                <a:tc>
                  <a:txBody>
                    <a:bodyPr/>
                    <a:lstStyle/>
                    <a:p>
                      <a:r>
                        <a:rPr lang="en-CA" dirty="0"/>
                        <a:t>In the interest of the many</a:t>
                      </a:r>
                    </a:p>
                  </a:txBody>
                  <a:tcPr marL="77801" marR="77801"/>
                </a:tc>
                <a:extLst>
                  <a:ext uri="{0D108BD9-81ED-4DB2-BD59-A6C34878D82A}">
                    <a16:rowId xmlns:a16="http://schemas.microsoft.com/office/drawing/2014/main" val="793474369"/>
                  </a:ext>
                </a:extLst>
              </a:tr>
              <a:tr h="370840">
                <a:tc>
                  <a:txBody>
                    <a:bodyPr/>
                    <a:lstStyle/>
                    <a:p>
                      <a:r>
                        <a:rPr lang="en-CA" dirty="0"/>
                        <a:t>Rule by many</a:t>
                      </a:r>
                    </a:p>
                  </a:txBody>
                  <a:tcPr marL="77801" marR="77801"/>
                </a:tc>
                <a:tc>
                  <a:txBody>
                    <a:bodyPr/>
                    <a:lstStyle/>
                    <a:p>
                      <a:r>
                        <a:rPr lang="en-CA" dirty="0"/>
                        <a:t>Democracy</a:t>
                      </a:r>
                    </a:p>
                  </a:txBody>
                  <a:tcPr marL="77801" marR="77801"/>
                </a:tc>
                <a:tc>
                  <a:txBody>
                    <a:bodyPr/>
                    <a:lstStyle/>
                    <a:p>
                      <a:r>
                        <a:rPr lang="en-CA" dirty="0"/>
                        <a:t>In the interest of the rulers</a:t>
                      </a:r>
                    </a:p>
                  </a:txBody>
                  <a:tcPr marL="77801" marR="77801"/>
                </a:tc>
                <a:extLst>
                  <a:ext uri="{0D108BD9-81ED-4DB2-BD59-A6C34878D82A}">
                    <a16:rowId xmlns:a16="http://schemas.microsoft.com/office/drawing/2014/main" val="3780411764"/>
                  </a:ext>
                </a:extLst>
              </a:tr>
            </a:tbl>
          </a:graphicData>
        </a:graphic>
      </p:graphicFrame>
    </p:spTree>
    <p:extLst>
      <p:ext uri="{BB962C8B-B14F-4D97-AF65-F5344CB8AC3E}">
        <p14:creationId xmlns:p14="http://schemas.microsoft.com/office/powerpoint/2010/main" val="2941829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4C23D-FE30-DB73-D56E-95858C147975}"/>
              </a:ext>
            </a:extLst>
          </p:cNvPr>
          <p:cNvSpPr>
            <a:spLocks noGrp="1"/>
          </p:cNvSpPr>
          <p:nvPr>
            <p:ph type="title"/>
          </p:nvPr>
        </p:nvSpPr>
        <p:spPr/>
        <p:txBody>
          <a:bodyPr/>
          <a:lstStyle/>
          <a:p>
            <a:r>
              <a:rPr lang="en-CA" dirty="0"/>
              <a:t>Modern Government</a:t>
            </a:r>
          </a:p>
        </p:txBody>
      </p:sp>
      <p:sp>
        <p:nvSpPr>
          <p:cNvPr id="3" name="Content Placeholder 2">
            <a:extLst>
              <a:ext uri="{FF2B5EF4-FFF2-40B4-BE49-F238E27FC236}">
                <a16:creationId xmlns:a16="http://schemas.microsoft.com/office/drawing/2014/main" id="{61AB28E7-BE42-5DCD-B32E-C1C05DE47377}"/>
              </a:ext>
            </a:extLst>
          </p:cNvPr>
          <p:cNvSpPr>
            <a:spLocks noGrp="1"/>
          </p:cNvSpPr>
          <p:nvPr>
            <p:ph idx="1"/>
          </p:nvPr>
        </p:nvSpPr>
        <p:spPr/>
        <p:txBody>
          <a:bodyPr/>
          <a:lstStyle/>
          <a:p>
            <a:r>
              <a:rPr lang="en-CA" dirty="0"/>
              <a:t>Representative Democracy</a:t>
            </a:r>
          </a:p>
          <a:p>
            <a:r>
              <a:rPr lang="en-CA" dirty="0"/>
              <a:t>Liberal Democracy</a:t>
            </a:r>
          </a:p>
          <a:p>
            <a:r>
              <a:rPr lang="en-CA" dirty="0"/>
              <a:t>Periodic elections</a:t>
            </a:r>
          </a:p>
          <a:p>
            <a:r>
              <a:rPr lang="en-CA" dirty="0"/>
              <a:t>Rule of Law</a:t>
            </a:r>
          </a:p>
          <a:p>
            <a:r>
              <a:rPr lang="en-CA" dirty="0"/>
              <a:t>Human Rights</a:t>
            </a:r>
          </a:p>
        </p:txBody>
      </p:sp>
    </p:spTree>
    <p:extLst>
      <p:ext uri="{BB962C8B-B14F-4D97-AF65-F5344CB8AC3E}">
        <p14:creationId xmlns:p14="http://schemas.microsoft.com/office/powerpoint/2010/main" val="3177055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8CB9-9080-F01C-69D7-243B74C63482}"/>
              </a:ext>
            </a:extLst>
          </p:cNvPr>
          <p:cNvSpPr>
            <a:spLocks noGrp="1"/>
          </p:cNvSpPr>
          <p:nvPr>
            <p:ph type="title"/>
          </p:nvPr>
        </p:nvSpPr>
        <p:spPr/>
        <p:txBody>
          <a:bodyPr/>
          <a:lstStyle/>
          <a:p>
            <a:r>
              <a:rPr lang="en-CA" dirty="0"/>
              <a:t>Modern Democracy</a:t>
            </a:r>
          </a:p>
        </p:txBody>
      </p:sp>
      <p:sp>
        <p:nvSpPr>
          <p:cNvPr id="3" name="Content Placeholder 2">
            <a:extLst>
              <a:ext uri="{FF2B5EF4-FFF2-40B4-BE49-F238E27FC236}">
                <a16:creationId xmlns:a16="http://schemas.microsoft.com/office/drawing/2014/main" id="{BBC14BD5-8E6C-F963-B651-1A54719CDF76}"/>
              </a:ext>
            </a:extLst>
          </p:cNvPr>
          <p:cNvSpPr>
            <a:spLocks noGrp="1"/>
          </p:cNvSpPr>
          <p:nvPr>
            <p:ph idx="1"/>
          </p:nvPr>
        </p:nvSpPr>
        <p:spPr/>
        <p:txBody>
          <a:bodyPr/>
          <a:lstStyle/>
          <a:p>
            <a:pPr marL="0" indent="0">
              <a:buNone/>
            </a:pPr>
            <a:r>
              <a:rPr lang="en-CA" dirty="0"/>
              <a:t>Ideological Pillars: </a:t>
            </a:r>
          </a:p>
          <a:p>
            <a:pPr marL="0" indent="0">
              <a:buNone/>
            </a:pPr>
            <a:r>
              <a:rPr lang="en-CA" dirty="0"/>
              <a:t>Liberalism</a:t>
            </a:r>
          </a:p>
          <a:p>
            <a:pPr marL="0" indent="0">
              <a:buNone/>
            </a:pPr>
            <a:r>
              <a:rPr lang="en-CA" dirty="0"/>
              <a:t>Conservatism</a:t>
            </a:r>
          </a:p>
          <a:p>
            <a:pPr marL="0" indent="0">
              <a:buNone/>
            </a:pPr>
            <a:r>
              <a:rPr lang="en-CA" dirty="0"/>
              <a:t>Socialism</a:t>
            </a:r>
          </a:p>
          <a:p>
            <a:pPr marL="0" indent="0">
              <a:buNone/>
            </a:pPr>
            <a:endParaRPr lang="en-CA" dirty="0"/>
          </a:p>
          <a:p>
            <a:endParaRPr lang="en-CA" dirty="0"/>
          </a:p>
        </p:txBody>
      </p:sp>
    </p:spTree>
    <p:extLst>
      <p:ext uri="{BB962C8B-B14F-4D97-AF65-F5344CB8AC3E}">
        <p14:creationId xmlns:p14="http://schemas.microsoft.com/office/powerpoint/2010/main" val="1121156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4047C-87FC-3B08-228D-4443D9185D54}"/>
              </a:ext>
            </a:extLst>
          </p:cNvPr>
          <p:cNvSpPr>
            <a:spLocks noGrp="1"/>
          </p:cNvSpPr>
          <p:nvPr>
            <p:ph type="title"/>
          </p:nvPr>
        </p:nvSpPr>
        <p:spPr/>
        <p:txBody>
          <a:bodyPr/>
          <a:lstStyle/>
          <a:p>
            <a:r>
              <a:rPr lang="en-CA" dirty="0"/>
              <a:t>Types Of Democracy</a:t>
            </a:r>
          </a:p>
        </p:txBody>
      </p:sp>
      <p:sp>
        <p:nvSpPr>
          <p:cNvPr id="3" name="Content Placeholder 2">
            <a:extLst>
              <a:ext uri="{FF2B5EF4-FFF2-40B4-BE49-F238E27FC236}">
                <a16:creationId xmlns:a16="http://schemas.microsoft.com/office/drawing/2014/main" id="{1D74F6D9-CBFB-4C8D-3D40-C29DE7F853C0}"/>
              </a:ext>
            </a:extLst>
          </p:cNvPr>
          <p:cNvSpPr>
            <a:spLocks noGrp="1"/>
          </p:cNvSpPr>
          <p:nvPr>
            <p:ph idx="1"/>
          </p:nvPr>
        </p:nvSpPr>
        <p:spPr/>
        <p:txBody>
          <a:bodyPr/>
          <a:lstStyle/>
          <a:p>
            <a:r>
              <a:rPr lang="en-CA" dirty="0"/>
              <a:t>Presidential form</a:t>
            </a:r>
          </a:p>
          <a:p>
            <a:r>
              <a:rPr lang="en-CA" dirty="0"/>
              <a:t>Parliamentary form</a:t>
            </a:r>
          </a:p>
        </p:txBody>
      </p:sp>
    </p:spTree>
    <p:extLst>
      <p:ext uri="{BB962C8B-B14F-4D97-AF65-F5344CB8AC3E}">
        <p14:creationId xmlns:p14="http://schemas.microsoft.com/office/powerpoint/2010/main" val="2461423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57677-3182-1FB6-9DA7-4857AE6C6623}"/>
              </a:ext>
            </a:extLst>
          </p:cNvPr>
          <p:cNvSpPr>
            <a:spLocks noGrp="1"/>
          </p:cNvSpPr>
          <p:nvPr>
            <p:ph type="title"/>
          </p:nvPr>
        </p:nvSpPr>
        <p:spPr/>
        <p:txBody>
          <a:bodyPr/>
          <a:lstStyle/>
          <a:p>
            <a:r>
              <a:rPr lang="en-CA" dirty="0"/>
              <a:t> Presidential Form</a:t>
            </a:r>
          </a:p>
        </p:txBody>
      </p:sp>
      <p:sp>
        <p:nvSpPr>
          <p:cNvPr id="3" name="Content Placeholder 2">
            <a:extLst>
              <a:ext uri="{FF2B5EF4-FFF2-40B4-BE49-F238E27FC236}">
                <a16:creationId xmlns:a16="http://schemas.microsoft.com/office/drawing/2014/main" id="{504333E4-DB5C-4FE1-E92D-F12EA05C6D4C}"/>
              </a:ext>
            </a:extLst>
          </p:cNvPr>
          <p:cNvSpPr>
            <a:spLocks noGrp="1"/>
          </p:cNvSpPr>
          <p:nvPr>
            <p:ph idx="1"/>
          </p:nvPr>
        </p:nvSpPr>
        <p:spPr/>
        <p:txBody>
          <a:bodyPr/>
          <a:lstStyle/>
          <a:p>
            <a:pPr marL="0" indent="0">
              <a:buNone/>
            </a:pPr>
            <a:r>
              <a:rPr lang="en-CA" dirty="0"/>
              <a:t>President is head of the state and head of the Government</a:t>
            </a:r>
          </a:p>
          <a:p>
            <a:pPr marL="0" indent="0">
              <a:buNone/>
            </a:pPr>
            <a:r>
              <a:rPr lang="en-CA" dirty="0"/>
              <a:t>All powers are vested in the hands of the President</a:t>
            </a:r>
          </a:p>
          <a:p>
            <a:pPr marL="0" indent="0">
              <a:buNone/>
            </a:pPr>
            <a:r>
              <a:rPr lang="en-CA" dirty="0"/>
              <a:t>President is accountable to the people, not to the parliament</a:t>
            </a:r>
          </a:p>
          <a:p>
            <a:pPr marL="0" indent="0">
              <a:buNone/>
            </a:pPr>
            <a:r>
              <a:rPr lang="en-CA" dirty="0"/>
              <a:t>President can dissolve the parliament </a:t>
            </a:r>
          </a:p>
          <a:p>
            <a:pPr marL="0" indent="0">
              <a:buNone/>
            </a:pPr>
            <a:r>
              <a:rPr lang="en-CA" dirty="0"/>
              <a:t>President forms the cabinet. The cabinet is accountable to the President. </a:t>
            </a:r>
          </a:p>
          <a:p>
            <a:pPr marL="0" indent="0">
              <a:buNone/>
            </a:pPr>
            <a:r>
              <a:rPr lang="en-CA" dirty="0"/>
              <a:t>President can dissolve the Cabinet too.</a:t>
            </a:r>
          </a:p>
        </p:txBody>
      </p:sp>
    </p:spTree>
    <p:extLst>
      <p:ext uri="{BB962C8B-B14F-4D97-AF65-F5344CB8AC3E}">
        <p14:creationId xmlns:p14="http://schemas.microsoft.com/office/powerpoint/2010/main" val="3403212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9900C-D96E-0F99-FC81-8A1003A2CEFD}"/>
              </a:ext>
            </a:extLst>
          </p:cNvPr>
          <p:cNvSpPr>
            <a:spLocks noGrp="1"/>
          </p:cNvSpPr>
          <p:nvPr>
            <p:ph type="title"/>
          </p:nvPr>
        </p:nvSpPr>
        <p:spPr/>
        <p:txBody>
          <a:bodyPr/>
          <a:lstStyle/>
          <a:p>
            <a:r>
              <a:rPr lang="en-CA" dirty="0"/>
              <a:t>Parliamentary form of Government</a:t>
            </a:r>
            <a:br>
              <a:rPr lang="en-CA" dirty="0"/>
            </a:br>
            <a:endParaRPr lang="en-CA" dirty="0"/>
          </a:p>
        </p:txBody>
      </p:sp>
      <p:sp>
        <p:nvSpPr>
          <p:cNvPr id="3" name="Content Placeholder 2">
            <a:extLst>
              <a:ext uri="{FF2B5EF4-FFF2-40B4-BE49-F238E27FC236}">
                <a16:creationId xmlns:a16="http://schemas.microsoft.com/office/drawing/2014/main" id="{3C9BD4ED-41D7-D3CB-CC97-21CF6AC46C23}"/>
              </a:ext>
            </a:extLst>
          </p:cNvPr>
          <p:cNvSpPr>
            <a:spLocks noGrp="1"/>
          </p:cNvSpPr>
          <p:nvPr>
            <p:ph idx="1"/>
          </p:nvPr>
        </p:nvSpPr>
        <p:spPr/>
        <p:txBody>
          <a:bodyPr/>
          <a:lstStyle/>
          <a:p>
            <a:r>
              <a:rPr lang="en-CA" dirty="0"/>
              <a:t>The Prime minister is the head of the government,  but the President is the head of the state.</a:t>
            </a:r>
          </a:p>
          <a:p>
            <a:r>
              <a:rPr lang="en-CA" dirty="0"/>
              <a:t> Leader of the majority party in the parliament  becomes the prime minister</a:t>
            </a:r>
          </a:p>
          <a:p>
            <a:r>
              <a:rPr lang="en-CA" dirty="0"/>
              <a:t>Prime minister selects the cabinet ministers</a:t>
            </a:r>
          </a:p>
          <a:p>
            <a:r>
              <a:rPr lang="en-CA" dirty="0"/>
              <a:t> Prime  minister is accountable to the parliament</a:t>
            </a:r>
          </a:p>
          <a:p>
            <a:r>
              <a:rPr lang="en-CA" dirty="0"/>
              <a:t>Cabinet ministers are accountable to the prime minister</a:t>
            </a:r>
          </a:p>
          <a:p>
            <a:r>
              <a:rPr lang="en-CA" dirty="0"/>
              <a:t>The Prime minister can dismiss his/her cabinet members and  can select anyone  from the parliament members  as a minister</a:t>
            </a:r>
          </a:p>
        </p:txBody>
      </p:sp>
    </p:spTree>
    <p:extLst>
      <p:ext uri="{BB962C8B-B14F-4D97-AF65-F5344CB8AC3E}">
        <p14:creationId xmlns:p14="http://schemas.microsoft.com/office/powerpoint/2010/main" val="23520953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181</TotalTime>
  <Words>613</Words>
  <Application>Microsoft Macintosh PowerPoint</Application>
  <PresentationFormat>Widescreen</PresentationFormat>
  <Paragraphs>80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vt:lpstr>
      <vt:lpstr>State</vt:lpstr>
      <vt:lpstr>Elements of a State </vt:lpstr>
      <vt:lpstr>Functions of Government</vt:lpstr>
      <vt:lpstr>Sovereignty</vt:lpstr>
      <vt:lpstr>Types Of Sovereignty</vt:lpstr>
      <vt:lpstr>Evolution of a State</vt:lpstr>
      <vt:lpstr>Types of State</vt:lpstr>
      <vt:lpstr>Aristotle’s Classification of Government</vt:lpstr>
      <vt:lpstr>Modern Government</vt:lpstr>
      <vt:lpstr>Modern Democracy</vt:lpstr>
      <vt:lpstr>Types Of Democracy</vt:lpstr>
      <vt:lpstr> Presidential Form</vt:lpstr>
      <vt:lpstr>Parliamentary form of Government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dc:title>
  <dc:creator>Zaglul Haider</dc:creator>
  <cp:lastModifiedBy>Farah Chowdhury</cp:lastModifiedBy>
  <cp:revision>8</cp:revision>
  <dcterms:created xsi:type="dcterms:W3CDTF">2025-05-28T15:55:28Z</dcterms:created>
  <dcterms:modified xsi:type="dcterms:W3CDTF">2025-06-03T20:16:35Z</dcterms:modified>
</cp:coreProperties>
</file>