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777001-AB81-43DE-8F19-2A7C1594D01A}" v="7" dt="2025-05-23T12:25:12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4620"/>
  </p:normalViewPr>
  <p:slideViewPr>
    <p:cSldViewPr snapToGrid="0">
      <p:cViewPr varScale="1">
        <p:scale>
          <a:sx n="103" d="100"/>
          <a:sy n="103" d="100"/>
        </p:scale>
        <p:origin x="9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9B3D2C0-A54E-475B-9344-EE8670513B48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6C91C-C82D-4730-84B0-81C57226E42B}" type="slidenum">
              <a:rPr lang="en-CA" smtClean="0"/>
              <a:t>‹#›</a:t>
            </a:fld>
            <a:endParaRPr lang="en-CA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6699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3D2C0-A54E-475B-9344-EE8670513B48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6C91C-C82D-4730-84B0-81C57226E4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86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3D2C0-A54E-475B-9344-EE8670513B48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6C91C-C82D-4730-84B0-81C57226E42B}" type="slidenum">
              <a:rPr lang="en-CA" smtClean="0"/>
              <a:t>‹#›</a:t>
            </a:fld>
            <a:endParaRPr lang="en-C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7103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3D2C0-A54E-475B-9344-EE8670513B48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6C91C-C82D-4730-84B0-81C57226E4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7257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3D2C0-A54E-475B-9344-EE8670513B48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6C91C-C82D-4730-84B0-81C57226E4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903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3D2C0-A54E-475B-9344-EE8670513B48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6C91C-C82D-4730-84B0-81C57226E4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0077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3D2C0-A54E-475B-9344-EE8670513B48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6C91C-C82D-4730-84B0-81C57226E4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0965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3D2C0-A54E-475B-9344-EE8670513B48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6C91C-C82D-4730-84B0-81C57226E4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558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3D2C0-A54E-475B-9344-EE8670513B48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6C91C-C82D-4730-84B0-81C57226E42B}" type="slidenum">
              <a:rPr lang="en-CA" smtClean="0"/>
              <a:t>‹#›</a:t>
            </a:fld>
            <a:endParaRPr lang="en-C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330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3D2C0-A54E-475B-9344-EE8670513B48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6C91C-C82D-4730-84B0-81C57226E4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2357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3D2C0-A54E-475B-9344-EE8670513B48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6C91C-C82D-4730-84B0-81C57226E42B}" type="slidenum">
              <a:rPr lang="en-CA" smtClean="0"/>
              <a:t>‹#›</a:t>
            </a:fld>
            <a:endParaRPr lang="en-CA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901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9B3D2C0-A54E-475B-9344-EE8670513B48}" type="datetimeFigureOut">
              <a:rPr lang="en-CA" smtClean="0"/>
              <a:t>2025-05-27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8E6C91C-C82D-4730-84B0-81C57226E42B}" type="slidenum">
              <a:rPr lang="en-CA" smtClean="0"/>
              <a:t>‹#›</a:t>
            </a:fld>
            <a:endParaRPr lang="en-C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8612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F29B8-53CB-770D-C35A-7C5F614FBB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WEEK 1 Lecture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B4F77-BD7E-590B-D6E4-DC827FEEA3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Defining Key Concepts</a:t>
            </a:r>
          </a:p>
          <a:p>
            <a:r>
              <a:rPr lang="en-CA" dirty="0"/>
              <a:t>Politics: Power, Authority, Legitimacy, Sovereignty,  Government, Democracy, Dictatorship, Citizenship,   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8118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C9E2B-B654-942D-D7FC-E1C1DA0EC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Politics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8472F-B4DF-3BEF-FD37-9FF5DB99C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- Who Gets What, When and How</a:t>
            </a:r>
          </a:p>
          <a:p>
            <a:r>
              <a:rPr lang="en-CA" dirty="0"/>
              <a:t>- Authoritative allocations of values</a:t>
            </a:r>
          </a:p>
          <a:p>
            <a:r>
              <a:rPr lang="en-CA" dirty="0"/>
              <a:t>- Process of conflict resolution</a:t>
            </a:r>
          </a:p>
          <a:p>
            <a:r>
              <a:rPr lang="en-CA" dirty="0"/>
              <a:t>- Reaching a consensus through the process of conflict</a:t>
            </a:r>
          </a:p>
        </p:txBody>
      </p:sp>
    </p:spTree>
    <p:extLst>
      <p:ext uri="{BB962C8B-B14F-4D97-AF65-F5344CB8AC3E}">
        <p14:creationId xmlns:p14="http://schemas.microsoft.com/office/powerpoint/2010/main" val="3610948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FF8CF-CBF9-7A4D-9F03-4709D8DFF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6B57C-59BA-E3C1-14CC-41F5EFAA8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ability of one actor to impose its will on another to do what it wants</a:t>
            </a:r>
          </a:p>
        </p:txBody>
      </p:sp>
    </p:spTree>
    <p:extLst>
      <p:ext uri="{BB962C8B-B14F-4D97-AF65-F5344CB8AC3E}">
        <p14:creationId xmlns:p14="http://schemas.microsoft.com/office/powerpoint/2010/main" val="1648074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E842F-AA2E-F013-8698-32AA63716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2616" y="1949611"/>
            <a:ext cx="10515600" cy="1325563"/>
          </a:xfrm>
        </p:spPr>
        <p:txBody>
          <a:bodyPr/>
          <a:lstStyle/>
          <a:p>
            <a:r>
              <a:rPr lang="en-CA" dirty="0"/>
              <a:t>Legitimacy: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63128-B65B-5D21-A535-FB6B2E4F9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- Legitimacy is a moral or ethical  concept</a:t>
            </a:r>
          </a:p>
          <a:p>
            <a:endParaRPr lang="en-CA" dirty="0"/>
          </a:p>
          <a:p>
            <a:r>
              <a:rPr lang="en-CA" dirty="0"/>
              <a:t> - A belief that the state has power to make and enforce binding rules in which laws are justified</a:t>
            </a:r>
          </a:p>
          <a:p>
            <a:endParaRPr lang="en-CA" dirty="0"/>
          </a:p>
          <a:p>
            <a:r>
              <a:rPr lang="en-CA" dirty="0"/>
              <a:t>Legitimacy comes from election/ revolution</a:t>
            </a:r>
          </a:p>
          <a:p>
            <a:endParaRPr lang="en-CA" dirty="0"/>
          </a:p>
          <a:p>
            <a:r>
              <a:rPr lang="en-CA" dirty="0"/>
              <a:t>Legitimacy gives the government the moral right to govern</a:t>
            </a:r>
          </a:p>
        </p:txBody>
      </p:sp>
    </p:spTree>
    <p:extLst>
      <p:ext uri="{BB962C8B-B14F-4D97-AF65-F5344CB8AC3E}">
        <p14:creationId xmlns:p14="http://schemas.microsoft.com/office/powerpoint/2010/main" val="4214649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F34A-B055-EC2B-9272-2736A18F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Authority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EB102-95FF-218D-30C4-C54A14E80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Government’s power to make binding decisions for the Governed/ people</a:t>
            </a:r>
          </a:p>
          <a:p>
            <a:r>
              <a:rPr lang="en-CA" dirty="0"/>
              <a:t>Such power must be rightful and acceptable </a:t>
            </a:r>
          </a:p>
          <a:p>
            <a:pPr marL="0" indent="0">
              <a:buNone/>
            </a:pPr>
            <a:r>
              <a:rPr lang="en-CA" dirty="0"/>
              <a:t> People must obey those decisions</a:t>
            </a:r>
          </a:p>
          <a:p>
            <a:r>
              <a:rPr lang="en-CA" dirty="0"/>
              <a:t>Authority derives from:</a:t>
            </a:r>
          </a:p>
          <a:p>
            <a:r>
              <a:rPr lang="en-CA" dirty="0"/>
              <a:t>-  law</a:t>
            </a:r>
          </a:p>
          <a:p>
            <a:r>
              <a:rPr lang="en-CA" dirty="0"/>
              <a:t>- Knowledge</a:t>
            </a:r>
          </a:p>
          <a:p>
            <a:r>
              <a:rPr lang="en-CA" dirty="0"/>
              <a:t>- People’s consent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6467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7EC9-EB76-D03C-0C9C-69F5840D1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Sovereignty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7ADBE-EAEB-6DBD-764A-8A99F9B3C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Absolute power over the Country</a:t>
            </a:r>
          </a:p>
          <a:p>
            <a:r>
              <a:rPr lang="en-CA" dirty="0"/>
              <a:t>Sovereignty belongs to the people/parliament</a:t>
            </a:r>
          </a:p>
          <a:p>
            <a:r>
              <a:rPr lang="en-CA" dirty="0"/>
              <a:t>Two types of Sovereignty:</a:t>
            </a:r>
          </a:p>
          <a:p>
            <a:r>
              <a:rPr lang="en-CA" dirty="0"/>
              <a:t>Internal and external sovereignty</a:t>
            </a:r>
          </a:p>
        </p:txBody>
      </p:sp>
    </p:spTree>
    <p:extLst>
      <p:ext uri="{BB962C8B-B14F-4D97-AF65-F5344CB8AC3E}">
        <p14:creationId xmlns:p14="http://schemas.microsoft.com/office/powerpoint/2010/main" val="93484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2B5B-7B7F-CE0A-4452-92ECF545C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1141272"/>
            <a:ext cx="9720072" cy="1499616"/>
          </a:xfrm>
        </p:spPr>
        <p:txBody>
          <a:bodyPr>
            <a:normAutofit fontScale="90000"/>
          </a:bodyPr>
          <a:lstStyle/>
          <a:p>
            <a:r>
              <a:rPr lang="en-CA" dirty="0"/>
              <a:t>Democracy</a:t>
            </a:r>
            <a:br>
              <a:rPr lang="en-CA" dirty="0"/>
            </a:br>
            <a:br>
              <a:rPr lang="en-CA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EE7A5-CA8E-ED68-CDBE-B2123D7CF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- Government of the People, by the people and for  people (Abraham </a:t>
            </a:r>
            <a:r>
              <a:rPr lang="en-CA" dirty="0" err="1"/>
              <a:t>Linclon</a:t>
            </a:r>
            <a:r>
              <a:rPr lang="en-CA" dirty="0"/>
              <a:t>)</a:t>
            </a:r>
          </a:p>
          <a:p>
            <a:r>
              <a:rPr lang="en-CA" dirty="0"/>
              <a:t>- Government by consent</a:t>
            </a:r>
          </a:p>
          <a:p>
            <a:r>
              <a:rPr lang="en-CA" dirty="0"/>
              <a:t>- People can overthrow a government</a:t>
            </a:r>
          </a:p>
          <a:p>
            <a:r>
              <a:rPr lang="en-CA" dirty="0"/>
              <a:t>- Accountable government</a:t>
            </a:r>
          </a:p>
          <a:p>
            <a:r>
              <a:rPr lang="en-CA" dirty="0"/>
              <a:t>- Responsive government</a:t>
            </a:r>
          </a:p>
        </p:txBody>
      </p:sp>
    </p:spTree>
    <p:extLst>
      <p:ext uri="{BB962C8B-B14F-4D97-AF65-F5344CB8AC3E}">
        <p14:creationId xmlns:p14="http://schemas.microsoft.com/office/powerpoint/2010/main" val="1732484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A93A-5C8A-85DB-CB9C-269190779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Dictatorship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697E8-9F02-DB3E-6E24-671A96AB8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Non-democratic government</a:t>
            </a:r>
          </a:p>
          <a:p>
            <a:pPr marL="0" indent="0">
              <a:buNone/>
            </a:pPr>
            <a:r>
              <a:rPr lang="en-CA" dirty="0"/>
              <a:t>One party rulership</a:t>
            </a:r>
          </a:p>
          <a:p>
            <a:pPr marL="0" indent="0">
              <a:buNone/>
            </a:pPr>
            <a:r>
              <a:rPr lang="en-CA" dirty="0"/>
              <a:t>People are considered as subjects</a:t>
            </a:r>
          </a:p>
          <a:p>
            <a:pPr marL="0" indent="0">
              <a:buNone/>
            </a:pPr>
            <a:r>
              <a:rPr lang="en-CA" dirty="0"/>
              <a:t>Rulers are masters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84953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D978-17AC-9979-B2EF-AE2616E45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Citizenship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E65B4-1EFF-A994-43CD-A4E47F728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citizen is a member of a political society</a:t>
            </a:r>
          </a:p>
          <a:p>
            <a:endParaRPr lang="en-CA" dirty="0"/>
          </a:p>
          <a:p>
            <a:r>
              <a:rPr lang="en-CA"/>
              <a:t>Having rights </a:t>
            </a:r>
            <a:r>
              <a:rPr lang="en-CA" dirty="0"/>
              <a:t>and duties</a:t>
            </a:r>
          </a:p>
          <a:p>
            <a:endParaRPr lang="en-CA" dirty="0"/>
          </a:p>
          <a:p>
            <a:r>
              <a:rPr lang="en-CA" dirty="0"/>
              <a:t>Paying obedience to the country</a:t>
            </a:r>
          </a:p>
          <a:p>
            <a:endParaRPr lang="en-CA" dirty="0"/>
          </a:p>
          <a:p>
            <a:r>
              <a:rPr lang="en-CA" dirty="0"/>
              <a:t>The right to have rights</a:t>
            </a:r>
          </a:p>
        </p:txBody>
      </p:sp>
    </p:spTree>
    <p:extLst>
      <p:ext uri="{BB962C8B-B14F-4D97-AF65-F5344CB8AC3E}">
        <p14:creationId xmlns:p14="http://schemas.microsoft.com/office/powerpoint/2010/main" val="20699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120</TotalTime>
  <Words>246</Words>
  <Application>Microsoft Macintosh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Tw Cen MT</vt:lpstr>
      <vt:lpstr>Tw Cen MT Condensed</vt:lpstr>
      <vt:lpstr>Wingdings 3</vt:lpstr>
      <vt:lpstr>Integral</vt:lpstr>
      <vt:lpstr>WEEK 1 Lecture 2</vt:lpstr>
      <vt:lpstr>Politics</vt:lpstr>
      <vt:lpstr>Power</vt:lpstr>
      <vt:lpstr>Legitimacy: </vt:lpstr>
      <vt:lpstr>Authority</vt:lpstr>
      <vt:lpstr>Sovereignty</vt:lpstr>
      <vt:lpstr>Democracy  </vt:lpstr>
      <vt:lpstr>Dictatorship</vt:lpstr>
      <vt:lpstr>Citizenship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Lecture 2</dc:title>
  <dc:creator>Zaglul Haider</dc:creator>
  <cp:lastModifiedBy>Farah Chowdhury</cp:lastModifiedBy>
  <cp:revision>15</cp:revision>
  <dcterms:created xsi:type="dcterms:W3CDTF">2025-05-23T10:09:14Z</dcterms:created>
  <dcterms:modified xsi:type="dcterms:W3CDTF">2025-05-28T01:19:27Z</dcterms:modified>
</cp:coreProperties>
</file>