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60" r:id="rId6"/>
    <p:sldId id="258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4620"/>
  </p:normalViewPr>
  <p:slideViewPr>
    <p:cSldViewPr snapToGrid="0">
      <p:cViewPr varScale="1">
        <p:scale>
          <a:sx n="103" d="100"/>
          <a:sy n="103" d="100"/>
        </p:scale>
        <p:origin x="9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84F86-B81B-6765-725A-A68BFD09D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6EAC94-7348-B84F-5EAE-A0F5DB14E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B146-E4EB-2CB6-AB8B-8473376AB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E59E-EE6E-44BD-A75E-37EBCAA2FD89}" type="datetimeFigureOut">
              <a:rPr lang="en-CA" smtClean="0"/>
              <a:t>2025-07-01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D3F08-B257-A6EA-A830-345E6B3CA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8F23E-1B04-3D87-1657-4D951FCF0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2F1A-AF35-445F-8798-48D31A850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1733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B9935-45B5-13E9-6310-AC4DCF3FA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BB12C-6318-ACEC-E6BB-EFFEFAAC6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3D004-7B67-C3DE-3C00-DB280F6D2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E59E-EE6E-44BD-A75E-37EBCAA2FD89}" type="datetimeFigureOut">
              <a:rPr lang="en-CA" smtClean="0"/>
              <a:t>2025-07-01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37777-0880-B54E-1D6D-54180A1BC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3206D-CE56-2344-8FE1-C61E227FE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2F1A-AF35-445F-8798-48D31A850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5805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9136-C0E0-8419-85C7-CE8F5D463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03416-221C-5799-9B8A-F0183A55A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51C89-966B-CF01-4E89-B7D44A6A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E59E-EE6E-44BD-A75E-37EBCAA2FD89}" type="datetimeFigureOut">
              <a:rPr lang="en-CA" smtClean="0"/>
              <a:t>2025-07-01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2CF83-DB51-6264-C16D-47230F6FD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74AD4-42F6-E948-6EB1-6E0D5546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2F1A-AF35-445F-8798-48D31A850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2541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B3645-1982-0B22-C53E-1EEA9E92B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0F826-B075-B570-E3D8-56EEC8E70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15AA49-0099-7E82-8469-A631FEA2B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B96A3-7B5B-7271-1B18-5602B0F06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E59E-EE6E-44BD-A75E-37EBCAA2FD89}" type="datetimeFigureOut">
              <a:rPr lang="en-CA" smtClean="0"/>
              <a:t>2025-07-01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7E046-FB08-06A6-953C-BABD82F32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1C50B8-0CF7-CD74-2A4D-F8A7FAA85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2F1A-AF35-445F-8798-48D31A850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4325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574CC-DBE7-161F-CBE1-B0D5C3E2B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21B4F-B7A9-0E31-3E98-A3E95C764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FA9B1-D3DE-7513-37EB-4F26BB497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CAD5F7-26DC-B07A-2874-439C21E260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0D57EC-542F-0CA1-A570-D84BC69EF9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779CDA-83BE-DEE3-2285-A4FF14731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E59E-EE6E-44BD-A75E-37EBCAA2FD89}" type="datetimeFigureOut">
              <a:rPr lang="en-CA" smtClean="0"/>
              <a:t>2025-07-01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08E7CD-6DBF-C520-6811-D79FBCECF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F16632-61D3-F712-7F4C-1474FA8C9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2F1A-AF35-445F-8798-48D31A850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46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C41A0-C55B-F3A7-D59E-74C9CC572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612FD7-C184-0E87-FDFB-6B9724305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E59E-EE6E-44BD-A75E-37EBCAA2FD89}" type="datetimeFigureOut">
              <a:rPr lang="en-CA" smtClean="0"/>
              <a:t>2025-07-01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47F26E-D842-5C46-F480-07D0F7481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69BC2-E575-D6C5-A311-2F737525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2F1A-AF35-445F-8798-48D31A850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923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CC1085-CCE2-B133-C4F7-A70F6D4A2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E59E-EE6E-44BD-A75E-37EBCAA2FD89}" type="datetimeFigureOut">
              <a:rPr lang="en-CA" smtClean="0"/>
              <a:t>2025-07-01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7E274-BB77-B01A-B210-E238C5ACE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CCBD4-B789-BF85-4C97-D06E2E779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2F1A-AF35-445F-8798-48D31A850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4027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C0232-CCFF-31C3-127A-C272AA10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3951F-2235-FBC9-50D2-876356C8D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6F31FA-13A3-05BB-0C93-921B3600A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F8CCF-9CF6-F4BD-5AF4-B75A0B479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E59E-EE6E-44BD-A75E-37EBCAA2FD89}" type="datetimeFigureOut">
              <a:rPr lang="en-CA" smtClean="0"/>
              <a:t>2025-07-01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3C6BF-C6AB-EA24-4F0F-6FBC5D1BF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7A2A3-D500-0106-3BB2-766794E6C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2F1A-AF35-445F-8798-48D31A850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7076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3CF2E-FBFA-F2BC-0EB2-6E5D739C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F79F6B-484B-43E6-6DEB-DCA9645843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BA2DC2-3E64-489A-D130-11748F8B8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1685A-F1E1-9B3A-133F-D1CC9A52B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E59E-EE6E-44BD-A75E-37EBCAA2FD89}" type="datetimeFigureOut">
              <a:rPr lang="en-CA" smtClean="0"/>
              <a:t>2025-07-01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6DE60-FB47-EF1A-8973-181452887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64660-8693-2CF0-0428-E5E5083BD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2F1A-AF35-445F-8798-48D31A850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8266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DA413-DAA5-1E6A-46E6-68A5C47CD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4F85C5-6839-3526-731F-4F22A2847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87F02-2796-03D6-DFD9-0670CD1A8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E59E-EE6E-44BD-A75E-37EBCAA2FD89}" type="datetimeFigureOut">
              <a:rPr lang="en-CA" smtClean="0"/>
              <a:t>2025-07-01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66218-E6B0-CA0E-861A-8300B1E40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7EA2C-C7A4-DCA9-A694-082982D75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2F1A-AF35-445F-8798-48D31A850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5811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C3F5D9-7653-504B-E46A-9CAB41CAD7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588817-19F9-B3A5-4CF8-AAB0C5D77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62C97-6641-1E8F-25A0-6FE103BD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E59E-EE6E-44BD-A75E-37EBCAA2FD89}" type="datetimeFigureOut">
              <a:rPr lang="en-CA" smtClean="0"/>
              <a:t>2025-07-01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D1B47-6927-997D-525B-234A4E4D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3A92B-48E3-C935-0F82-550CAD848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E2F1A-AF35-445F-8798-48D31A850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897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2B30C-925C-CE30-F985-DA7134A48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43673-D5A2-2174-3378-082135780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24D18-B44F-70E8-9F94-17D9CB56BF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8E59E-EE6E-44BD-A75E-37EBCAA2FD89}" type="datetimeFigureOut">
              <a:rPr lang="en-CA" smtClean="0"/>
              <a:t>2025-07-01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CBE23-D4FD-788F-CE1F-917B7D1F6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C656B-9BE0-6E03-3500-E4E55ED04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DE2F1A-AF35-445F-8798-48D31A85043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034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BE522-A316-CD8A-58F2-05B6098232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Traditional and Modern Societies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71617A-D6E5-06E7-3D61-006EE77969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Traditional refers to the customs, traditions, practices  that have   existed  in a group of people or  a society  for a long time without any change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6770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BEFFB-163C-A416-13EC-A8F9C4F19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Modernity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D1B72-DD56-C9CB-01DF-9BD890AF7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Modern simply means present </a:t>
            </a:r>
          </a:p>
          <a:p>
            <a:r>
              <a:rPr lang="en-CA" dirty="0"/>
              <a:t>Modernity means new/latest ideas,  styles or equipment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81826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D429D-6FBD-6012-5F40-C1B752847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Essential Features of Traditional And Modern Societies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40325-A055-2F7B-A538-ABCD544D3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 Talcott Parsons offered contrasting or dichotomous  variables  of traditional and modern societies</a:t>
            </a:r>
          </a:p>
          <a:p>
            <a:r>
              <a:rPr lang="en-CA" dirty="0"/>
              <a:t>Traditional Society: Ascriptive Status</a:t>
            </a:r>
          </a:p>
          <a:p>
            <a:r>
              <a:rPr lang="en-CA" dirty="0"/>
              <a:t>Modern Society: Achievement Status</a:t>
            </a:r>
          </a:p>
          <a:p>
            <a:r>
              <a:rPr lang="en-CA" dirty="0"/>
              <a:t>Traditional Society: Diffuse Roles </a:t>
            </a:r>
          </a:p>
          <a:p>
            <a:r>
              <a:rPr lang="en-CA" dirty="0"/>
              <a:t>Modern Society: Specific Roles</a:t>
            </a:r>
          </a:p>
          <a:p>
            <a:r>
              <a:rPr lang="en-CA" dirty="0"/>
              <a:t>Traditional Society: Particularistic Values</a:t>
            </a:r>
          </a:p>
          <a:p>
            <a:r>
              <a:rPr lang="en-CA" dirty="0"/>
              <a:t>Modern Society: Universalistic Values</a:t>
            </a:r>
          </a:p>
        </p:txBody>
      </p:sp>
    </p:spTree>
    <p:extLst>
      <p:ext uri="{BB962C8B-B14F-4D97-AF65-F5344CB8AC3E}">
        <p14:creationId xmlns:p14="http://schemas.microsoft.com/office/powerpoint/2010/main" val="4102055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7D44F-C748-E25D-07FE-0A495C612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Essential Features of traditional and Modern Society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6ADBD-1D9E-920B-EEA2-FBADB2FF3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Traditional Society: affectivity means emotional attachment, Subjective</a:t>
            </a:r>
          </a:p>
          <a:p>
            <a:r>
              <a:rPr lang="en-CA" dirty="0"/>
              <a:t>Modern Society: affective neutrality,  emotional detachment, objective</a:t>
            </a:r>
          </a:p>
          <a:p>
            <a:r>
              <a:rPr lang="en-CA" dirty="0"/>
              <a:t>Traditional Society: self-orientation</a:t>
            </a:r>
          </a:p>
          <a:p>
            <a:r>
              <a:rPr lang="en-CA" dirty="0"/>
              <a:t>Modern Society: collective Orientation</a:t>
            </a:r>
          </a:p>
        </p:txBody>
      </p:sp>
    </p:spTree>
    <p:extLst>
      <p:ext uri="{BB962C8B-B14F-4D97-AF65-F5344CB8AC3E}">
        <p14:creationId xmlns:p14="http://schemas.microsoft.com/office/powerpoint/2010/main" val="1673055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FC261-0A5A-A900-C700-3DEC92EBC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Transitional Society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6BFD0-73F4-690A-9B77-88E0F8011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Transitional Society means a society which  is passing from one condition to another. </a:t>
            </a:r>
          </a:p>
          <a:p>
            <a:r>
              <a:rPr lang="en-CA" dirty="0"/>
              <a:t>Examples: Transition from rural to urban; Agrarian to Industrial society</a:t>
            </a:r>
          </a:p>
          <a:p>
            <a:r>
              <a:rPr lang="en-CA" dirty="0"/>
              <a:t>Essential Features: Mixed culture, mixed technology and mixed values</a:t>
            </a:r>
          </a:p>
        </p:txBody>
      </p:sp>
    </p:spTree>
    <p:extLst>
      <p:ext uri="{BB962C8B-B14F-4D97-AF65-F5344CB8AC3E}">
        <p14:creationId xmlns:p14="http://schemas.microsoft.com/office/powerpoint/2010/main" val="2084434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DCAC9-0E6D-2968-43A5-27CD2ABB9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W. W. Rostow: </a:t>
            </a:r>
            <a:r>
              <a:rPr lang="en-CA" i="1" dirty="0"/>
              <a:t>The</a:t>
            </a:r>
            <a:r>
              <a:rPr lang="en-CA" dirty="0"/>
              <a:t> </a:t>
            </a:r>
            <a:r>
              <a:rPr lang="en-CA" i="1" dirty="0"/>
              <a:t>Stages of Economic Growth:   a Non -Communist Manifesto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3162C-ED0A-349B-3C3F-A0FCB4428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Rostow outlined six stages of development:</a:t>
            </a:r>
          </a:p>
          <a:p>
            <a:pPr lvl="1"/>
            <a:r>
              <a:rPr lang="en-CA" dirty="0"/>
              <a:t>Traditional society</a:t>
            </a:r>
          </a:p>
          <a:p>
            <a:pPr lvl="1"/>
            <a:r>
              <a:rPr lang="en-CA" dirty="0"/>
              <a:t>Preconditions for take-off</a:t>
            </a:r>
          </a:p>
          <a:p>
            <a:pPr lvl="1"/>
            <a:r>
              <a:rPr lang="en-CA" dirty="0"/>
              <a:t>Take-off</a:t>
            </a:r>
          </a:p>
          <a:p>
            <a:pPr lvl="1"/>
            <a:r>
              <a:rPr lang="en-CA" dirty="0"/>
              <a:t>Drive towards maturity</a:t>
            </a:r>
          </a:p>
          <a:p>
            <a:pPr lvl="1"/>
            <a:r>
              <a:rPr lang="en-CA" dirty="0"/>
              <a:t>Age of high mass consumption</a:t>
            </a:r>
          </a:p>
          <a:p>
            <a:pPr lvl="1"/>
            <a:r>
              <a:rPr lang="en-CA" dirty="0"/>
              <a:t>Quality of Life</a:t>
            </a:r>
          </a:p>
        </p:txBody>
      </p:sp>
    </p:spTree>
    <p:extLst>
      <p:ext uri="{BB962C8B-B14F-4D97-AF65-F5344CB8AC3E}">
        <p14:creationId xmlns:p14="http://schemas.microsoft.com/office/powerpoint/2010/main" val="971448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C485F-9550-7A4D-AF1F-2481F5E6B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A. F. K </a:t>
            </a:r>
            <a:r>
              <a:rPr lang="en-CA" dirty="0" err="1"/>
              <a:t>Organski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B8571-4389-4613-1139-BFF6608D0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Stages of Political Development: </a:t>
            </a:r>
          </a:p>
          <a:p>
            <a:pPr lvl="1"/>
            <a:r>
              <a:rPr lang="en-CA" dirty="0"/>
              <a:t>Primitive  national unification</a:t>
            </a:r>
          </a:p>
          <a:p>
            <a:pPr lvl="1"/>
            <a:r>
              <a:rPr lang="en-CA" dirty="0"/>
              <a:t>Industrialization </a:t>
            </a:r>
          </a:p>
          <a:p>
            <a:pPr lvl="1"/>
            <a:r>
              <a:rPr lang="en-CA" dirty="0"/>
              <a:t>National welfare</a:t>
            </a:r>
          </a:p>
          <a:p>
            <a:pPr lvl="1"/>
            <a:r>
              <a:rPr lang="en-CA" dirty="0"/>
              <a:t>Abundance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65626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229</Words>
  <Application>Microsoft Macintosh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Traditional and Modern Societies</vt:lpstr>
      <vt:lpstr>Modernity</vt:lpstr>
      <vt:lpstr>Essential Features of Traditional And Modern Societies</vt:lpstr>
      <vt:lpstr>Essential Features of traditional and Modern Society</vt:lpstr>
      <vt:lpstr>Transitional Society</vt:lpstr>
      <vt:lpstr>W. W. Rostow: The Stages of Economic Growth:   a Non -Communist Manifesto</vt:lpstr>
      <vt:lpstr>A. F. K Organski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Traditional and Modern Societies</dc:title>
  <dc:creator>Zaglul Haider</dc:creator>
  <cp:lastModifiedBy>Farah Chowdhury</cp:lastModifiedBy>
  <cp:revision>9</cp:revision>
  <dcterms:created xsi:type="dcterms:W3CDTF">2025-07-01T12:44:39Z</dcterms:created>
  <dcterms:modified xsi:type="dcterms:W3CDTF">2025-07-01T21:35:06Z</dcterms:modified>
</cp:coreProperties>
</file>