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94620"/>
  </p:normalViewPr>
  <p:slideViewPr>
    <p:cSldViewPr snapToGrid="0">
      <p:cViewPr varScale="1">
        <p:scale>
          <a:sx n="103" d="100"/>
          <a:sy n="103" d="100"/>
        </p:scale>
        <p:origin x="9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8CBF-1A5B-B90A-2A3F-D2378C03A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69CBE-E21C-83DA-D1CD-8399E9940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359A6-3F25-5FC7-1B42-311B1E690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3E41-F70A-46F4-A3D9-D2226E92E637}" type="datetimeFigureOut">
              <a:rPr lang="en-CA" smtClean="0"/>
              <a:t>2025-06-24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1CCF3-8F61-CC1E-8BAE-60DA5E959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E141E-66C7-866C-8FEB-9FE0B831C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DCF4-0C83-4F35-9460-015B82054BF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1067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F87D-291E-EF15-3984-DA9052F94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19589-2B1E-34F8-D2CF-1E071D4EE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C169D-1C99-23F7-6824-B4DB3749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3E41-F70A-46F4-A3D9-D2226E92E637}" type="datetimeFigureOut">
              <a:rPr lang="en-CA" smtClean="0"/>
              <a:t>2025-06-24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9B65F-2565-7241-8DB7-C0FE2E95B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EB819-6041-CBF5-F0F4-7A0B8589F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DCF4-0C83-4F35-9460-015B82054BF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629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92958-E3E6-41B8-5ACE-31D1AE5F0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44626-68EF-8EB2-F4F1-02450332D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9C988-DF7A-ED24-3884-62EC23717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3E41-F70A-46F4-A3D9-D2226E92E637}" type="datetimeFigureOut">
              <a:rPr lang="en-CA" smtClean="0"/>
              <a:t>2025-06-24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C3B1C-D16C-C771-74ED-1F4A109D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3CECA-7BAE-4F53-4722-12F173F7A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DCF4-0C83-4F35-9460-015B82054BF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1987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95DA7-7C0A-1720-E5FF-8D10BD0F7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39A7E-DE43-31FD-D0AD-02232417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8C17E-66CA-8EE1-773B-6F4B13828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64D03-7A7E-4CE5-5B3D-AD9BC0899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3E41-F70A-46F4-A3D9-D2226E92E637}" type="datetimeFigureOut">
              <a:rPr lang="en-CA" smtClean="0"/>
              <a:t>2025-06-24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FB72B-D1A9-1109-341B-0BD80EADF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CB86C-3D7B-E124-5BF9-6F572575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DCF4-0C83-4F35-9460-015B82054BF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8192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1B3DB-BDAD-E354-BF3B-9AA0711BE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B270E-FC8F-79D5-D53C-7B29A338D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8C35A-EE79-0682-955B-30B31AACB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8982CB-37DB-4FC7-A2FB-3BC871A87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8CAFD-4E31-14FB-2C0E-98CFF843FD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7E33F-3225-ACC3-C87A-6B2F813F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3E41-F70A-46F4-A3D9-D2226E92E637}" type="datetimeFigureOut">
              <a:rPr lang="en-CA" smtClean="0"/>
              <a:t>2025-06-24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FB09CA-A849-BD2B-DD21-247B66C86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88090-C95E-4798-3008-30A943DD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DCF4-0C83-4F35-9460-015B82054BF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9092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E75B9-8ED3-9F98-7F0B-754209A53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A953C1-217D-269E-E8A1-97B85A3CC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3E41-F70A-46F4-A3D9-D2226E92E637}" type="datetimeFigureOut">
              <a:rPr lang="en-CA" smtClean="0"/>
              <a:t>2025-06-24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B65D7C-D300-0FB2-4F2D-5C8802B80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82D68-15CF-EE78-7480-ED338A9B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DCF4-0C83-4F35-9460-015B82054BF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8859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A8456-8FC8-42FE-2E49-CF715965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3E41-F70A-46F4-A3D9-D2226E92E637}" type="datetimeFigureOut">
              <a:rPr lang="en-CA" smtClean="0"/>
              <a:t>2025-06-24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E4718-A265-7175-6E92-306CD5DC7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A1EF7-C72E-ED9F-AC4B-21A3DDBB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DCF4-0C83-4F35-9460-015B82054BF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926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2ADE4-4022-AA07-54A5-7C4329C66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73B34-2D33-B7C8-1E1C-225AFF7CD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95DDD-DB67-7758-6DF4-D6F9C4BCA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726C4-0A5F-B3A8-D869-E1DA0FB54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3E41-F70A-46F4-A3D9-D2226E92E637}" type="datetimeFigureOut">
              <a:rPr lang="en-CA" smtClean="0"/>
              <a:t>2025-06-24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360EF-E57A-3707-B8BF-9EC9E43F3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3865E-90F7-B084-4115-6BC4C3B6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DCF4-0C83-4F35-9460-015B82054BF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8918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61E8F-72A9-18EE-93E1-59E03FDE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5C9B13-8DCD-DD4B-EA72-08FDDABB2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3897B-6D8A-EF2E-0425-135BF2380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94DC2-D889-48DF-EC9B-18F43A7DD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3E41-F70A-46F4-A3D9-D2226E92E637}" type="datetimeFigureOut">
              <a:rPr lang="en-CA" smtClean="0"/>
              <a:t>2025-06-24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DA357-75BF-AEB7-277B-C084C1B11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E4435-1690-BCC0-0C15-7EED3E41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DCF4-0C83-4F35-9460-015B82054BF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4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3DF16-63D2-729B-541A-4C095A26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6C717-8220-D82E-BB22-18A1CDA8D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A6BCE-EC18-8E3D-9F7C-A186F2E24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3E41-F70A-46F4-A3D9-D2226E92E637}" type="datetimeFigureOut">
              <a:rPr lang="en-CA" smtClean="0"/>
              <a:t>2025-06-24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BB508-5015-E804-D5FD-CE3ED2C12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5709C-857F-9A8C-A576-65F58F4A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DCF4-0C83-4F35-9460-015B82054BF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9230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241D89-8AC8-0DD3-218C-7F4CC2B754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235D1-5DBE-9F23-4A2A-42A7E5AE5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F7E3F-6F73-9053-9937-61D5EE716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3E41-F70A-46F4-A3D9-D2226E92E637}" type="datetimeFigureOut">
              <a:rPr lang="en-CA" smtClean="0"/>
              <a:t>2025-06-24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8BBA9-F0E3-876B-AF68-C6460BB77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A2297-EDE7-D608-AF42-7C491093A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DCF4-0C83-4F35-9460-015B82054BF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832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AD7057-2A92-16B0-701E-545FFD20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CE434-5DAB-7249-5324-900825108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8E52B-5123-07CC-67D4-5DA37769CD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D3E41-F70A-46F4-A3D9-D2226E92E637}" type="datetimeFigureOut">
              <a:rPr lang="en-CA" smtClean="0"/>
              <a:t>2025-06-24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D6FC7-994B-9B3D-B9B4-CBEB5B6D8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60674-529E-2E20-AF84-5A2FBE663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3DCF4-0C83-4F35-9460-015B82054BF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072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CF987-77E6-F861-E0CF-0BEC3BBE1D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 </a:t>
            </a:r>
            <a:r>
              <a:rPr lang="en-CA" dirty="0"/>
              <a:t>Political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97A994-B29F-AD02-13F2-2D4F24C087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just"/>
            <a:r>
              <a:rPr lang="en-CA" dirty="0"/>
              <a:t>Culture refers to widely shared rules, values, norms, understandings </a:t>
            </a:r>
          </a:p>
          <a:p>
            <a:pPr algn="just"/>
            <a:r>
              <a:rPr lang="en-CA" dirty="0"/>
              <a:t> and ways of life of a particular social group. This includes cognitive</a:t>
            </a:r>
          </a:p>
          <a:p>
            <a:pPr algn="just"/>
            <a:r>
              <a:rPr lang="en-CA" dirty="0"/>
              <a:t> orientations, basic premises  and set of assumptions</a:t>
            </a:r>
          </a:p>
        </p:txBody>
      </p:sp>
    </p:spTree>
    <p:extLst>
      <p:ext uri="{BB962C8B-B14F-4D97-AF65-F5344CB8AC3E}">
        <p14:creationId xmlns:p14="http://schemas.microsoft.com/office/powerpoint/2010/main" val="1448424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8F46B-0699-5392-426C-DF47E83B0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Political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C8C75-B541-5C40-3882-4A4B84DC1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Political culture refers to the broad pattern of values and attitudes that individuals and society have toward  a political system.</a:t>
            </a:r>
          </a:p>
          <a:p>
            <a:r>
              <a:rPr lang="en-CA" dirty="0"/>
              <a:t>Political institutions include executive, legislature, judiciary, bureaucracy, political parties and pressure groups.  Individuals are view as political actors  and  in relation to others</a:t>
            </a:r>
          </a:p>
          <a:p>
            <a:r>
              <a:rPr lang="en-CA" dirty="0"/>
              <a:t>Politics reflects the culture of a certain time and place</a:t>
            </a:r>
          </a:p>
          <a:p>
            <a:r>
              <a:rPr lang="en-CA" dirty="0"/>
              <a:t>Understanding political action requires one to understand political culture</a:t>
            </a:r>
          </a:p>
          <a:p>
            <a:r>
              <a:rPr lang="en-CA" dirty="0"/>
              <a:t>Cultures change extremely slowly over decades or centuries</a:t>
            </a:r>
          </a:p>
          <a:p>
            <a:r>
              <a:rPr lang="en-CA" dirty="0"/>
              <a:t>Political culture reflects  what people know and how they feel about political systems</a:t>
            </a:r>
          </a:p>
        </p:txBody>
      </p:sp>
    </p:spTree>
    <p:extLst>
      <p:ext uri="{BB962C8B-B14F-4D97-AF65-F5344CB8AC3E}">
        <p14:creationId xmlns:p14="http://schemas.microsoft.com/office/powerpoint/2010/main" val="1304877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6912-31A0-DC54-8CD9-18358FC02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Political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5110A-F19A-C80B-238D-C82816EEE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political culture of a state  encompasses values and attitudes which pertain to its political system. </a:t>
            </a:r>
          </a:p>
          <a:p>
            <a:r>
              <a:rPr lang="en-CA" dirty="0"/>
              <a:t>A political culture is passed to the succeeding generations  through various forms of  socialization and thereby  leads cohesion and continuity to politics and institutions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03662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49086-82F2-A0CD-8F3B-20B4EB41B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Elements of Political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0984D-0ED0-8412-70C0-F65DFB6C9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Shared Values</a:t>
            </a:r>
          </a:p>
          <a:p>
            <a:r>
              <a:rPr lang="en-CA" dirty="0"/>
              <a:t>Beliefs</a:t>
            </a:r>
          </a:p>
          <a:p>
            <a:r>
              <a:rPr lang="en-CA" dirty="0"/>
              <a:t>Attitudes</a:t>
            </a:r>
          </a:p>
          <a:p>
            <a:r>
              <a:rPr lang="en-CA" dirty="0"/>
              <a:t>Symbols</a:t>
            </a:r>
          </a:p>
          <a:p>
            <a:r>
              <a:rPr lang="en-CA" dirty="0"/>
              <a:t>Customs</a:t>
            </a:r>
          </a:p>
          <a:p>
            <a:r>
              <a:rPr lang="en-CA" dirty="0"/>
              <a:t>History</a:t>
            </a:r>
          </a:p>
          <a:p>
            <a:r>
              <a:rPr lang="en-CA" dirty="0"/>
              <a:t>Expectations</a:t>
            </a:r>
          </a:p>
        </p:txBody>
      </p:sp>
    </p:spTree>
    <p:extLst>
      <p:ext uri="{BB962C8B-B14F-4D97-AF65-F5344CB8AC3E}">
        <p14:creationId xmlns:p14="http://schemas.microsoft.com/office/powerpoint/2010/main" val="974871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DA66-6A82-7B14-6069-26F8D5021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Political Sub-culture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052E3-C7B2-4BCB-DB62-FAAA7146A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Based on: </a:t>
            </a:r>
          </a:p>
          <a:p>
            <a:pPr marL="0" indent="0">
              <a:buNone/>
            </a:pPr>
            <a:r>
              <a:rPr lang="en-CA" dirty="0"/>
              <a:t>Class </a:t>
            </a:r>
          </a:p>
          <a:p>
            <a:pPr marL="0" indent="0">
              <a:buNone/>
            </a:pPr>
            <a:r>
              <a:rPr lang="en-CA" dirty="0"/>
              <a:t>Ethnicity</a:t>
            </a:r>
          </a:p>
          <a:p>
            <a:pPr marL="0" indent="0">
              <a:buNone/>
            </a:pPr>
            <a:r>
              <a:rPr lang="en-CA" dirty="0"/>
              <a:t>Language</a:t>
            </a:r>
          </a:p>
          <a:p>
            <a:pPr marL="0" indent="0">
              <a:buNone/>
            </a:pPr>
            <a:r>
              <a:rPr lang="en-CA" dirty="0"/>
              <a:t>Caste </a:t>
            </a:r>
          </a:p>
          <a:p>
            <a:pPr marL="0" indent="0">
              <a:buNone/>
            </a:pPr>
            <a:r>
              <a:rPr lang="en-CA" dirty="0"/>
              <a:t>Region</a:t>
            </a:r>
          </a:p>
          <a:p>
            <a:pPr marL="0" indent="0">
              <a:buNone/>
            </a:pPr>
            <a:r>
              <a:rPr lang="en-CA" dirty="0"/>
              <a:t>Gender</a:t>
            </a:r>
          </a:p>
          <a:p>
            <a:pPr marL="0" indent="0">
              <a:buNone/>
            </a:pPr>
            <a:r>
              <a:rPr lang="en-CA" dirty="0"/>
              <a:t>Religion</a:t>
            </a:r>
          </a:p>
        </p:txBody>
      </p:sp>
    </p:spTree>
    <p:extLst>
      <p:ext uri="{BB962C8B-B14F-4D97-AF65-F5344CB8AC3E}">
        <p14:creationId xmlns:p14="http://schemas.microsoft.com/office/powerpoint/2010/main" val="840358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B92B-9C03-295D-5E8F-320A8DAA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Types of political Culture</a:t>
            </a:r>
            <a:br>
              <a:rPr lang="en-CA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44CD1-72C1-3ED5-415E-0F5529E2A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their famous book </a:t>
            </a:r>
            <a:r>
              <a:rPr lang="en-CA" i="1" dirty="0"/>
              <a:t>The Civic Culture</a:t>
            </a:r>
            <a:r>
              <a:rPr lang="en-CA" dirty="0"/>
              <a:t>, Gabriel Almond and Sydney </a:t>
            </a:r>
            <a:r>
              <a:rPr lang="en-CA" dirty="0" err="1"/>
              <a:t>Verba</a:t>
            </a:r>
            <a:r>
              <a:rPr lang="en-CA" dirty="0"/>
              <a:t> have classified Political culture into  three  categories:</a:t>
            </a:r>
          </a:p>
          <a:p>
            <a:r>
              <a:rPr lang="en-CA" dirty="0"/>
              <a:t>Parochial Culture</a:t>
            </a:r>
          </a:p>
          <a:p>
            <a:r>
              <a:rPr lang="en-CA" dirty="0"/>
              <a:t>Subject Culture</a:t>
            </a:r>
          </a:p>
          <a:p>
            <a:r>
              <a:rPr lang="en-CA" dirty="0"/>
              <a:t>Participant Culture</a:t>
            </a:r>
          </a:p>
          <a:p>
            <a:r>
              <a:rPr lang="en-CA" dirty="0"/>
              <a:t>The mixture of the above three makes the fourth one :</a:t>
            </a:r>
          </a:p>
          <a:p>
            <a:pPr lvl="1"/>
            <a:r>
              <a:rPr lang="en-CA" dirty="0"/>
              <a:t>Civic Culture</a:t>
            </a:r>
          </a:p>
        </p:txBody>
      </p:sp>
    </p:spTree>
    <p:extLst>
      <p:ext uri="{BB962C8B-B14F-4D97-AF65-F5344CB8AC3E}">
        <p14:creationId xmlns:p14="http://schemas.microsoft.com/office/powerpoint/2010/main" val="4216825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9E541-533F-0461-0B04-88C884BF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Political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BDBFC-CFD6-6314-6C80-F55AEF54E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>
                <a:latin typeface="Calibri" panose="020F0502020204030204" pitchFamily="34" charset="0"/>
                <a:cs typeface="Calibri" panose="020F0502020204030204" pitchFamily="34" charset="0"/>
              </a:rPr>
              <a:t>Parochial Culture: People have no interest or knowledge  about the political process.  </a:t>
            </a:r>
          </a:p>
          <a:p>
            <a:pPr lvl="1"/>
            <a:r>
              <a:rPr lang="en-CA" dirty="0">
                <a:latin typeface="Calibri" panose="020F0502020204030204" pitchFamily="34" charset="0"/>
                <a:cs typeface="Calibri" panose="020F0502020204030204" pitchFamily="34" charset="0"/>
              </a:rPr>
              <a:t>Example: Traditional Society</a:t>
            </a:r>
          </a:p>
          <a:p>
            <a:r>
              <a:rPr lang="en-US" dirty="0">
                <a:solidFill>
                  <a:srgbClr val="1A1A1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Subject culture</a:t>
            </a:r>
            <a:r>
              <a:rPr lang="en-US" b="1" i="1" dirty="0">
                <a:solidFill>
                  <a:srgbClr val="1A1A1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i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b="0" i="0" dirty="0">
                <a:solidFill>
                  <a:srgbClr val="1A1A1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eople are considered as subjects </a:t>
            </a:r>
          </a:p>
          <a:p>
            <a:pPr lvl="1"/>
            <a:r>
              <a:rPr lang="en-US" b="0" i="0" dirty="0">
                <a:solidFill>
                  <a:srgbClr val="1A1A1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Pay obedience  to the government . No participation in political process. Example: Authoritarian/ Totalitarian society</a:t>
            </a:r>
          </a:p>
          <a:p>
            <a:r>
              <a:rPr lang="en-US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Participant Culture:</a:t>
            </a:r>
            <a:r>
              <a:rPr lang="en-US" b="0" i="0" dirty="0">
                <a:solidFill>
                  <a:srgbClr val="1A1A1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b="0" i="0" dirty="0">
                <a:solidFill>
                  <a:srgbClr val="1A1A1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itizens understand and take part in politics and voluntary associations.</a:t>
            </a:r>
          </a:p>
          <a:p>
            <a:pPr lvl="1"/>
            <a:r>
              <a:rPr lang="en-US" b="0" i="0" dirty="0">
                <a:solidFill>
                  <a:srgbClr val="1A1A1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Example: Democracy.</a:t>
            </a:r>
          </a:p>
          <a:p>
            <a:r>
              <a:rPr lang="en-US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Civic culture is the mixture of all three.  </a:t>
            </a:r>
          </a:p>
          <a:p>
            <a:pPr lvl="1"/>
            <a:r>
              <a:rPr lang="en-US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Example: Civic culture  exists in democracy/ Polyarchy</a:t>
            </a:r>
            <a:endParaRPr lang="en-US" b="0" i="0" dirty="0">
              <a:solidFill>
                <a:srgbClr val="1A1A1A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rgbClr val="1A1A1A"/>
              </a:solidFill>
              <a:latin typeface="Georgia" panose="02040502050405020303" pitchFamily="18" charset="0"/>
            </a:endParaRPr>
          </a:p>
          <a:p>
            <a:endParaRPr lang="en-US" b="0" i="0" dirty="0">
              <a:solidFill>
                <a:srgbClr val="1A1A1A"/>
              </a:solidFill>
              <a:effectLst/>
              <a:latin typeface="Georgia" panose="02040502050405020303" pitchFamily="18" charset="0"/>
            </a:endParaRPr>
          </a:p>
          <a:p>
            <a:endParaRPr lang="en-US" b="0" i="0" dirty="0">
              <a:solidFill>
                <a:srgbClr val="1A1A1A"/>
              </a:solidFill>
              <a:effectLst/>
              <a:latin typeface="Georgia" panose="02040502050405020303" pitchFamily="18" charset="0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82677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324</Words>
  <Application>Microsoft Macintosh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Georgia</vt:lpstr>
      <vt:lpstr>Office Theme</vt:lpstr>
      <vt:lpstr> Political Culture</vt:lpstr>
      <vt:lpstr>Political Culture</vt:lpstr>
      <vt:lpstr>Political culture</vt:lpstr>
      <vt:lpstr>Elements of Political Culture</vt:lpstr>
      <vt:lpstr>Political Sub-culture</vt:lpstr>
      <vt:lpstr>Types of political Culture </vt:lpstr>
      <vt:lpstr>Political Culture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Political Culture</dc:title>
  <dc:creator>Zaglul Haider</dc:creator>
  <cp:lastModifiedBy>Farah Chowdhury</cp:lastModifiedBy>
  <cp:revision>11</cp:revision>
  <dcterms:created xsi:type="dcterms:W3CDTF">2025-06-24T12:29:50Z</dcterms:created>
  <dcterms:modified xsi:type="dcterms:W3CDTF">2025-06-25T03:56:09Z</dcterms:modified>
</cp:coreProperties>
</file>